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38_8744274C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64_1262F58B.xml" ContentType="application/vnd.ms-powerpoint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omments/modernComment_15B_A44B4C2B.xml" ContentType="application/vnd.ms-powerpoint.comment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omments/modernComment_11E_FEE69DFA.xml" ContentType="application/vnd.ms-powerpoint.comments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0"/>
  </p:notesMasterIdLst>
  <p:sldIdLst>
    <p:sldId id="268" r:id="rId5"/>
    <p:sldId id="312" r:id="rId6"/>
    <p:sldId id="340" r:id="rId7"/>
    <p:sldId id="341" r:id="rId8"/>
    <p:sldId id="385" r:id="rId9"/>
    <p:sldId id="384" r:id="rId10"/>
    <p:sldId id="387" r:id="rId11"/>
    <p:sldId id="389" r:id="rId12"/>
    <p:sldId id="386" r:id="rId13"/>
    <p:sldId id="342" r:id="rId14"/>
    <p:sldId id="373" r:id="rId15"/>
    <p:sldId id="375" r:id="rId16"/>
    <p:sldId id="376" r:id="rId17"/>
    <p:sldId id="390" r:id="rId18"/>
    <p:sldId id="352" r:id="rId19"/>
    <p:sldId id="322" r:id="rId20"/>
    <p:sldId id="356" r:id="rId21"/>
    <p:sldId id="391" r:id="rId22"/>
    <p:sldId id="346" r:id="rId23"/>
    <p:sldId id="332" r:id="rId24"/>
    <p:sldId id="334" r:id="rId25"/>
    <p:sldId id="357" r:id="rId26"/>
    <p:sldId id="335" r:id="rId27"/>
    <p:sldId id="392" r:id="rId28"/>
    <p:sldId id="349" r:id="rId29"/>
    <p:sldId id="347" r:id="rId30"/>
    <p:sldId id="361" r:id="rId31"/>
    <p:sldId id="362" r:id="rId32"/>
    <p:sldId id="363" r:id="rId33"/>
    <p:sldId id="364" r:id="rId34"/>
    <p:sldId id="365" r:id="rId35"/>
    <p:sldId id="366" r:id="rId36"/>
    <p:sldId id="372" r:id="rId37"/>
    <p:sldId id="374" r:id="rId38"/>
    <p:sldId id="377" r:id="rId39"/>
    <p:sldId id="378" r:id="rId40"/>
    <p:sldId id="308" r:id="rId41"/>
    <p:sldId id="307" r:id="rId42"/>
    <p:sldId id="382" r:id="rId43"/>
    <p:sldId id="317" r:id="rId44"/>
    <p:sldId id="309" r:id="rId45"/>
    <p:sldId id="336" r:id="rId46"/>
    <p:sldId id="345" r:id="rId47"/>
    <p:sldId id="262" r:id="rId48"/>
    <p:sldId id="257" r:id="rId49"/>
    <p:sldId id="283" r:id="rId50"/>
    <p:sldId id="273" r:id="rId51"/>
    <p:sldId id="274" r:id="rId52"/>
    <p:sldId id="286" r:id="rId53"/>
    <p:sldId id="285" r:id="rId54"/>
    <p:sldId id="294" r:id="rId55"/>
    <p:sldId id="297" r:id="rId56"/>
    <p:sldId id="276" r:id="rId57"/>
    <p:sldId id="280" r:id="rId58"/>
    <p:sldId id="282" r:id="rId59"/>
    <p:sldId id="279" r:id="rId60"/>
    <p:sldId id="278" r:id="rId61"/>
    <p:sldId id="293" r:id="rId62"/>
    <p:sldId id="289" r:id="rId63"/>
    <p:sldId id="288" r:id="rId64"/>
    <p:sldId id="316" r:id="rId65"/>
    <p:sldId id="296" r:id="rId66"/>
    <p:sldId id="383" r:id="rId67"/>
    <p:sldId id="313" r:id="rId68"/>
    <p:sldId id="292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93438D-6BDB-52F7-FE22-D3CEBF129ECB}" name="Couture-Benitez, Marianne (IRCC/IRCC) (she, her | elle, la)" initials="CBM((h|el" userId="S::Marianne.Couture-Benitez@cic.gc.ca::046d704b-62e8-43e5-9832-458d090b624f" providerId="AD"/>
  <p188:author id="{FC81908F-A958-7414-56F6-5CFB51229184}" name="Couture-Benitez, Marianne (IRCC/IRCC)" initials="CM" userId="S::marianne.couture-benitez@cic.gc.ca::046d704b-62e8-43e5-9832-458d090b624f" providerId="AD"/>
  <p188:author id="{A8BD8C90-ABF1-AB42-85F9-2D66A38838B0}" name="Degouffe, Jacqueline (IRCC/IRCC) (she, her | elle, la)" initials="Dl" userId="S::jacqueline.degouffe@cic.gc.ca::8bec983f-aa35-4a7c-bd69-09dbf41a8432" providerId="AD"/>
  <p188:author id="{D6525897-93E3-4831-F651-C1D1AEAF5213}" name="Degouffe, Jacqueline (IRCC/IRCC) (she, her | elle, la)" initials="" userId="S::Jacqueline.Degouffe@cic.gc.ca::8bec983f-aa35-4a7c-bd69-09dbf41a8432" providerId="AD"/>
  <p188:author id="{E42AC4E2-D54E-B3CE-0253-89A65FD7AAC0}" name="Hutt, Eric (IRCC/IRCC) (he, him | il, lui)" initials="EH" userId="S::Eric.Hutt@cic.gc.ca::2833d381-11a7-4148-b00d-ae0299c901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0DB4"/>
    <a:srgbClr val="E9E5F2"/>
    <a:srgbClr val="F6EAF4"/>
    <a:srgbClr val="CAC5D6"/>
    <a:srgbClr val="DBBCFA"/>
    <a:srgbClr val="E0D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276DC-BCC0-45A9-88B2-119B3E3CCC1F}" v="25" dt="2026-02-10T19:31:11.585"/>
    <p1510:client id="{DE22D414-6A66-49B7-9879-543243452AEF}" v="372" dt="2026-02-10T18:57:27.6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7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75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8/10/relationships/authors" Target="authors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comments/modernComment_11E_FEE69D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AEFCFAC-89B8-46E5-B3AD-ED9B6DEC1E66}" authorId="{FC81908F-A958-7414-56F6-5CFB51229184}" status="resolved" created="2024-06-27T12:58:34.370">
    <pc:sldMkLst xmlns:pc="http://schemas.microsoft.com/office/powerpoint/2013/main/command">
      <pc:docMk/>
      <pc:sldMk cId="4276526586" sldId="286"/>
    </pc:sldMkLst>
    <p188:txBody>
      <a:bodyPr/>
      <a:lstStyle/>
      <a:p>
        <a:r>
          <a:rPr lang="en-US"/>
          <a:t>shorten quotes</a:t>
        </a:r>
      </a:p>
    </p188:txBody>
  </p188:cm>
</p188:cmLst>
</file>

<file path=ppt/comments/modernComment_15B_A44B4C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CD8A74E-DDAA-408B-B8B0-1322905EDFD4}" authorId="{E42AC4E2-D54E-B3CE-0253-89A65FD7AAC0}" created="2026-02-01T15:48:36.782">
    <pc:sldMkLst xmlns:pc="http://schemas.microsoft.com/office/powerpoint/2013/main/command">
      <pc:docMk/>
      <pc:sldMk cId="2756398123" sldId="347"/>
    </pc:sldMkLst>
    <p188:txBody>
      <a:bodyPr/>
      <a:lstStyle/>
      <a:p>
        <a:r>
          <a:rPr lang="en-CA"/>
          <a:t xml:space="preserve">WURD feedback on this!! </a:t>
        </a:r>
      </a:p>
    </p188:txBody>
  </p188:cm>
  <p188:cm id="{DEFBEB20-E56F-4978-AC4F-A7486A11B2DE}" authorId="{E42AC4E2-D54E-B3CE-0253-89A65FD7AAC0}" created="2026-02-06T16:23:43.79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56398123" sldId="347"/>
      <ac:graphicFrameMk id="2" creationId="{E18570AF-7AD7-FB82-1415-5F29283E8044}"/>
    </ac:deMkLst>
    <p188:txBody>
      <a:bodyPr/>
      <a:lstStyle/>
      <a:p>
        <a:r>
          <a:rPr lang="en-CA"/>
          <a:t>Way less frequency - 48hrs post, 7 days post. Thats`it for small designs</a:t>
        </a:r>
      </a:p>
    </p188:txBody>
  </p188:cm>
  <p188:cm id="{7B4A1CAB-E8C0-41DA-8DA6-2069F8FBFA94}" authorId="{E42AC4E2-D54E-B3CE-0253-89A65FD7AAC0}" created="2026-02-06T16:28:19.440">
    <pc:sldMkLst xmlns:pc="http://schemas.microsoft.com/office/powerpoint/2013/main/command">
      <pc:docMk/>
      <pc:sldMk cId="2756398123" sldId="347"/>
    </pc:sldMkLst>
    <p188:txBody>
      <a:bodyPr/>
      <a:lstStyle/>
      <a:p>
        <a:r>
          <a:rPr lang="en-CA"/>
          <a:t>For small changes `: `CONSIDER monitoring depending on why the change was made.
updating based on policy? No monitor
Update based on data or evidence of user issues? 
Small-medium-large as a CONTINUUM, worth presenting as that. 
ooooo maybe a whole slide of ‘possible metrics!’</a:t>
        </a:r>
      </a:p>
    </p188:txBody>
  </p188:cm>
  <p188:cm id="{8EB15395-283D-457F-9C20-8AE6546719BD}" authorId="{E42AC4E2-D54E-B3CE-0253-89A65FD7AAC0}" created="2026-02-06T16:32:42.97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56398123" sldId="347"/>
      <ac:graphicFrameMk id="2" creationId="{E18570AF-7AD7-FB82-1415-5F29283E8044}"/>
    </ac:deMkLst>
    <p188:txBody>
      <a:bodyPr/>
      <a:lstStyle/>
      <a:p>
        <a:r>
          <a:rPr lang="en-CA"/>
          <a:t>Use some examples for small changes-  like just updating all years to current year? No monitor.
Changing one ciritical word, like ‘permit’ to ‘visa’? DEFINITELY monitor
change made based o evidence of issues? MONITOR</a:t>
        </a:r>
      </a:p>
    </p188:txBody>
  </p188:cm>
  <p188:cm id="{B64E785F-D603-4AF8-98FD-084DAFF9C7E2}" authorId="{E42AC4E2-D54E-B3CE-0253-89A65FD7AAC0}" created="2026-02-06T16:33:16.249">
    <pc:sldMkLst xmlns:pc="http://schemas.microsoft.com/office/powerpoint/2013/main/command">
      <pc:docMk/>
      <pc:sldMk cId="2756398123" sldId="347"/>
    </pc:sldMkLst>
    <p188:txBody>
      <a:bodyPr/>
      <a:lstStyle/>
      <a:p>
        <a:r>
          <a:rPr lang="en-CA"/>
          <a:t xml:space="preserve">What if you didnt make strong distinctions between small, med, large and instead just made it continuual - like, THINK about impact of change to determine monitoring. </a:t>
        </a:r>
      </a:p>
    </p188:txBody>
  </p188:cm>
  <p188:cm id="{D6783B3A-9FF1-474E-8AFC-F593C36CC2B5}" authorId="{E42AC4E2-D54E-B3CE-0253-89A65FD7AAC0}" created="2026-02-06T16:35:04.412">
    <pc:sldMkLst xmlns:pc="http://schemas.microsoft.com/office/powerpoint/2013/main/command">
      <pc:docMk/>
      <pc:sldMk cId="2756398123" sldId="347"/>
    </pc:sldMkLst>
    <p188:txBody>
      <a:bodyPr/>
      <a:lstStyle/>
      <a:p>
        <a:r>
          <a:rPr lang="en-CA"/>
          <a:t xml:space="preserve">Monitoring is bigly about VISIBILITY of content - include some case studies!! </a:t>
        </a:r>
      </a:p>
    </p188:txBody>
  </p188:cm>
</p188:cmLst>
</file>

<file path=ppt/comments/modernComment_138_8744274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7098C5-2F76-45A4-BAC1-564C2E791BCE}" authorId="{E42AC4E2-D54E-B3CE-0253-89A65FD7AAC0}" created="2026-02-01T23:40:54.8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69390668" sldId="312"/>
      <ac:spMk id="3" creationId="{368DEF33-22AC-749F-991D-3B1EA1D13230}"/>
    </ac:deMkLst>
    <p188:txBody>
      <a:bodyPr/>
      <a:lstStyle/>
      <a:p>
        <a:r>
          <a:rPr lang="en-CA"/>
          <a:t>Eric put all links in appendix</a:t>
        </a:r>
      </a:p>
    </p188:txBody>
  </p188:cm>
</p188:cmLst>
</file>

<file path=ppt/comments/modernComment_164_1262F58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52198B-40FA-4C18-8B0D-9457E8193F63}" authorId="{E42AC4E2-D54E-B3CE-0253-89A65FD7AAC0}" created="2026-02-05T15:52:17.29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8475275" sldId="356"/>
      <ac:spMk id="18" creationId="{77AB76E2-F90C-B5A0-3DDA-6D204ED777E3}"/>
      <ac:txMk cp="99" len="36">
        <ac:context len="255" hash="948296317"/>
      </ac:txMk>
    </ac:txMkLst>
    <p188:pos x="6015781" y="1440488"/>
    <p188:txBody>
      <a:bodyPr/>
      <a:lstStyle/>
      <a:p>
        <a:r>
          <a:rPr lang="en-CA"/>
          <a:t>Eric make sure this is consistent across all slides and templates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38D325-E9D8-4310-AE6B-869C36E90292}" type="doc">
      <dgm:prSet loTypeId="urn:microsoft.com/office/officeart/2011/layout/CircleProcess" loCatId="process" qsTypeId="urn:microsoft.com/office/officeart/2005/8/quickstyle/simple1" qsCatId="simple" csTypeId="urn:microsoft.com/office/officeart/2005/8/colors/colorful4" csCatId="colorful" phldr="1"/>
      <dgm:spPr/>
      <dgm:t xml:space="preserve">
        <a:bodyPr/>
        <a:lstStyle/>
        <a:p>
          <a:endParaRPr lang="en-CA"/>
        </a:p>
      </dgm:t>
    </dgm:pt>
    <dgm:pt modelId="{F77C9D30-6BE7-4E82-95EA-BE5757A45D1B}">
      <dgm:prSet phldrT="[Text]"/>
      <dgm:spPr/>
      <dgm:t xml:space="preserve">
        <a:bodyPr/>
        <a:lstStyle/>
        <a:p>
          <a:r>
            <a:rPr lang="en-US" dirty="0"/>
            <a:t>Rollout</a:t>
          </a:r>
          <a:endParaRPr lang="en-CA" dirty="0"/>
        </a:p>
      </dgm:t>
    </dgm:pt>
    <dgm:pt modelId="{0A18F7ED-F700-4F9C-9709-CE104D037599}" type="parTrans" cxnId="{C6675756-DDFF-4FCA-8134-E3FEDFE995B1}">
      <dgm:prSet/>
      <dgm:spPr/>
      <dgm:t xml:space="preserve">
        <a:bodyPr/>
        <a:lstStyle/>
        <a:p>
          <a:endParaRPr lang="en-CA"/>
        </a:p>
      </dgm:t>
    </dgm:pt>
    <dgm:pt modelId="{66FCE13D-8AF0-436E-923A-F0E3E5FADB28}" type="sibTrans" cxnId="{C6675756-DDFF-4FCA-8134-E3FEDFE995B1}">
      <dgm:prSet/>
      <dgm:spPr/>
      <dgm:t xml:space="preserve">
        <a:bodyPr/>
        <a:lstStyle/>
        <a:p>
          <a:endParaRPr lang="en-CA"/>
        </a:p>
      </dgm:t>
    </dgm:pt>
    <dgm:pt modelId="{B57505A7-279D-4911-8055-D62746230506}">
      <dgm:prSet phldrT="[Text]"/>
      <dgm:spPr/>
      <dgm:t xml:space="preserve">
        <a:bodyPr/>
        <a:lstStyle/>
        <a:p>
          <a:r>
            <a:rPr lang="en-US" dirty="0"/>
            <a:t>Monitor</a:t>
          </a:r>
          <a:endParaRPr lang="en-CA" dirty="0"/>
        </a:p>
      </dgm:t>
    </dgm:pt>
    <dgm:pt modelId="{890DFC94-5F92-4AA4-9F77-63D48C1B5F32}" type="parTrans" cxnId="{8E598A61-2FBF-48C4-91E6-85C15814A937}">
      <dgm:prSet/>
      <dgm:spPr/>
      <dgm:t xml:space="preserve">
        <a:bodyPr/>
        <a:lstStyle/>
        <a:p>
          <a:endParaRPr lang="en-CA"/>
        </a:p>
      </dgm:t>
    </dgm:pt>
    <dgm:pt modelId="{B0FF2B6D-E24F-42C4-83E4-81231CFF9701}" type="sibTrans" cxnId="{8E598A61-2FBF-48C4-91E6-85C15814A937}">
      <dgm:prSet/>
      <dgm:spPr/>
      <dgm:t xml:space="preserve">
        <a:bodyPr/>
        <a:lstStyle/>
        <a:p>
          <a:endParaRPr lang="en-CA"/>
        </a:p>
      </dgm:t>
    </dgm:pt>
    <dgm:pt modelId="{28C71CC6-49B5-4DCA-869B-A22DCF36B7C8}">
      <dgm:prSet phldrT="[Text]"/>
      <dgm:spPr/>
      <dgm:t xml:space="preserve">
        <a:bodyPr/>
        <a:lstStyle/>
        <a:p>
          <a:r>
            <a:rPr lang="en-US" dirty="0"/>
            <a:t>React</a:t>
          </a:r>
          <a:endParaRPr lang="en-CA" dirty="0"/>
        </a:p>
      </dgm:t>
    </dgm:pt>
    <dgm:pt modelId="{C514E8C1-3F90-46E3-8D91-F443B2CACD13}" type="parTrans" cxnId="{B09CB19A-8EB9-42F3-951A-67D5214FA74B}">
      <dgm:prSet/>
      <dgm:spPr/>
      <dgm:t xml:space="preserve">
        <a:bodyPr/>
        <a:lstStyle/>
        <a:p>
          <a:endParaRPr lang="en-CA"/>
        </a:p>
      </dgm:t>
    </dgm:pt>
    <dgm:pt modelId="{69259F0E-F1A4-4FA6-8D1B-A2B854DB2843}" type="sibTrans" cxnId="{B09CB19A-8EB9-42F3-951A-67D5214FA74B}">
      <dgm:prSet/>
      <dgm:spPr/>
      <dgm:t xml:space="preserve">
        <a:bodyPr/>
        <a:lstStyle/>
        <a:p>
          <a:endParaRPr lang="en-CA"/>
        </a:p>
      </dgm:t>
    </dgm:pt>
    <dgm:pt modelId="{2CF4161C-82E4-47D2-8B6D-0C9935463006}">
      <dgm:prSet/>
      <dgm:spPr/>
      <dgm:t xml:space="preserve">
        <a:bodyPr/>
        <a:lstStyle/>
        <a:p>
          <a:r>
            <a:rPr lang="en-US" dirty="0"/>
            <a:t>Report</a:t>
          </a:r>
          <a:endParaRPr lang="en-CA" dirty="0"/>
        </a:p>
      </dgm:t>
    </dgm:pt>
    <dgm:pt modelId="{C723AD1D-5BB1-403E-9B0A-8DBB213FADD8}" type="parTrans" cxnId="{756046E1-297B-48A7-A5D1-0CBD79F1CBD2}">
      <dgm:prSet/>
      <dgm:spPr/>
      <dgm:t xml:space="preserve">
        <a:bodyPr/>
        <a:lstStyle/>
        <a:p>
          <a:endParaRPr lang="en-CA"/>
        </a:p>
      </dgm:t>
    </dgm:pt>
    <dgm:pt modelId="{C9BE3387-C82E-4180-AD8E-28C481415C71}" type="sibTrans" cxnId="{756046E1-297B-48A7-A5D1-0CBD79F1CBD2}">
      <dgm:prSet/>
      <dgm:spPr/>
      <dgm:t xml:space="preserve">
        <a:bodyPr/>
        <a:lstStyle/>
        <a:p>
          <a:endParaRPr lang="en-CA"/>
        </a:p>
      </dgm:t>
    </dgm:pt>
    <dgm:pt modelId="{99789410-A80F-4C76-95BD-238A4E51FA69}">
      <dgm:prSet/>
      <dgm:spPr/>
      <dgm:t xml:space="preserve">
        <a:bodyPr/>
        <a:lstStyle/>
        <a:p>
          <a:r>
            <a:rPr lang="fr-CA" dirty="0"/>
            <a:t>Impact</a:t>
          </a:r>
          <a:endParaRPr lang="en-CA" dirty="0"/>
        </a:p>
      </dgm:t>
    </dgm:pt>
    <dgm:pt modelId="{076FE321-2BFF-4035-A076-D228FF10DEA0}" type="parTrans" cxnId="{BBC32E5C-EFD8-4903-9229-E45211AE2452}">
      <dgm:prSet/>
      <dgm:spPr/>
      <dgm:t xml:space="preserve">
        <a:bodyPr/>
        <a:lstStyle/>
        <a:p>
          <a:endParaRPr lang="en-CA"/>
        </a:p>
      </dgm:t>
    </dgm:pt>
    <dgm:pt modelId="{06313C0A-7021-42A3-93A3-FF36266EF656}" type="sibTrans" cxnId="{BBC32E5C-EFD8-4903-9229-E45211AE2452}">
      <dgm:prSet/>
      <dgm:spPr/>
      <dgm:t xml:space="preserve">
        <a:bodyPr/>
        <a:lstStyle/>
        <a:p>
          <a:endParaRPr lang="en-CA"/>
        </a:p>
      </dgm:t>
    </dgm:pt>
    <dgm:pt modelId="{BC5E5354-06A9-4DB0-99EC-8BC1DE9A3408}" type="pres">
      <dgm:prSet presAssocID="{B438D325-E9D8-4310-AE6B-869C36E9029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17A694D1-9677-4D25-8E03-850646AEE9FA}" type="pres">
      <dgm:prSet presAssocID="{2CF4161C-82E4-47D2-8B6D-0C9935463006}" presName="Accent5" presStyleCnt="0"/>
      <dgm:spPr/>
    </dgm:pt>
    <dgm:pt modelId="{3CAC54FD-3A4A-427D-9E12-0FF433271DC7}" type="pres">
      <dgm:prSet presAssocID="{2CF4161C-82E4-47D2-8B6D-0C9935463006}" presName="Accent" presStyleLbl="node1" presStyleIdx="0" presStyleCnt="5"/>
      <dgm:spPr/>
    </dgm:pt>
    <dgm:pt modelId="{A030CE2B-D90B-45AB-9363-410DD5EB79FA}" type="pres">
      <dgm:prSet presAssocID="{2CF4161C-82E4-47D2-8B6D-0C9935463006}" presName="ParentBackground5" presStyleCnt="0"/>
      <dgm:spPr/>
    </dgm:pt>
    <dgm:pt modelId="{EF5270E6-6A33-4532-BDB4-BE8BA199711E}" type="pres">
      <dgm:prSet presAssocID="{2CF4161C-82E4-47D2-8B6D-0C9935463006}" presName="ParentBackground" presStyleLbl="fgAcc1" presStyleIdx="0" presStyleCnt="5"/>
      <dgm:spPr/>
    </dgm:pt>
    <dgm:pt modelId="{3FF44EAE-7A4F-48A7-8AAA-98B0C5E9420F}" type="pres">
      <dgm:prSet presAssocID="{2CF4161C-82E4-47D2-8B6D-0C9935463006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5DBD5AE-FA79-4263-BD25-0A908EB875E8}" type="pres">
      <dgm:prSet presAssocID="{28C71CC6-49B5-4DCA-869B-A22DCF36B7C8}" presName="Accent4" presStyleCnt="0"/>
      <dgm:spPr/>
    </dgm:pt>
    <dgm:pt modelId="{D9DCEEF3-CE77-42E5-ADEB-6F36D783AD1D}" type="pres">
      <dgm:prSet presAssocID="{28C71CC6-49B5-4DCA-869B-A22DCF36B7C8}" presName="Accent" presStyleLbl="node1" presStyleIdx="1" presStyleCnt="5"/>
      <dgm:spPr/>
    </dgm:pt>
    <dgm:pt modelId="{09862ACD-5721-4111-9500-03A99498B2A7}" type="pres">
      <dgm:prSet presAssocID="{28C71CC6-49B5-4DCA-869B-A22DCF36B7C8}" presName="ParentBackground4" presStyleCnt="0"/>
      <dgm:spPr/>
    </dgm:pt>
    <dgm:pt modelId="{760A680E-02F8-4714-9C2A-55E3D36D8885}" type="pres">
      <dgm:prSet presAssocID="{28C71CC6-49B5-4DCA-869B-A22DCF36B7C8}" presName="ParentBackground" presStyleLbl="fgAcc1" presStyleIdx="1" presStyleCnt="5"/>
      <dgm:spPr/>
    </dgm:pt>
    <dgm:pt modelId="{49B1F35B-79A0-4F7E-A696-901754E20290}" type="pres">
      <dgm:prSet presAssocID="{28C71CC6-49B5-4DCA-869B-A22DCF36B7C8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E72C67A-4A8D-4185-AC41-A1AB8DD4E236}" type="pres">
      <dgm:prSet presAssocID="{B57505A7-279D-4911-8055-D62746230506}" presName="Accent3" presStyleCnt="0"/>
      <dgm:spPr/>
    </dgm:pt>
    <dgm:pt modelId="{D0EBF418-7A50-4B2B-815B-57BE206DFE61}" type="pres">
      <dgm:prSet presAssocID="{B57505A7-279D-4911-8055-D62746230506}" presName="Accent" presStyleLbl="node1" presStyleIdx="2" presStyleCnt="5"/>
      <dgm:spPr/>
    </dgm:pt>
    <dgm:pt modelId="{EC02436D-693E-4210-A13B-AE5831A11568}" type="pres">
      <dgm:prSet presAssocID="{B57505A7-279D-4911-8055-D62746230506}" presName="ParentBackground3" presStyleCnt="0"/>
      <dgm:spPr/>
    </dgm:pt>
    <dgm:pt modelId="{4017D703-7B87-4A5D-A859-106E4A21CF88}" type="pres">
      <dgm:prSet presAssocID="{B57505A7-279D-4911-8055-D62746230506}" presName="ParentBackground" presStyleLbl="fgAcc1" presStyleIdx="2" presStyleCnt="5"/>
      <dgm:spPr/>
    </dgm:pt>
    <dgm:pt modelId="{461D9831-C9ED-46AB-819A-D828C23E2602}" type="pres">
      <dgm:prSet presAssocID="{B57505A7-279D-4911-8055-D62746230506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D3EAE9A6-D4D9-467D-A947-D56B4D288C7E}" type="pres">
      <dgm:prSet presAssocID="{F77C9D30-6BE7-4E82-95EA-BE5757A45D1B}" presName="Accent2" presStyleCnt="0"/>
      <dgm:spPr/>
    </dgm:pt>
    <dgm:pt modelId="{E385D6E6-55C6-4CE2-AD98-B7C37364BF9C}" type="pres">
      <dgm:prSet presAssocID="{F77C9D30-6BE7-4E82-95EA-BE5757A45D1B}" presName="Accent" presStyleLbl="node1" presStyleIdx="3" presStyleCnt="5"/>
      <dgm:spPr/>
    </dgm:pt>
    <dgm:pt modelId="{9DA6268F-675A-459D-8093-DB3F4FC09798}" type="pres">
      <dgm:prSet presAssocID="{F77C9D30-6BE7-4E82-95EA-BE5757A45D1B}" presName="ParentBackground2" presStyleCnt="0"/>
      <dgm:spPr/>
    </dgm:pt>
    <dgm:pt modelId="{CF15DB99-9019-42F7-9915-AE25834B2123}" type="pres">
      <dgm:prSet presAssocID="{F77C9D30-6BE7-4E82-95EA-BE5757A45D1B}" presName="ParentBackground" presStyleLbl="fgAcc1" presStyleIdx="3" presStyleCnt="5"/>
      <dgm:spPr/>
    </dgm:pt>
    <dgm:pt modelId="{F87CF974-4583-4F98-9D17-366D3D65D7B7}" type="pres">
      <dgm:prSet presAssocID="{F77C9D30-6BE7-4E82-95EA-BE5757A45D1B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E2FB604-F06D-4178-B1AF-1BBE87084725}" type="pres">
      <dgm:prSet presAssocID="{99789410-A80F-4C76-95BD-238A4E51FA69}" presName="Accent1" presStyleCnt="0"/>
      <dgm:spPr/>
    </dgm:pt>
    <dgm:pt modelId="{559103D7-E6C1-4E7A-BE54-5FA3FA7C1F3A}" type="pres">
      <dgm:prSet presAssocID="{99789410-A80F-4C76-95BD-238A4E51FA69}" presName="Accent" presStyleLbl="node1" presStyleIdx="4" presStyleCnt="5"/>
      <dgm:spPr/>
    </dgm:pt>
    <dgm:pt modelId="{084ACE0C-E41C-4AE7-89DB-A29BEC7CE295}" type="pres">
      <dgm:prSet presAssocID="{99789410-A80F-4C76-95BD-238A4E51FA69}" presName="ParentBackground1" presStyleCnt="0"/>
      <dgm:spPr/>
    </dgm:pt>
    <dgm:pt modelId="{637516FC-0CE4-4EAE-9F07-65B0EC442480}" type="pres">
      <dgm:prSet presAssocID="{99789410-A80F-4C76-95BD-238A4E51FA69}" presName="ParentBackground" presStyleLbl="fgAcc1" presStyleIdx="4" presStyleCnt="5"/>
      <dgm:spPr/>
    </dgm:pt>
    <dgm:pt modelId="{7BFB0132-2B1E-4265-B5AC-CC0E5537F2C4}" type="pres">
      <dgm:prSet presAssocID="{99789410-A80F-4C76-95BD-238A4E51FA6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7EBAAD03-AA69-4B41-B90B-4BECE1A23E4A}" type="presOf" srcId="{F77C9D30-6BE7-4E82-95EA-BE5757A45D1B}" destId="{CF15DB99-9019-42F7-9915-AE25834B2123}" srcOrd="0" destOrd="0" presId="urn:microsoft.com/office/officeart/2011/layout/CircleProcess"/>
    <dgm:cxn modelId="{F2DF1D0A-048C-4358-8CA8-B4C7CBAC863D}" type="presOf" srcId="{99789410-A80F-4C76-95BD-238A4E51FA69}" destId="{637516FC-0CE4-4EAE-9F07-65B0EC442480}" srcOrd="0" destOrd="0" presId="urn:microsoft.com/office/officeart/2011/layout/CircleProcess"/>
    <dgm:cxn modelId="{01166430-C54C-492C-9EA9-4BD4AD9ADAFA}" type="presOf" srcId="{B57505A7-279D-4911-8055-D62746230506}" destId="{4017D703-7B87-4A5D-A859-106E4A21CF88}" srcOrd="0" destOrd="0" presId="urn:microsoft.com/office/officeart/2011/layout/CircleProcess"/>
    <dgm:cxn modelId="{BBC32E5C-EFD8-4903-9229-E45211AE2452}" srcId="{B438D325-E9D8-4310-AE6B-869C36E90292}" destId="{99789410-A80F-4C76-95BD-238A4E51FA69}" srcOrd="0" destOrd="0" parTransId="{076FE321-2BFF-4035-A076-D228FF10DEA0}" sibTransId="{06313C0A-7021-42A3-93A3-FF36266EF656}"/>
    <dgm:cxn modelId="{8E598A61-2FBF-48C4-91E6-85C15814A937}" srcId="{B438D325-E9D8-4310-AE6B-869C36E90292}" destId="{B57505A7-279D-4911-8055-D62746230506}" srcOrd="2" destOrd="0" parTransId="{890DFC94-5F92-4AA4-9F77-63D48C1B5F32}" sibTransId="{B0FF2B6D-E24F-42C4-83E4-81231CFF9701}"/>
    <dgm:cxn modelId="{E3D1D34C-18B1-4F73-8B75-C3F56D42F2ED}" type="presOf" srcId="{28C71CC6-49B5-4DCA-869B-A22DCF36B7C8}" destId="{760A680E-02F8-4714-9C2A-55E3D36D8885}" srcOrd="0" destOrd="0" presId="urn:microsoft.com/office/officeart/2011/layout/CircleProcess"/>
    <dgm:cxn modelId="{C6675756-DDFF-4FCA-8134-E3FEDFE995B1}" srcId="{B438D325-E9D8-4310-AE6B-869C36E90292}" destId="{F77C9D30-6BE7-4E82-95EA-BE5757A45D1B}" srcOrd="1" destOrd="0" parTransId="{0A18F7ED-F700-4F9C-9709-CE104D037599}" sibTransId="{66FCE13D-8AF0-436E-923A-F0E3E5FADB28}"/>
    <dgm:cxn modelId="{055C1086-D287-42BA-8296-7CF09FCE49D5}" type="presOf" srcId="{28C71CC6-49B5-4DCA-869B-A22DCF36B7C8}" destId="{49B1F35B-79A0-4F7E-A696-901754E20290}" srcOrd="1" destOrd="0" presId="urn:microsoft.com/office/officeart/2011/layout/CircleProcess"/>
    <dgm:cxn modelId="{C550D98C-46C1-402A-AADE-A80650FDB088}" type="presOf" srcId="{F77C9D30-6BE7-4E82-95EA-BE5757A45D1B}" destId="{F87CF974-4583-4F98-9D17-366D3D65D7B7}" srcOrd="1" destOrd="0" presId="urn:microsoft.com/office/officeart/2011/layout/CircleProcess"/>
    <dgm:cxn modelId="{B09CB19A-8EB9-42F3-951A-67D5214FA74B}" srcId="{B438D325-E9D8-4310-AE6B-869C36E90292}" destId="{28C71CC6-49B5-4DCA-869B-A22DCF36B7C8}" srcOrd="3" destOrd="0" parTransId="{C514E8C1-3F90-46E3-8D91-F443B2CACD13}" sibTransId="{69259F0E-F1A4-4FA6-8D1B-A2B854DB2843}"/>
    <dgm:cxn modelId="{6CB058A0-9335-40F2-BDC9-1D57C7D8B177}" type="presOf" srcId="{2CF4161C-82E4-47D2-8B6D-0C9935463006}" destId="{EF5270E6-6A33-4532-BDB4-BE8BA199711E}" srcOrd="0" destOrd="0" presId="urn:microsoft.com/office/officeart/2011/layout/CircleProcess"/>
    <dgm:cxn modelId="{0DBCA3BA-41AD-4738-A3EA-1AFC04C11161}" type="presOf" srcId="{B57505A7-279D-4911-8055-D62746230506}" destId="{461D9831-C9ED-46AB-819A-D828C23E2602}" srcOrd="1" destOrd="0" presId="urn:microsoft.com/office/officeart/2011/layout/CircleProcess"/>
    <dgm:cxn modelId="{C5E8E1E0-8AC5-4377-AB1B-2BF2C204D24F}" type="presOf" srcId="{2CF4161C-82E4-47D2-8B6D-0C9935463006}" destId="{3FF44EAE-7A4F-48A7-8AAA-98B0C5E9420F}" srcOrd="1" destOrd="0" presId="urn:microsoft.com/office/officeart/2011/layout/CircleProcess"/>
    <dgm:cxn modelId="{756046E1-297B-48A7-A5D1-0CBD79F1CBD2}" srcId="{B438D325-E9D8-4310-AE6B-869C36E90292}" destId="{2CF4161C-82E4-47D2-8B6D-0C9935463006}" srcOrd="4" destOrd="0" parTransId="{C723AD1D-5BB1-403E-9B0A-8DBB213FADD8}" sibTransId="{C9BE3387-C82E-4180-AD8E-28C481415C71}"/>
    <dgm:cxn modelId="{A33380F3-0F78-4D9A-B15F-48414A32C559}" type="presOf" srcId="{99789410-A80F-4C76-95BD-238A4E51FA69}" destId="{7BFB0132-2B1E-4265-B5AC-CC0E5537F2C4}" srcOrd="1" destOrd="0" presId="urn:microsoft.com/office/officeart/2011/layout/CircleProcess"/>
    <dgm:cxn modelId="{F07084FB-C117-453E-ACC8-7A01BEC4DE70}" type="presOf" srcId="{B438D325-E9D8-4310-AE6B-869C36E90292}" destId="{BC5E5354-06A9-4DB0-99EC-8BC1DE9A3408}" srcOrd="0" destOrd="0" presId="urn:microsoft.com/office/officeart/2011/layout/CircleProcess"/>
    <dgm:cxn modelId="{0A2D2870-263D-4DA7-A592-7701E06ACF2F}" type="presParOf" srcId="{BC5E5354-06A9-4DB0-99EC-8BC1DE9A3408}" destId="{17A694D1-9677-4D25-8E03-850646AEE9FA}" srcOrd="0" destOrd="0" presId="urn:microsoft.com/office/officeart/2011/layout/CircleProcess"/>
    <dgm:cxn modelId="{36A75BA1-1938-411E-BFA3-09DA233E12D3}" type="presParOf" srcId="{17A694D1-9677-4D25-8E03-850646AEE9FA}" destId="{3CAC54FD-3A4A-427D-9E12-0FF433271DC7}" srcOrd="0" destOrd="0" presId="urn:microsoft.com/office/officeart/2011/layout/CircleProcess"/>
    <dgm:cxn modelId="{4DDCEA01-A98F-4754-A74C-21EDF9B9DB35}" type="presParOf" srcId="{BC5E5354-06A9-4DB0-99EC-8BC1DE9A3408}" destId="{A030CE2B-D90B-45AB-9363-410DD5EB79FA}" srcOrd="1" destOrd="0" presId="urn:microsoft.com/office/officeart/2011/layout/CircleProcess"/>
    <dgm:cxn modelId="{64E7D4C9-4553-400F-88BD-F4E33C8CCD47}" type="presParOf" srcId="{A030CE2B-D90B-45AB-9363-410DD5EB79FA}" destId="{EF5270E6-6A33-4532-BDB4-BE8BA199711E}" srcOrd="0" destOrd="0" presId="urn:microsoft.com/office/officeart/2011/layout/CircleProcess"/>
    <dgm:cxn modelId="{E46F1ED7-26B8-4D54-871B-CFAD1D3ED123}" type="presParOf" srcId="{BC5E5354-06A9-4DB0-99EC-8BC1DE9A3408}" destId="{3FF44EAE-7A4F-48A7-8AAA-98B0C5E9420F}" srcOrd="2" destOrd="0" presId="urn:microsoft.com/office/officeart/2011/layout/CircleProcess"/>
    <dgm:cxn modelId="{D96A242A-AF2A-415F-8EF5-279F13C75537}" type="presParOf" srcId="{BC5E5354-06A9-4DB0-99EC-8BC1DE9A3408}" destId="{05DBD5AE-FA79-4263-BD25-0A908EB875E8}" srcOrd="3" destOrd="0" presId="urn:microsoft.com/office/officeart/2011/layout/CircleProcess"/>
    <dgm:cxn modelId="{99B1B7B8-5DA1-4889-B7EF-7CBBBDB7C106}" type="presParOf" srcId="{05DBD5AE-FA79-4263-BD25-0A908EB875E8}" destId="{D9DCEEF3-CE77-42E5-ADEB-6F36D783AD1D}" srcOrd="0" destOrd="0" presId="urn:microsoft.com/office/officeart/2011/layout/CircleProcess"/>
    <dgm:cxn modelId="{A89ADFF0-B2BC-4EB6-9868-92188DB79892}" type="presParOf" srcId="{BC5E5354-06A9-4DB0-99EC-8BC1DE9A3408}" destId="{09862ACD-5721-4111-9500-03A99498B2A7}" srcOrd="4" destOrd="0" presId="urn:microsoft.com/office/officeart/2011/layout/CircleProcess"/>
    <dgm:cxn modelId="{79081AA5-1CBC-40AF-8B43-BD65D9927557}" type="presParOf" srcId="{09862ACD-5721-4111-9500-03A99498B2A7}" destId="{760A680E-02F8-4714-9C2A-55E3D36D8885}" srcOrd="0" destOrd="0" presId="urn:microsoft.com/office/officeart/2011/layout/CircleProcess"/>
    <dgm:cxn modelId="{AFE0F5AD-FB8A-42C2-A50A-4B515DAD898D}" type="presParOf" srcId="{BC5E5354-06A9-4DB0-99EC-8BC1DE9A3408}" destId="{49B1F35B-79A0-4F7E-A696-901754E20290}" srcOrd="5" destOrd="0" presId="urn:microsoft.com/office/officeart/2011/layout/CircleProcess"/>
    <dgm:cxn modelId="{9D3776B2-3AAE-47ED-BE7B-A8E9EE055A6A}" type="presParOf" srcId="{BC5E5354-06A9-4DB0-99EC-8BC1DE9A3408}" destId="{2E72C67A-4A8D-4185-AC41-A1AB8DD4E236}" srcOrd="6" destOrd="0" presId="urn:microsoft.com/office/officeart/2011/layout/CircleProcess"/>
    <dgm:cxn modelId="{91FF1D67-3582-459F-A506-84EB5DFBB85F}" type="presParOf" srcId="{2E72C67A-4A8D-4185-AC41-A1AB8DD4E236}" destId="{D0EBF418-7A50-4B2B-815B-57BE206DFE61}" srcOrd="0" destOrd="0" presId="urn:microsoft.com/office/officeart/2011/layout/CircleProcess"/>
    <dgm:cxn modelId="{EA8A06AC-6340-420F-8942-5543F4F46438}" type="presParOf" srcId="{BC5E5354-06A9-4DB0-99EC-8BC1DE9A3408}" destId="{EC02436D-693E-4210-A13B-AE5831A11568}" srcOrd="7" destOrd="0" presId="urn:microsoft.com/office/officeart/2011/layout/CircleProcess"/>
    <dgm:cxn modelId="{C37B261A-7667-4398-BA21-BACB19043384}" type="presParOf" srcId="{EC02436D-693E-4210-A13B-AE5831A11568}" destId="{4017D703-7B87-4A5D-A859-106E4A21CF88}" srcOrd="0" destOrd="0" presId="urn:microsoft.com/office/officeart/2011/layout/CircleProcess"/>
    <dgm:cxn modelId="{9884E71D-4062-49AB-BA77-3FD298074232}" type="presParOf" srcId="{BC5E5354-06A9-4DB0-99EC-8BC1DE9A3408}" destId="{461D9831-C9ED-46AB-819A-D828C23E2602}" srcOrd="8" destOrd="0" presId="urn:microsoft.com/office/officeart/2011/layout/CircleProcess"/>
    <dgm:cxn modelId="{3C202DEC-90F1-4971-BEC1-8330124ABC13}" type="presParOf" srcId="{BC5E5354-06A9-4DB0-99EC-8BC1DE9A3408}" destId="{D3EAE9A6-D4D9-467D-A947-D56B4D288C7E}" srcOrd="9" destOrd="0" presId="urn:microsoft.com/office/officeart/2011/layout/CircleProcess"/>
    <dgm:cxn modelId="{A10F8350-CF4A-47CC-B90F-86EBAAAD2097}" type="presParOf" srcId="{D3EAE9A6-D4D9-467D-A947-D56B4D288C7E}" destId="{E385D6E6-55C6-4CE2-AD98-B7C37364BF9C}" srcOrd="0" destOrd="0" presId="urn:microsoft.com/office/officeart/2011/layout/CircleProcess"/>
    <dgm:cxn modelId="{DBF28594-21F2-4B7E-BFD7-42D290587A73}" type="presParOf" srcId="{BC5E5354-06A9-4DB0-99EC-8BC1DE9A3408}" destId="{9DA6268F-675A-459D-8093-DB3F4FC09798}" srcOrd="10" destOrd="0" presId="urn:microsoft.com/office/officeart/2011/layout/CircleProcess"/>
    <dgm:cxn modelId="{8CF21F6D-DAF7-4E31-AAA0-E9C09BE5BF32}" type="presParOf" srcId="{9DA6268F-675A-459D-8093-DB3F4FC09798}" destId="{CF15DB99-9019-42F7-9915-AE25834B2123}" srcOrd="0" destOrd="0" presId="urn:microsoft.com/office/officeart/2011/layout/CircleProcess"/>
    <dgm:cxn modelId="{DF0A5F04-C465-481F-B7D8-22EBEDED6472}" type="presParOf" srcId="{BC5E5354-06A9-4DB0-99EC-8BC1DE9A3408}" destId="{F87CF974-4583-4F98-9D17-366D3D65D7B7}" srcOrd="11" destOrd="0" presId="urn:microsoft.com/office/officeart/2011/layout/CircleProcess"/>
    <dgm:cxn modelId="{F76726F5-F84A-4208-8A57-29B8A809153B}" type="presParOf" srcId="{BC5E5354-06A9-4DB0-99EC-8BC1DE9A3408}" destId="{FE2FB604-F06D-4178-B1AF-1BBE87084725}" srcOrd="12" destOrd="0" presId="urn:microsoft.com/office/officeart/2011/layout/CircleProcess"/>
    <dgm:cxn modelId="{5D3B6EAB-843A-4CB5-9DE3-84DB1D233F3C}" type="presParOf" srcId="{FE2FB604-F06D-4178-B1AF-1BBE87084725}" destId="{559103D7-E6C1-4E7A-BE54-5FA3FA7C1F3A}" srcOrd="0" destOrd="0" presId="urn:microsoft.com/office/officeart/2011/layout/CircleProcess"/>
    <dgm:cxn modelId="{7E99929E-14D4-483A-8078-CBFB133FCC05}" type="presParOf" srcId="{BC5E5354-06A9-4DB0-99EC-8BC1DE9A3408}" destId="{084ACE0C-E41C-4AE7-89DB-A29BEC7CE295}" srcOrd="13" destOrd="0" presId="urn:microsoft.com/office/officeart/2011/layout/CircleProcess"/>
    <dgm:cxn modelId="{71A156A1-61CB-46B6-958B-9EA893550730}" type="presParOf" srcId="{084ACE0C-E41C-4AE7-89DB-A29BEC7CE295}" destId="{637516FC-0CE4-4EAE-9F07-65B0EC442480}" srcOrd="0" destOrd="0" presId="urn:microsoft.com/office/officeart/2011/layout/CircleProcess"/>
    <dgm:cxn modelId="{393AA186-9B40-4D84-BCE0-3B092D2AAC1B}" type="presParOf" srcId="{BC5E5354-06A9-4DB0-99EC-8BC1DE9A3408}" destId="{7BFB0132-2B1E-4265-B5AC-CC0E5537F2C4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AC54FD-3A4A-427D-9E12-0FF433271DC7}">
      <dsp:nvSpPr>
        <dsp:cNvPr id="0" name=""/>
        <dsp:cNvSpPr/>
      </dsp:nvSpPr>
      <dsp:spPr>
        <a:xfrm>
          <a:off x="6564547" y="920024"/>
          <a:ext cx="1496823" cy="149706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270E6-6A33-4532-BDB4-BE8BA199711E}">
      <dsp:nvSpPr>
        <dsp:cNvPr id="0" name=""/>
        <dsp:cNvSpPr/>
      </dsp:nvSpPr>
      <dsp:spPr>
        <a:xfrm>
          <a:off x="6613937" y="969935"/>
          <a:ext cx="1397247" cy="13972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Report</a:t>
          </a:r>
          <a:endParaRPr lang="en-CA" sz="2200" kern="1200" dirty="0"/>
        </a:p>
      </dsp:txBody>
      <dsp:txXfrm>
        <a:off x="6813885" y="1169579"/>
        <a:ext cx="998147" cy="997958"/>
      </dsp:txXfrm>
    </dsp:sp>
    <dsp:sp modelId="{D9DCEEF3-CE77-42E5-ADEB-6F36D783AD1D}">
      <dsp:nvSpPr>
        <dsp:cNvPr id="0" name=""/>
        <dsp:cNvSpPr/>
      </dsp:nvSpPr>
      <dsp:spPr>
        <a:xfrm rot="2700000">
          <a:off x="5016827" y="920101"/>
          <a:ext cx="1496650" cy="1496650"/>
        </a:xfrm>
        <a:prstGeom prst="teardrop">
          <a:avLst>
            <a:gd name="adj" fmla="val 100000"/>
          </a:avLst>
        </a:prstGeom>
        <a:solidFill>
          <a:schemeClr val="accent4">
            <a:hueOff val="1649984"/>
            <a:satOff val="-7300"/>
            <a:lumOff val="-12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0A680E-02F8-4714-9C2A-55E3D36D8885}">
      <dsp:nvSpPr>
        <dsp:cNvPr id="0" name=""/>
        <dsp:cNvSpPr/>
      </dsp:nvSpPr>
      <dsp:spPr>
        <a:xfrm>
          <a:off x="5067724" y="969935"/>
          <a:ext cx="1397247" cy="13972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1649984"/>
              <a:satOff val="-7300"/>
              <a:lumOff val="-12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React</a:t>
          </a:r>
          <a:endParaRPr lang="en-CA" sz="2200" kern="1200" dirty="0"/>
        </a:p>
      </dsp:txBody>
      <dsp:txXfrm>
        <a:off x="5266875" y="1169579"/>
        <a:ext cx="998147" cy="997958"/>
      </dsp:txXfrm>
    </dsp:sp>
    <dsp:sp modelId="{D0EBF418-7A50-4B2B-815B-57BE206DFE61}">
      <dsp:nvSpPr>
        <dsp:cNvPr id="0" name=""/>
        <dsp:cNvSpPr/>
      </dsp:nvSpPr>
      <dsp:spPr>
        <a:xfrm rot="2700000">
          <a:off x="3470614" y="920101"/>
          <a:ext cx="1496650" cy="1496650"/>
        </a:xfrm>
        <a:prstGeom prst="teardrop">
          <a:avLst>
            <a:gd name="adj" fmla="val 100000"/>
          </a:avLst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7D703-7B87-4A5D-A859-106E4A21CF88}">
      <dsp:nvSpPr>
        <dsp:cNvPr id="0" name=""/>
        <dsp:cNvSpPr/>
      </dsp:nvSpPr>
      <dsp:spPr>
        <a:xfrm>
          <a:off x="3520714" y="969935"/>
          <a:ext cx="1397247" cy="13972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Monitor</a:t>
          </a:r>
          <a:endParaRPr lang="en-CA" sz="2200" kern="1200" dirty="0"/>
        </a:p>
      </dsp:txBody>
      <dsp:txXfrm>
        <a:off x="3719866" y="1169579"/>
        <a:ext cx="998147" cy="997958"/>
      </dsp:txXfrm>
    </dsp:sp>
    <dsp:sp modelId="{E385D6E6-55C6-4CE2-AD98-B7C37364BF9C}">
      <dsp:nvSpPr>
        <dsp:cNvPr id="0" name=""/>
        <dsp:cNvSpPr/>
      </dsp:nvSpPr>
      <dsp:spPr>
        <a:xfrm rot="2700000">
          <a:off x="1923605" y="920101"/>
          <a:ext cx="1496650" cy="1496650"/>
        </a:xfrm>
        <a:prstGeom prst="teardrop">
          <a:avLst>
            <a:gd name="adj" fmla="val 100000"/>
          </a:avLst>
        </a:prstGeom>
        <a:solidFill>
          <a:schemeClr val="accent4">
            <a:hueOff val="4949952"/>
            <a:satOff val="-21901"/>
            <a:lumOff val="-36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5DB99-9019-42F7-9915-AE25834B2123}">
      <dsp:nvSpPr>
        <dsp:cNvPr id="0" name=""/>
        <dsp:cNvSpPr/>
      </dsp:nvSpPr>
      <dsp:spPr>
        <a:xfrm>
          <a:off x="1973704" y="969935"/>
          <a:ext cx="1397247" cy="13972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4949952"/>
              <a:satOff val="-21901"/>
              <a:lumOff val="-3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Rollout</a:t>
          </a:r>
          <a:endParaRPr lang="en-CA" sz="2200" kern="1200" dirty="0"/>
        </a:p>
      </dsp:txBody>
      <dsp:txXfrm>
        <a:off x="2173652" y="1169579"/>
        <a:ext cx="998147" cy="997958"/>
      </dsp:txXfrm>
    </dsp:sp>
    <dsp:sp modelId="{559103D7-E6C1-4E7A-BE54-5FA3FA7C1F3A}">
      <dsp:nvSpPr>
        <dsp:cNvPr id="0" name=""/>
        <dsp:cNvSpPr/>
      </dsp:nvSpPr>
      <dsp:spPr>
        <a:xfrm rot="2700000">
          <a:off x="376595" y="920101"/>
          <a:ext cx="1496650" cy="1496650"/>
        </a:xfrm>
        <a:prstGeom prst="teardrop">
          <a:avLst>
            <a:gd name="adj" fmla="val 100000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7516FC-0CE4-4EAE-9F07-65B0EC442480}">
      <dsp:nvSpPr>
        <dsp:cNvPr id="0" name=""/>
        <dsp:cNvSpPr/>
      </dsp:nvSpPr>
      <dsp:spPr>
        <a:xfrm>
          <a:off x="426695" y="969935"/>
          <a:ext cx="1397247" cy="13972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dirty="0"/>
            <a:t>Impact</a:t>
          </a:r>
          <a:endParaRPr lang="en-CA" sz="2200" kern="1200" dirty="0"/>
        </a:p>
      </dsp:txBody>
      <dsp:txXfrm>
        <a:off x="626643" y="1169579"/>
        <a:ext cx="998147" cy="9979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A744F-108A-41CF-BEBE-D98754A4A425}" type="datetimeFigureOut"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4C500-7890-4B4A-A2D4-97D035092A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7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?>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?>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?>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?>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?>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?>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?>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7A228CBD-6B2A-9D1C-833C-D73C8202F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>
            <a:extLst>
              <a:ext uri="{FF2B5EF4-FFF2-40B4-BE49-F238E27FC236}">
                <a16:creationId xmlns:a16="http://schemas.microsoft.com/office/drawing/2014/main" id="{5743DC3A-44B5-043D-605C-D8308B8492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>
            <a:extLst>
              <a:ext uri="{FF2B5EF4-FFF2-40B4-BE49-F238E27FC236}">
                <a16:creationId xmlns:a16="http://schemas.microsoft.com/office/drawing/2014/main" id="{469A390D-DF4D-F27E-E828-7D83D3D80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4130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C1A18D39-1CCF-788E-B392-A76F507DF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43AD0082-F251-1B16-DBA8-AAD9FEC43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598AB9FA-C065-75BB-B77E-6FEAE363E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3907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B8DE3635-0A0C-824A-5F0D-1FBCF6250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>
            <a:extLst>
              <a:ext uri="{FF2B5EF4-FFF2-40B4-BE49-F238E27FC236}">
                <a16:creationId xmlns:a16="http://schemas.microsoft.com/office/drawing/2014/main" id="{37C331A4-511E-B8E1-7D27-07C4BC2487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>
            <a:extLst>
              <a:ext uri="{FF2B5EF4-FFF2-40B4-BE49-F238E27FC236}">
                <a16:creationId xmlns:a16="http://schemas.microsoft.com/office/drawing/2014/main" id="{F8A057B3-4BC5-9629-9EAC-7FC742B6B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936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8F9726CB-935D-6B2D-BE04-41663F01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3276CD1E-A120-81B7-948D-CD2616831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E520A1F3-DAE7-1444-89C1-858DCB287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Heebo"/>
                <a:cs typeface="Heebo"/>
              </a:rPr>
              <a:t xml:space="preserve">We won’t spend too much time discussing rollout – you are all familiar with launching content!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6006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1DE1EABF-EDA8-C94B-4E02-767CD3DB4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569AE03B-4FA2-9567-CB9D-D4FAB6B3C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23074FD2-82DA-5398-BE24-945615EDF4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Heebo"/>
                <a:cs typeface="Heebo"/>
              </a:rPr>
              <a:t xml:space="preserve">We won’t spend too much time discussing rollout – you are all familiar with launching content!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3070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F2B484AC-DF38-59E9-F465-0E0ACF7C9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F98E0ADF-B6A2-ADC5-A7D6-537CCFDEB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54E27217-8771-6A54-7C72-2B9FA12AEF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Heebo"/>
                <a:cs typeface="Heebo"/>
              </a:rPr>
              <a:t xml:space="preserve">We won’t spend too much time discussing rollout – you are all familiar with launching content!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8295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45B8A6D1-4F11-06AC-0410-2858A9A6E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>
            <a:extLst>
              <a:ext uri="{FF2B5EF4-FFF2-40B4-BE49-F238E27FC236}">
                <a16:creationId xmlns:a16="http://schemas.microsoft.com/office/drawing/2014/main" id="{CF63297D-27D7-2BCF-1CE2-1BF41D90F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>
            <a:extLst>
              <a:ext uri="{FF2B5EF4-FFF2-40B4-BE49-F238E27FC236}">
                <a16:creationId xmlns:a16="http://schemas.microsoft.com/office/drawing/2014/main" id="{946AA749-CA77-B12A-48CA-258D5D555D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4448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2A5AE689-4100-6688-F6EA-B4C38031A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D00AC021-FB7B-C104-1D66-ED3255D69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C310D2A9-8586-2EC6-7ED0-F643D77547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Heebo"/>
                <a:cs typeface="Heebo"/>
              </a:rPr>
              <a:t xml:space="preserve">We won’t spend too much time discussing rollout – you are all familiar with launching content!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0668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0AFAE71C-461E-4103-0FC2-802337173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8431D32A-9D5A-6B17-DEC7-8E6DEC1B32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871E7C8D-011F-6E6C-ECFD-55BB83E664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2450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2D36060B-6920-D4C8-680B-8BF69AB4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23F90DEF-60E7-CDA3-F6E0-23B093571B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E9C0512C-0A44-80BB-7A86-0D2D98FCC5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848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BCC0B102-16A8-DCC8-40AA-73824E8A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3AD073B9-B78E-8CF5-7155-E694CE9D35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C6E44769-905C-754D-1E05-DA889EA56C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944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CA08B6FA-3BB1-63DF-D47A-00A69D999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>
            <a:extLst>
              <a:ext uri="{FF2B5EF4-FFF2-40B4-BE49-F238E27FC236}">
                <a16:creationId xmlns:a16="http://schemas.microsoft.com/office/drawing/2014/main" id="{93807731-D126-7211-DEFC-3A5C3EFA19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>
            <a:extLst>
              <a:ext uri="{FF2B5EF4-FFF2-40B4-BE49-F238E27FC236}">
                <a16:creationId xmlns:a16="http://schemas.microsoft.com/office/drawing/2014/main" id="{558D42D9-DAE5-C821-264D-CE8ED0B718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7785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229456A5-B2B6-F31B-7D37-73C4638C6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45D6954A-4899-6541-9A8C-00EE6687C6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66259EC1-11CE-69B0-A462-92E838CEC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6996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B6EF836F-202A-E742-D085-CB70AC42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A945334B-D699-681A-32A9-51E5A4E44A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233B364A-3605-F987-EBA7-640BAA014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16271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A6C6F4D4-B966-0C3D-79F0-D09044276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2D0BB8B3-25C0-5AD0-40B3-41795257D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224B6E9F-FAE3-AB26-1140-3349FBC962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944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BDE6D8D9-3216-36D5-EC2B-0B7B9C7E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>
            <a:extLst>
              <a:ext uri="{FF2B5EF4-FFF2-40B4-BE49-F238E27FC236}">
                <a16:creationId xmlns:a16="http://schemas.microsoft.com/office/drawing/2014/main" id="{8B25CCB8-D11B-9A15-D882-4E80ED259E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>
            <a:extLst>
              <a:ext uri="{FF2B5EF4-FFF2-40B4-BE49-F238E27FC236}">
                <a16:creationId xmlns:a16="http://schemas.microsoft.com/office/drawing/2014/main" id="{DC71FEEB-746A-7065-D982-10FBA0FB4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9419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1E44C35D-43C6-165D-7223-5964B869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F617832F-C31A-BCB0-49E4-A513F0AC65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81CBC34D-F7BF-EF5A-17D3-26027496C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Heebo"/>
                <a:cs typeface="Heebo"/>
              </a:rPr>
              <a:t xml:space="preserve">We won’t spend too much time discussing rollout – you are all familiar with launching content!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8968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DF309D6B-DD9D-1B4E-CE63-B2C1F9B2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3DE86B9B-44D2-ACAE-A1CA-8D5186E74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55DAF037-6048-3FDE-004C-F6E0837157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86592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8263836C-5506-3DF2-63D7-E5FDA8EDA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95BE2F88-6E52-AF3E-06C7-68EAA050E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30417E23-F4A7-686B-AFB9-4F58F16B1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601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60B64476-B4D6-FE75-D64D-84C2D1E6E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C98CAEB5-2FB5-7D47-B680-88753ACFF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4C2CCE3B-181C-8539-DD10-920E7EAAB5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49832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4C7FB564-E0D2-98E8-3841-E0B54A32C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4F618F1A-C6C6-E5F4-D51F-C9ED1DD16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0A091DA8-F752-A348-F8C8-3C4937F4F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06287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6807E245-9E10-BF62-413A-9008F68A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>
            <a:extLst>
              <a:ext uri="{FF2B5EF4-FFF2-40B4-BE49-F238E27FC236}">
                <a16:creationId xmlns:a16="http://schemas.microsoft.com/office/drawing/2014/main" id="{5297CBE6-0EAD-D935-8E4D-279C2A9AB2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>
            <a:extLst>
              <a:ext uri="{FF2B5EF4-FFF2-40B4-BE49-F238E27FC236}">
                <a16:creationId xmlns:a16="http://schemas.microsoft.com/office/drawing/2014/main" id="{A436C58C-2268-473A-704D-B9516078F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59095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0F1EBA66-476C-AD4A-156A-D575C99A2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98A40243-1E3C-44CD-981F-8863F42030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3CAC7E4E-305E-DE25-E641-79DEABBC52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Heebo"/>
                <a:cs typeface="Heebo"/>
              </a:rPr>
              <a:t xml:space="preserve">We won’t spend too much time discussing rollout – you are all familiar with launching content!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17447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44F9D433-6AFD-B782-8106-B9696D96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7B34CA9D-3C8C-EC55-8A84-B948E4723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F3F66124-C3E5-BF04-9DC9-CF7B81DDD8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06267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C9C632AB-4E5B-6F8E-A2DF-546B72C31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18AC331C-027B-FB85-F012-94A5C2BF2D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C9B3B3A9-8BD2-FFEC-CD1E-64880222BD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1179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C92BB8D1-98AC-909B-AC04-90F1CFD63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AE5B2B56-7D38-9E9F-93A0-DBD1B11849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EF58392B-ACEC-9D2F-95AE-7BD9B3D212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7143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B5EC5C2C-2D71-677F-B005-848074F4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33697EB0-9B2A-2775-0F30-5C83E771D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B09866C6-EF3D-3A6B-ECFD-3C214A5FBD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39575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4B8B0B08-6E66-F979-B7DB-F164DA39B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EADCF163-00AA-B055-BA12-71B4365E0A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6DEF7E82-34E8-32D6-2F03-CAB285D2C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58658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368DFD64-1AF3-ACC7-709D-423C945E8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CF1FC54D-C016-95A3-05BB-BFFA68458B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53B88E2D-5E00-79D3-2FD4-2C56267549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7954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CB7ACC37-59E8-F138-9F2D-7DAB6CC82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9424A82F-EEB6-A459-710F-DBB75546D8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847C7C89-2063-1362-109C-D73BE6811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44699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0AAF69CE-C8AA-D72A-7FC3-3273361F7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69392A30-3F6B-F824-B42C-CF8BAB515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B59EFB9E-B46A-1FEB-46AA-B69A576FD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26674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3D24AF68-D622-6515-FD02-3176F647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CFFFA9D5-FB6D-F284-A23E-BFBC823D0F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13E3CC08-2BDF-1C42-88E1-B049857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59067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DEE941A8-797F-623A-E364-B4DEE671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20004BAE-C18C-7E87-4F06-2A570DB9C5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3A468C3C-2546-AF20-BF52-7AA0285321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49563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C8978634-587F-13CA-3915-B42DB1CD0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DA757791-D818-8819-3E07-E5E5A30FA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4E55D770-DC75-79DD-3B39-A65D5720D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03170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302e178bc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302e178bc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5353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I had extremely limited time, I would prioritize: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Adobe Analytics (quant)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Reddit (qual)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 xml:space="preserve">The bigger the request, the bigger the research effort. Just changing a page? Quickly check analytics. Revamping a subway? Supplement analytics with forums and/or TSS.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573360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6E51DE88-F23A-CFED-F393-73930DABB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2433542E-55FE-0F23-5FEC-7FF45CA59F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BE69C46A-B96B-907C-356A-6F1E7C0C4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I had extremely limited time, I would prioritize: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Adobe Analytics (quant)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Reddit (qual)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 xml:space="preserve">The bigger the request, the bigger the research effort. Just changing a page? Quickly check analytics. Revamping a subway? Supplement analytics with forums and/or TSS.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50863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302e178bc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302e178bc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Reach out to WURD if you want to work together on any UX projects</a:t>
            </a:r>
          </a:p>
        </p:txBody>
      </p:sp>
    </p:spTree>
    <p:extLst>
      <p:ext uri="{BB962C8B-B14F-4D97-AF65-F5344CB8AC3E}">
        <p14:creationId xmlns:p14="http://schemas.microsoft.com/office/powerpoint/2010/main" val="20888377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302e178bc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302e178bc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 xml:space="preserve">Daily during </a:t>
            </a:r>
            <a:r>
              <a:rPr lang="en-US"/>
              <a:t>phased roll-out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6248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/>
              <a:t>Key rates: participation, completion rate</a:t>
            </a:r>
          </a:p>
          <a:p>
            <a:pPr marL="171450" indent="-171450"/>
            <a:r>
              <a:rPr lang="en-US"/>
              <a:t xml:space="preserve">Indicators of confusion: previous </a:t>
            </a:r>
            <a:r>
              <a:rPr lang="en-US" err="1"/>
              <a:t>btn</a:t>
            </a:r>
            <a:r>
              <a:rPr lang="en-US"/>
              <a:t xml:space="preserve"> clicks, change answer</a:t>
            </a:r>
          </a:p>
          <a:p>
            <a:pPr marL="171450" indent="-171450"/>
            <a:r>
              <a:rPr lang="en-US"/>
              <a:t>Dashboard set up before going live using test link</a:t>
            </a:r>
          </a:p>
          <a:p>
            <a:pPr marL="171450" indent="-171450"/>
            <a:r>
              <a:rPr lang="en-US"/>
              <a:t>Important to add definitions to metrics</a:t>
            </a:r>
          </a:p>
          <a:p>
            <a:pPr marL="171450" indent="-171450"/>
            <a:r>
              <a:rPr lang="en-US"/>
              <a:t>Ability to segment by device type and language if needed</a:t>
            </a:r>
          </a:p>
          <a:p>
            <a:pPr marL="171450" indent="-17145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430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Most popular selections &amp; results</a:t>
            </a:r>
          </a:p>
        </p:txBody>
      </p:sp>
    </p:spTree>
    <p:extLst>
      <p:ext uri="{BB962C8B-B14F-4D97-AF65-F5344CB8AC3E}">
        <p14:creationId xmlns:p14="http://schemas.microsoft.com/office/powerpoint/2010/main" val="30180851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Most popular selections &amp; results</a:t>
            </a:r>
          </a:p>
        </p:txBody>
      </p:sp>
    </p:spTree>
    <p:extLst>
      <p:ext uri="{BB962C8B-B14F-4D97-AF65-F5344CB8AC3E}">
        <p14:creationId xmlns:p14="http://schemas.microsoft.com/office/powerpoint/2010/main" val="1478362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b="1"/>
              <a:t xml:space="preserve">Special measures </a:t>
            </a:r>
            <a:r>
              <a:rPr lang="en-US"/>
              <a:t>link would first send users to home page and then they'd have to click on an alert from alert band, so most were just getting lost on home page</a:t>
            </a:r>
          </a:p>
          <a:p>
            <a:pPr marL="171450" indent="-171450"/>
            <a:r>
              <a:rPr lang="en-US" b="1"/>
              <a:t xml:space="preserve">Work branch: </a:t>
            </a:r>
            <a:r>
              <a:rPr lang="en-US"/>
              <a:t>We iterated multiple versions of the work branch to strike a balance between number of questions asked and number of results per branch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40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Continued phased</a:t>
            </a:r>
            <a:r>
              <a:rPr lang="en-US" b="1" dirty="0"/>
              <a:t xml:space="preserve"> roll-out </a:t>
            </a:r>
            <a:r>
              <a:rPr lang="en-US" dirty="0"/>
              <a:t>based on positive feedback</a:t>
            </a:r>
          </a:p>
          <a:p>
            <a:pPr marL="171450" indent="-171450"/>
            <a:r>
              <a:rPr lang="en-US" b="1"/>
              <a:t xml:space="preserve">Special measures </a:t>
            </a:r>
            <a:r>
              <a:rPr lang="en-US"/>
              <a:t>link would first send users to home page and then they'd have to click on an alert from alert band, so most were just getting lost on home page</a:t>
            </a:r>
          </a:p>
          <a:p>
            <a:pPr marL="171450" indent="-171450"/>
            <a:r>
              <a:rPr lang="en-US" b="1"/>
              <a:t xml:space="preserve">Work branch: </a:t>
            </a:r>
            <a:r>
              <a:rPr lang="en-US"/>
              <a:t>We iterated multiple versions of the work branch to strike a balance between number of questions asked and number of results per branch</a:t>
            </a:r>
          </a:p>
        </p:txBody>
      </p:sp>
    </p:spTree>
    <p:extLst>
      <p:ext uri="{BB962C8B-B14F-4D97-AF65-F5344CB8AC3E}">
        <p14:creationId xmlns:p14="http://schemas.microsoft.com/office/powerpoint/2010/main" val="39633532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302e178bc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302e178bc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18175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Daily during phased roll-out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Add some icons to make it pretty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085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Daily during phased roll-out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Add some icons to make it pretty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301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829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Most popular selections &amp; results</a:t>
            </a:r>
          </a:p>
        </p:txBody>
      </p:sp>
    </p:spTree>
    <p:extLst>
      <p:ext uri="{BB962C8B-B14F-4D97-AF65-F5344CB8AC3E}">
        <p14:creationId xmlns:p14="http://schemas.microsoft.com/office/powerpoint/2010/main" val="235740904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 xml:space="preserve">Themes: </a:t>
            </a:r>
            <a:r>
              <a:rPr lang="en-US" dirty="0" err="1"/>
              <a:t>GCKey</a:t>
            </a:r>
            <a:r>
              <a:rPr lang="en-US" dirty="0"/>
              <a:t>, sign in/log in, create an account/register, extra steps/too many clicks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880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85850" lvl="1" indent="-171450">
              <a:lnSpc>
                <a:spcPct val="114999"/>
              </a:lnSpc>
              <a:spcAft>
                <a:spcPts val="1200"/>
              </a:spcAft>
            </a:pPr>
            <a:r>
              <a:rPr lang="en-US"/>
              <a:t>V2 used 'sign-in' language that users are desperately looking for</a:t>
            </a:r>
          </a:p>
          <a:p>
            <a:pPr marL="1085850" lvl="1" indent="-171450">
              <a:lnSpc>
                <a:spcPct val="114999"/>
              </a:lnSpc>
              <a:spcAft>
                <a:spcPts val="1200"/>
              </a:spcAft>
            </a:pPr>
            <a:r>
              <a:rPr lang="en-US"/>
              <a:t>Sign in to your account was added as a main branch (to replace Check/Finish)</a:t>
            </a:r>
          </a:p>
          <a:p>
            <a:pPr marL="171450" indent="-171450">
              <a:lnSpc>
                <a:spcPct val="114999"/>
              </a:lnSpc>
              <a:spcAft>
                <a:spcPts val="12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5951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V2 had most popular programs at the forefront, fewer clicks needed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Marianne to do: maybe grab stats on what % of clicks were going to visitor visa, EE, etc.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3453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-US" dirty="0" err="1"/>
              <a:t>GCKey</a:t>
            </a:r>
            <a:r>
              <a:rPr lang="en-US" dirty="0"/>
              <a:t xml:space="preserve"> or Sign-In Partner' was added after Secure account since many users think </a:t>
            </a:r>
            <a:r>
              <a:rPr lang="en-US" dirty="0" err="1"/>
              <a:t>GCKey</a:t>
            </a:r>
            <a:r>
              <a:rPr lang="en-US" dirty="0"/>
              <a:t xml:space="preserve"> is the account</a:t>
            </a:r>
          </a:p>
          <a:p>
            <a:pPr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084722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Calibri"/>
              <a:buChar char="-"/>
            </a:pPr>
            <a:r>
              <a:rPr lang="en-US" dirty="0">
                <a:latin typeface="Calibri"/>
                <a:ea typeface="Calibri"/>
                <a:cs typeface="Calibri"/>
              </a:rPr>
              <a:t>Lots users looking to create an account in comments so two buttons were added on landing page before jumping into wizard</a:t>
            </a:r>
          </a:p>
          <a:p>
            <a:pPr>
              <a:buFont typeface="Calibri"/>
              <a:buChar char="-"/>
            </a:pPr>
            <a:r>
              <a:rPr lang="en-US" dirty="0">
                <a:latin typeface="Calibri"/>
                <a:ea typeface="Calibri"/>
                <a:cs typeface="Calibri"/>
              </a:rPr>
              <a:t>Matches the expectations of a typical sign-in page users would see elsewhere more closely</a:t>
            </a:r>
          </a:p>
        </p:txBody>
      </p:sp>
    </p:spTree>
    <p:extLst>
      <p:ext uri="{BB962C8B-B14F-4D97-AF65-F5344CB8AC3E}">
        <p14:creationId xmlns:p14="http://schemas.microsoft.com/office/powerpoint/2010/main" val="358023873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353339C7-3CF9-D306-93CA-E0C273D95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302e178bc_0_91:notes">
            <a:extLst>
              <a:ext uri="{FF2B5EF4-FFF2-40B4-BE49-F238E27FC236}">
                <a16:creationId xmlns:a16="http://schemas.microsoft.com/office/drawing/2014/main" id="{3C60847E-4EC7-8012-3617-7617F24171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302e178bc_0_91:notes">
            <a:extLst>
              <a:ext uri="{FF2B5EF4-FFF2-40B4-BE49-F238E27FC236}">
                <a16:creationId xmlns:a16="http://schemas.microsoft.com/office/drawing/2014/main" id="{38217DBB-DC0D-B6CD-F434-1F8D1834FA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64756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16445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5467595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URD title layout- french">
  <p:cSld name="TITLE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415601" y="1830200"/>
            <a:ext cx="10489200" cy="10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467100" y="2887000"/>
            <a:ext cx="11360800" cy="7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2"/>
          </p:nvPr>
        </p:nvSpPr>
        <p:spPr>
          <a:xfrm>
            <a:off x="569649" y="5929617"/>
            <a:ext cx="11360800" cy="7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5701167" y="901867"/>
            <a:ext cx="8040868" cy="5054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2;p12">
            <a:extLst>
              <a:ext uri="{FF2B5EF4-FFF2-40B4-BE49-F238E27FC236}">
                <a16:creationId xmlns:a16="http://schemas.microsoft.com/office/drawing/2014/main" id="{847587E8-DEC6-918F-0C7F-A6AE2380421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0200" y="6153867"/>
            <a:ext cx="1696200" cy="282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3882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URD- Title and Body- transparent header">
  <p:cSld name="TITLE_AND_BODY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2" name="Google Shape;8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0200" y="6153867"/>
            <a:ext cx="1696200" cy="2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"/>
          <p:cNvSpPr/>
          <p:nvPr/>
        </p:nvSpPr>
        <p:spPr>
          <a:xfrm>
            <a:off x="552933" y="991200"/>
            <a:ext cx="10975600" cy="72000"/>
          </a:xfrm>
          <a:prstGeom prst="rect">
            <a:avLst/>
          </a:prstGeom>
          <a:solidFill>
            <a:srgbClr val="600D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11360800" cy="48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3925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URD- Title and Body- transparent header" preserve="1">
  <p:cSld name="1_WURD- Title and Body- transparent 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83" name="Google Shape;83;p12"/>
          <p:cNvSpPr/>
          <p:nvPr/>
        </p:nvSpPr>
        <p:spPr>
          <a:xfrm>
            <a:off x="552933" y="991200"/>
            <a:ext cx="10975600" cy="72000"/>
          </a:xfrm>
          <a:prstGeom prst="rect">
            <a:avLst/>
          </a:prstGeom>
          <a:solidFill>
            <a:srgbClr val="600D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11360800" cy="48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2913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 section header- centralized text ">
  <p:cSld name="Next steps section header- centralized text ">
    <p:bg>
      <p:bgPr>
        <a:solidFill>
          <a:srgbClr val="E9E5F2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0282" y="508300"/>
            <a:ext cx="6070820" cy="6070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670299" y="508300"/>
            <a:ext cx="6070820" cy="607083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415600" y="2646033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 idx="2"/>
          </p:nvPr>
        </p:nvSpPr>
        <p:spPr>
          <a:xfrm>
            <a:off x="415600" y="3650367"/>
            <a:ext cx="113608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1684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>
  <p:cSld name="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4" name="Google Shape;54;p8"/>
          <p:cNvGrpSpPr/>
          <p:nvPr/>
        </p:nvGrpSpPr>
        <p:grpSpPr>
          <a:xfrm>
            <a:off x="7263878" y="1422400"/>
            <a:ext cx="5313922" cy="6154555"/>
            <a:chOff x="4832725" y="978975"/>
            <a:chExt cx="3578175" cy="4144524"/>
          </a:xfrm>
        </p:grpSpPr>
        <p:sp>
          <p:nvSpPr>
            <p:cNvPr id="55" name="Google Shape;55;p8"/>
            <p:cNvSpPr/>
            <p:nvPr/>
          </p:nvSpPr>
          <p:spPr>
            <a:xfrm>
              <a:off x="4832725" y="978975"/>
              <a:ext cx="2680500" cy="2680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8"/>
            <p:cNvSpPr/>
            <p:nvPr/>
          </p:nvSpPr>
          <p:spPr>
            <a:xfrm>
              <a:off x="5166800" y="1313050"/>
              <a:ext cx="2012400" cy="2012400"/>
            </a:xfrm>
            <a:prstGeom prst="ellipse">
              <a:avLst/>
            </a:prstGeom>
            <a:solidFill>
              <a:srgbClr val="E9E5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8"/>
            <p:cNvSpPr/>
            <p:nvPr/>
          </p:nvSpPr>
          <p:spPr>
            <a:xfrm rot="-2288092">
              <a:off x="6977620" y="3455779"/>
              <a:ext cx="388655" cy="367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8"/>
            <p:cNvSpPr/>
            <p:nvPr/>
          </p:nvSpPr>
          <p:spPr>
            <a:xfrm rot="-2236353">
              <a:off x="7495263" y="3778223"/>
              <a:ext cx="580574" cy="130245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0872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 preserve="1">
  <p:cSld name="1_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3" name="Picture 2" descr="A white letter g on a black background  Description automatically generated">
            <a:extLst>
              <a:ext uri="{FF2B5EF4-FFF2-40B4-BE49-F238E27FC236}">
                <a16:creationId xmlns:a16="http://schemas.microsoft.com/office/drawing/2014/main" id="{A5CB3A5A-1D9D-B3B0-E3BE-D00C42A2A4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199" y="1624247"/>
            <a:ext cx="5370801" cy="563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7389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 preserve="1">
  <p:cSld name="1_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 userDrawn="1"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7" name="Picture 6" descr="A black and white logo  Description automatically generated">
            <a:extLst>
              <a:ext uri="{FF2B5EF4-FFF2-40B4-BE49-F238E27FC236}">
                <a16:creationId xmlns:a16="http://schemas.microsoft.com/office/drawing/2014/main" id="{94983077-94A8-CF65-1E1E-2C794E587B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767" y="1602150"/>
            <a:ext cx="4984033" cy="498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953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 preserve="1">
  <p:cSld name="1_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 userDrawn="1"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3" name="Picture 2" descr="A group of white circles  Description automatically generated">
            <a:extLst>
              <a:ext uri="{FF2B5EF4-FFF2-40B4-BE49-F238E27FC236}">
                <a16:creationId xmlns:a16="http://schemas.microsoft.com/office/drawing/2014/main" id="{CD9F8A1A-FC8B-48CA-F65B-8AA3604988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711" y="2000512"/>
            <a:ext cx="5599389" cy="447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45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 preserve="1">
  <p:cSld name="1_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 userDrawn="1"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4" name="Picture 3" descr="A white line with an arrow pointing up  Description automatically generated">
            <a:extLst>
              <a:ext uri="{FF2B5EF4-FFF2-40B4-BE49-F238E27FC236}">
                <a16:creationId xmlns:a16="http://schemas.microsoft.com/office/drawing/2014/main" id="{9A9B27A9-785F-2BEA-E348-B2C4B325B8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421" y="1445372"/>
            <a:ext cx="4772790" cy="477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681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 preserve="1">
  <p:cSld name="1_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 userDrawn="1"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DEA13FA-1482-0C7E-A899-85EF86F65D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2326" y="754292"/>
            <a:ext cx="5671149" cy="567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31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 preserve="1">
  <p:cSld name="1_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 userDrawn="1"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8A7CEC1-EB2D-3349-C2B6-3348018910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2458" y="729229"/>
            <a:ext cx="5399542" cy="539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21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ic Section header- centralized text" type="secHead">
  <p:cSld name="Generic Section header- centralized text">
    <p:bg>
      <p:bgPr>
        <a:solidFill>
          <a:srgbClr val="E9E5F2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18234" y="574734"/>
            <a:ext cx="9081732" cy="570853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415600" y="2646033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 idx="2"/>
          </p:nvPr>
        </p:nvSpPr>
        <p:spPr>
          <a:xfrm>
            <a:off x="415600" y="3650367"/>
            <a:ext cx="113608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89545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URD-Title and body" type="tx">
  <p:cSld name="WURD-Title and 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11360800" cy="48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0200" y="6153867"/>
            <a:ext cx="1696200" cy="2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/>
          <p:nvPr/>
        </p:nvSpPr>
        <p:spPr>
          <a:xfrm>
            <a:off x="33" y="0"/>
            <a:ext cx="12192000" cy="9912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356856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8" r:id="rId14"/>
    <p:sldLayoutId id="2147483676" r:id="rId15"/>
    <p:sldLayoutId id="2147483677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38_8744274C.xml"/><Relationship Id="rId1" Type="http://schemas.openxmlformats.org/officeDocument/2006/relationships/slideLayout" Target="../slideLayouts/slideLayout13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050gc.sharepoint.com/:w:/r/sites/COMM-Tier1/Shared%20Documents/Find%20out%20if%20you%20need%20a%20visa/Testing%202025/INTERNAL%20-%20Visa%20Tool%20Rollout%20%26%20Monitoring%20Plan.docx?d=w1c0f616b864b451fad7c38573343a39d&amp;csf=1&amp;web=1&amp;e=UtXoYh" TargetMode="Externa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050gc.sharepoint.com/:w:/r/sites/COMM-Tier1/Shared%20Documents/Find%20out%20if%20you%20need%20a%20visa/Testing%202025/INTERNAL%20-%20Visa%20Tool%20Rollout%20%26%20Monitoring%20Plan.docx?d=w1c0f616b864b451fad7c38573343a39d&amp;csf=1&amp;web=1&amp;e=UtXoYh" TargetMode="Externa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050gc.sharepoint.com/:w:/r/sites/COMM-Tier1/Shared%20Documents/Find%20out%20if%20you%20need%20a%20visa/Testing%202025/INTERNAL%20-%20Visa%20Tool%20Rollout%20%26%20Monitoring%20Plan.docx?d=w1c0f616b864b451fad7c38573343a39d&amp;csf=1&amp;web=1&amp;e=UtXoYh" TargetMode="Externa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hyperlink" Target="https://050gc.sharepoint.com/:p:/r/sites/COMM-Tier1/Shared%20Documents/WAF%20%26%20workshops/Rapid%20research%20workshop.pptx?d=w5f0ac9bd91eb444daf5ee03b87de7b3d&amp;csf=1&amp;web=1&amp;e=3xg4NB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7.xml.rels><?xml version="1.0" encoding="UTF-8"?><Relationships xmlns="http://schemas.openxmlformats.org/package/2006/relationships"><Relationship Id="rId3" Type="http://schemas.microsoft.com/office/2018/10/relationships/comments" Target="../comments/modernComment_164_1262F58B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jpeg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050gc.sharepoint.com/:w:/r/sites/COMM-Tier1/Shared%20Documents/Program%20Finder/Program%20Finder%20Phase%202%20summary%20report.docx?d=w99459e826a174d70ab5eb7e3d280fddf&amp;csf=1&amp;web=1&amp;e=KcUqoL" TargetMode="Externa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050gc.sharepoint.com/:w:/r/sites/COMM-Tier1/Shared%20Documents/Program%20Finder/Monitoring%20report%20-%20End%20of%20Phase%201%20-%20Week%209%20.docx?d=w99a5f37385f94d068c4ee15b9e85b00f&amp;csf=1&amp;web=1&amp;e=TYMRuQ" TargetMode="External"/></Relationships>
</file>

<file path=ppt/slides/_rels/slide26.xml.rels><?xml version="1.0" encoding="UTF-8"?><Relationships xmlns="http://schemas.openxmlformats.org/package/2006/relationships"><Relationship Id="rId3" Type="http://schemas.microsoft.com/office/2018/10/relationships/comments" Target="../comments/modernComment_15B_A44B4C2B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?>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6.xml.rels><?xml version="1.0" encoding="UTF-8"?>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7.xml.rels><?xml version="1.0" encoding="UTF-8"?>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8.xml.rels><?xml version="1.0" encoding="UTF-8"?>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9.xml.rels><?xml version="1.0" encoding="UTF-8"?><Relationships xmlns="http://schemas.openxmlformats.org/package/2006/relationships"><Relationship Id="rId3" Type="http://schemas.openxmlformats.org/officeDocument/2006/relationships/hyperlink" Target="https://050gc.sharepoint.com/:w:/r/sites/COMM-Tier1/Shared%20Documents/Eric%20Google%20Account%20backup/Program%20Finder%20Phase%202%20summary%20report.docx?d=w99459e826a174d70ab5eb7e3d280fddf&amp;csf=1&amp;web=1&amp;e=elOoAa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050gc.sharepoint.com/:w:/s/COMM-Tier1/IQBtpJDijIgfTZdnOt97LSOVAR8_7zfe2rKbPAqFhUR6Rm8?e=6QCe47" TargetMode="External"/><Relationship Id="rId5" Type="http://schemas.openxmlformats.org/officeDocument/2006/relationships/hyperlink" Target="https://050gc.sharepoint.com/:w:/s/COMM-Tier1/IQBrYQ8cS4YfRa18OFczQ6OdAW_PK8eFHBozhCYMHkni9YU?e=TdLv7I" TargetMode="External"/><Relationship Id="rId4" Type="http://schemas.openxmlformats.org/officeDocument/2006/relationships/hyperlink" Target="https://050gc.sharepoint.com/:w:/r/sites/COMM-Tier1/Shared%20Documents/Program%20Finder/INTERNAL%20-%20Program%20Finder%20Rollout%20Plan.docx?d=w42de054803b1417e82fcef42dcae9dcf&amp;csf=1&amp;web=1&amp;e=JPnfoz" TargetMode="External"/></Relationships>
</file>

<file path=ppt/slides/_rels/slide40.xml.rels><?xml version="1.0" encoding="UTF-8"?>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3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?><Relationships xmlns="http://schemas.openxmlformats.org/package/2006/relationships"><Relationship Id="rId2" Type="http://schemas.openxmlformats.org/officeDocument/2006/relationships/hyperlink" Target="https://050gc.sharepoint.com/:w:/r/sites/COMM-Tier1/Shared%20Documents/Contact%20IRCC/Contact%20IRCC%20-%20Research,%20designs,%20monitoring%20plan.docx?d=we290a46d888c4d1f97673adf7b2d2395&amp;csf=1&amp;web=1&amp;e=gTaRWh" TargetMode="External"/><Relationship Id="rId1" Type="http://schemas.openxmlformats.org/officeDocument/2006/relationships/slideLayout" Target="../slideLayouts/slideLayout13.xml"/></Relationships>
</file>

<file path=ppt/slides/_rels/slide43.xml.rels><?xml version="1.0" encoding="UTF-8"?><Relationships xmlns="http://schemas.openxmlformats.org/package/2006/relationships"><Relationship Id="rId8" Type="http://schemas.openxmlformats.org/officeDocument/2006/relationships/hyperlink" Target="https://www.canada.ca/fr/immigration-refugies-citoyennete/services/immigrer-canada/parrainer-membre-famille.html" TargetMode="External"/><Relationship Id="rId13" Type="http://schemas.openxmlformats.org/officeDocument/2006/relationships/hyperlink" Target="https://www.canada.ca/en/immigration-refugees-citizenship/corporate/contact-ircc.html" TargetMode="External"/><Relationship Id="rId18" Type="http://schemas.openxmlformats.org/officeDocument/2006/relationships/hyperlink" Target="https://www.canada.ca/fr/immigration-refugies-citoyennete/services/travailler-canada/permis.html" TargetMode="External"/><Relationship Id="rId3" Type="http://schemas.openxmlformats.org/officeDocument/2006/relationships/hyperlink" Target="https://www.canada.ca/en/immigration-refugees-citizenship/services/study-canada/work.html" TargetMode="External"/><Relationship Id="rId7" Type="http://schemas.openxmlformats.org/officeDocument/2006/relationships/hyperlink" Target="https://www.canada.ca/en/immigration-refugees-citizenship/services/immigrate-canada/family-sponsorship.html" TargetMode="External"/><Relationship Id="rId12" Type="http://schemas.openxmlformats.org/officeDocument/2006/relationships/hyperlink" Target="https://www.canada.ca/fr/immigration-refugies-citoyennete/services/etudier-canada.html" TargetMode="External"/><Relationship Id="rId17" Type="http://schemas.openxmlformats.org/officeDocument/2006/relationships/hyperlink" Target="https://www.canada.ca/en/immigration-refugees-citizenship/services/work-canada/permit.html" TargetMode="External"/><Relationship Id="rId2" Type="http://schemas.openxmlformats.org/officeDocument/2006/relationships/hyperlink" Target="https://050gc.sharepoint.com/:w:/r/sites/COMM-Tier1/Shared%20Documents/Program%20Finder/INTERNAL%20-%20Program%20Finder%20Rollout%20Plan.docx?d=w42de054803b1417e82fcef42dcae9dcf&amp;csf=1&amp;web=1&amp;e=QocBh1" TargetMode="External"/><Relationship Id="rId16" Type="http://schemas.openxmlformats.org/officeDocument/2006/relationships/hyperlink" Target="https://www.canada.ca/fr/immigration-refugies-citoyennete/services/travailler-canada/prolongation-permis.html" TargetMode="External"/><Relationship Id="rId20" Type="http://schemas.openxmlformats.org/officeDocument/2006/relationships/hyperlink" Target="https://www.canada.ca/fr/immigration-refugies-citoyennete/services/visiter-canada/super-visa-parents-grands-parents.html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canada.ca/fr/immigration-refugies-citoyennete/services/travailler-canada.html" TargetMode="External"/><Relationship Id="rId11" Type="http://schemas.openxmlformats.org/officeDocument/2006/relationships/hyperlink" Target="https://www.canada.ca/en/immigration-refugees-citizenship/services/study-canada.html" TargetMode="External"/><Relationship Id="rId5" Type="http://schemas.openxmlformats.org/officeDocument/2006/relationships/hyperlink" Target="https://www.canada.ca/en/immigration-refugees-citizenship/services/work-canada.html" TargetMode="External"/><Relationship Id="rId15" Type="http://schemas.openxmlformats.org/officeDocument/2006/relationships/hyperlink" Target="https://www.canada.ca/en/immigration-refugees-citizenship/services/work-canada/extend-permit.html" TargetMode="External"/><Relationship Id="rId10" Type="http://schemas.openxmlformats.org/officeDocument/2006/relationships/hyperlink" Target="https://www.canada.ca/fr/immigration-refugies-citoyennete/campagnes/passage-irreguliers-frontiere-asile.html" TargetMode="External"/><Relationship Id="rId19" Type="http://schemas.openxmlformats.org/officeDocument/2006/relationships/hyperlink" Target="https://www.canada.ca/en/immigration-refugees-citizenship/services/visit-canada/parent-grandparent-super-visa.html" TargetMode="External"/><Relationship Id="rId4" Type="http://schemas.openxmlformats.org/officeDocument/2006/relationships/hyperlink" Target="https://www.canada.ca/fr/immigration-refugies-citoyennete/services/etudier-canada/travail.html" TargetMode="External"/><Relationship Id="rId9" Type="http://schemas.openxmlformats.org/officeDocument/2006/relationships/hyperlink" Target="https://www.canada.ca/en/immigration-refugees-citizenship/campaigns/irregular-border-crossings-asylum.html" TargetMode="External"/><Relationship Id="rId14" Type="http://schemas.openxmlformats.org/officeDocument/2006/relationships/hyperlink" Target="https://www.canada.ca/fr/immigration-refugies-citoyennete/organisation/contactez-ircc.html" TargetMode="External"/></Relationships>
</file>

<file path=ppt/slides/_rels/slide44.xml.rels><?xml version="1.0" encoding="UTF-8"?>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3.xml"/></Relationships>
</file>

<file path=ppt/slides/_rels/slide45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3.png"/></Relationships>
</file>

<file path=ppt/slides/_rels/slide46.xml.rels><?xml version="1.0" encoding="UTF-8"?>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4.xml"/></Relationships>
</file>

<file path=ppt/slides/_rels/slide47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4.xml"/></Relationships>
</file>

<file path=ppt/slides/_rels/slide48.xml.rels><?xml version="1.0" encoding="UTF-8"?>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49.xml.rels><?xml version="1.0" encoding="UTF-8"?><Relationships xmlns="http://schemas.openxmlformats.org/package/2006/relationships"><Relationship Id="rId3" Type="http://schemas.microsoft.com/office/2018/10/relationships/comments" Target="../comments/modernComment_11E_FEE69DFA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4.xml"/></Relationships>
</file>

<file path=ppt/slides/_rels/slide50.xml.rels><?xml version="1.0" encoding="UTF-8"?>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4.xml"/></Relationships>
</file>

<file path=ppt/slides/_rels/slide51.xml.rels><?xml version="1.0" encoding="UTF-8"?>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.xml"/></Relationships>
</file>

<file path=ppt/slides/_rels/slide53.xml.rels><?xml version="1.0" encoding="UTF-8"?>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3.xml"/></Relationships>
</file>

<file path=ppt/slides/_rels/slide54.xml.rels><?xml version="1.0" encoding="UTF-8"?>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6.png"/></Relationships>
</file>

<file path=ppt/slides/_rels/slide55.xml.rels><?xml version="1.0" encoding="UTF-8"?>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4.xml"/></Relationships>
</file>

<file path=ppt/slides/_rels/slide56.xml.rels><?xml version="1.0" encoding="UTF-8"?>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4.xml"/></Relationships>
</file>

<file path=ppt/slides/_rels/slide57.xml.rels><?xml version="1.0" encoding="UTF-8"?>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4.xml"/></Relationships>
</file>

<file path=ppt/slides/_rels/slide58.xml.rels><?xml version="1.0" encoding="UTF-8"?>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4.xml"/></Relationships>
</file>

<file path=ppt/slides/_rels/slide59.xml.rels><?xml version="1.0" encoding="UTF-8"?>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9.png"/></Relationships>
</file>

<file path=ppt/slides/_rels/slide60.xml.rels><?xml version="1.0" encoding="UTF-8"?>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1.png"/></Relationships>
</file>

<file path=ppt/slides/_rels/slide61.xml.rels><?xml version="1.0" encoding="UTF-8"?>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3.png"/></Relationships>
</file>

<file path=ppt/slides/_rels/slide62.xml.rels><?xml version="1.0" encoding="UTF-8"?>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63.xml.rels><?xml version="1.0" encoding="UTF-8"?>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5.xml"/></Relationships>
</file>

<file path=ppt/slides/_rels/slide64.xml.rels><?xml version="1.0" encoding="UTF-8"?>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hyperlink" Target="https://form.asana.com/?k=iwk4Zh2vGXiT17VS6TvdOQ&amp;d=37114319111389" TargetMode="External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65.xml.rels><?xml version="1.0" encoding="UTF-8"?>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ctrTitle"/>
          </p:nvPr>
        </p:nvSpPr>
        <p:spPr>
          <a:xfrm>
            <a:off x="415602" y="1697883"/>
            <a:ext cx="5172398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r>
              <a:rPr lang="en" sz="5400" b="1" dirty="0"/>
              <a:t>Monitoring design changes</a:t>
            </a:r>
            <a:endParaRPr sz="5400" b="1" dirty="0"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1"/>
          </p:nvPr>
        </p:nvSpPr>
        <p:spPr>
          <a:xfrm>
            <a:off x="415601" y="3850900"/>
            <a:ext cx="5172398" cy="86760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/>
            <a:r>
              <a:rPr lang="en-US" sz="2000"/>
              <a:t>Web UX Research &amp;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F3CE8-0CB7-DB2F-9F9E-1143241C91C1}"/>
              </a:ext>
            </a:extLst>
          </p:cNvPr>
          <p:cNvSpPr txBox="1"/>
          <p:nvPr/>
        </p:nvSpPr>
        <p:spPr>
          <a:xfrm>
            <a:off x="415601" y="6134948"/>
            <a:ext cx="1652257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Clr>
                <a:srgbClr val="474954"/>
              </a:buClr>
              <a:buSzPts val="1600"/>
              <a:defRPr/>
            </a:pPr>
            <a:r>
              <a:rPr lang="en-US" dirty="0">
                <a:solidFill>
                  <a:srgbClr val="474954"/>
                </a:solidFill>
                <a:latin typeface="Lexend SemiBold"/>
                <a:sym typeface="Lexend SemiBold"/>
              </a:rPr>
              <a:t>Winter 2026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74954"/>
              </a:solidFill>
              <a:effectLst/>
              <a:uLnTx/>
              <a:uFillTx/>
              <a:latin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A031E-078C-9034-5774-6420CC02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Continuous improvement cycle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DEF33-22AC-749F-991D-3B1EA1D13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8400" y="1527378"/>
            <a:ext cx="5419988" cy="2054021"/>
          </a:xfrm>
        </p:spPr>
        <p:txBody>
          <a:bodyPr>
            <a:noAutofit/>
          </a:bodyPr>
          <a:lstStyle/>
          <a:p>
            <a:pPr marL="16891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We’re focusing on the </a:t>
            </a:r>
            <a:r>
              <a:rPr lang="en-US" sz="1600" b="1" dirty="0">
                <a:solidFill>
                  <a:schemeClr val="tx1"/>
                </a:solidFill>
              </a:rPr>
              <a:t xml:space="preserve">Measure &amp; monitor </a:t>
            </a:r>
            <a:r>
              <a:rPr lang="en-US" sz="1600" dirty="0">
                <a:solidFill>
                  <a:schemeClr val="tx1"/>
                </a:solidFill>
              </a:rPr>
              <a:t>phase of the continuous improvement cycle.</a:t>
            </a:r>
            <a:endParaRPr lang="en-US" dirty="0">
              <a:solidFill>
                <a:schemeClr val="tx1"/>
              </a:solidFill>
            </a:endParaRPr>
          </a:p>
          <a:p>
            <a:pPr marL="16891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16891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This is the final step in the cycle! Today we’ll learn about the importance of monitoring new designs once they go live. Topics today: </a:t>
            </a:r>
          </a:p>
          <a:p>
            <a:pPr marL="16891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454660" indent="-285750"/>
            <a:r>
              <a:rPr lang="en-US" sz="1600" dirty="0">
                <a:solidFill>
                  <a:schemeClr val="tx1"/>
                </a:solidFill>
              </a:rPr>
              <a:t>What is a monitoring plan</a:t>
            </a:r>
          </a:p>
          <a:p>
            <a:pPr marL="454660" indent="-285750"/>
            <a:r>
              <a:rPr lang="en-US" sz="1600" dirty="0">
                <a:solidFill>
                  <a:schemeClr val="tx1"/>
                </a:solidFill>
              </a:rPr>
              <a:t>Monitoring for small designs</a:t>
            </a:r>
          </a:p>
          <a:p>
            <a:pPr marL="454660" indent="-285750"/>
            <a:r>
              <a:rPr lang="en-US" sz="1600" dirty="0">
                <a:solidFill>
                  <a:schemeClr val="tx1"/>
                </a:solidFill>
              </a:rPr>
              <a:t xml:space="preserve">For medium designs </a:t>
            </a:r>
          </a:p>
          <a:p>
            <a:pPr marL="454660" indent="-285750"/>
            <a:r>
              <a:rPr lang="en-US" sz="1600" dirty="0">
                <a:solidFill>
                  <a:schemeClr val="tx1"/>
                </a:solidFill>
              </a:rPr>
              <a:t>And for large designs</a:t>
            </a:r>
          </a:p>
          <a:p>
            <a:pPr marL="454660" indent="-285750"/>
            <a:endParaRPr lang="en-US" sz="1600" dirty="0">
              <a:solidFill>
                <a:schemeClr val="tx1"/>
              </a:solidFill>
            </a:endParaRPr>
          </a:p>
          <a:p>
            <a:pPr marL="16891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You can also find resources and template for today in the Appendix</a:t>
            </a:r>
          </a:p>
          <a:p>
            <a:pPr marL="454660" indent="-285750"/>
            <a:endParaRPr lang="en-US" sz="160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F3F28B00-86E8-62ED-9543-B10A43D92D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A diagram of a diagram  Description automatically generated">
            <a:extLst>
              <a:ext uri="{FF2B5EF4-FFF2-40B4-BE49-F238E27FC236}">
                <a16:creationId xmlns:a16="http://schemas.microsoft.com/office/drawing/2014/main" id="{96021F66-F065-A784-AD4D-D8B06168E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30" y="1385596"/>
            <a:ext cx="5044798" cy="451744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158FD5-0747-CB81-C5AE-0741521FA165}"/>
              </a:ext>
            </a:extLst>
          </p:cNvPr>
          <p:cNvSpPr/>
          <p:nvPr/>
        </p:nvSpPr>
        <p:spPr>
          <a:xfrm>
            <a:off x="2115018" y="3744331"/>
            <a:ext cx="2398621" cy="2329648"/>
          </a:xfrm>
          <a:prstGeom prst="roundRect">
            <a:avLst/>
          </a:prstGeom>
          <a:noFill/>
          <a:ln w="1270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906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EBBD291B-987B-1BB2-0CFE-0C3AA10E4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7ACCE8-4656-B7F3-1A69-EF36FE6C87D0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Overview of rollout; monitoring; reacting; reporting</a:t>
            </a:r>
          </a:p>
        </p:txBody>
      </p:sp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1EB274B5-41C0-56DF-13C3-CDECD142C76B}"/>
              </a:ext>
            </a:extLst>
          </p:cNvPr>
          <p:cNvSpPr txBox="1">
            <a:spLocks/>
          </p:cNvSpPr>
          <p:nvPr/>
        </p:nvSpPr>
        <p:spPr>
          <a:xfrm>
            <a:off x="415600" y="1605092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 dirty="0"/>
              <a:t>What is a  monitoring plan?</a:t>
            </a:r>
          </a:p>
        </p:txBody>
      </p:sp>
    </p:spTree>
    <p:extLst>
      <p:ext uri="{BB962C8B-B14F-4D97-AF65-F5344CB8AC3E}">
        <p14:creationId xmlns:p14="http://schemas.microsoft.com/office/powerpoint/2010/main" val="3914124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F090238A-E317-18B1-1848-F7A3F08D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6B6DB80F-7777-CA43-0412-14529161D9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Five key aspects: Risk, rollout, monitor, react, report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E09E044-458F-BFA3-9025-6A88484D7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E7622F8-11E3-3292-F28A-F410FEC31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3C3C52-732C-1FFA-2AA9-6DA0E9C29653}"/>
              </a:ext>
            </a:extLst>
          </p:cNvPr>
          <p:cNvSpPr txBox="1"/>
          <p:nvPr/>
        </p:nvSpPr>
        <p:spPr>
          <a:xfrm>
            <a:off x="415600" y="3500163"/>
            <a:ext cx="7877174" cy="36317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 xml:space="preserve">Impact: </a:t>
            </a:r>
            <a:r>
              <a:rPr lang="en-US" dirty="0">
                <a:latin typeface="Heebo"/>
                <a:cs typeface="Heebo"/>
              </a:rPr>
              <a:t xml:space="preserve">What’s the impact of the change? Risks? </a:t>
            </a:r>
            <a:r>
              <a:rPr lang="en-US">
                <a:latin typeface="Heebo"/>
                <a:cs typeface="Heebo"/>
              </a:rPr>
              <a:t>Visibility?</a:t>
            </a:r>
            <a:br>
              <a:rPr lang="en-US" dirty="0">
                <a:latin typeface="Heebo"/>
                <a:cs typeface="Heebo"/>
              </a:rPr>
            </a:br>
            <a:endParaRPr lang="en-US" b="1" dirty="0">
              <a:solidFill>
                <a:srgbClr val="600DB4"/>
              </a:solidFill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 xml:space="preserve">Rollout: </a:t>
            </a:r>
            <a:r>
              <a:rPr lang="en-US" dirty="0">
                <a:latin typeface="Heebo"/>
                <a:cs typeface="Heebo"/>
              </a:rPr>
              <a:t>How you’re going to launch the new changes</a:t>
            </a:r>
            <a:br>
              <a:rPr lang="en-US" dirty="0"/>
            </a:b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 xml:space="preserve">Monitor: </a:t>
            </a:r>
            <a:r>
              <a:rPr lang="en-US" dirty="0">
                <a:latin typeface="Heebo"/>
                <a:cs typeface="Heebo"/>
              </a:rPr>
              <a:t>How you’ll measure performance once live</a:t>
            </a:r>
            <a:br>
              <a:rPr lang="en-US" dirty="0">
                <a:latin typeface="Heebo"/>
                <a:cs typeface="Heebo"/>
              </a:rPr>
            </a:br>
            <a:endParaRPr lang="en-US" dirty="0"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 xml:space="preserve">React: </a:t>
            </a:r>
            <a:r>
              <a:rPr lang="en-US" dirty="0">
                <a:latin typeface="Heebo"/>
                <a:cs typeface="Heebo"/>
              </a:rPr>
              <a:t>What you’ll do based on the monitor data</a:t>
            </a:r>
            <a:br>
              <a:rPr lang="en-US" dirty="0">
                <a:latin typeface="Heebo"/>
                <a:cs typeface="Heebo"/>
              </a:rPr>
            </a:br>
            <a:endParaRPr lang="en-US" dirty="0"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 xml:space="preserve">Report: </a:t>
            </a:r>
            <a:r>
              <a:rPr lang="en-US" dirty="0">
                <a:latin typeface="Heebo"/>
                <a:cs typeface="Heebo"/>
              </a:rPr>
              <a:t>Who you’ll tell about the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Heebo"/>
              <a:cs typeface="Heebo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5F8AB08-E7F1-CD58-5752-7DD3CF207E0A}"/>
              </a:ext>
            </a:extLst>
          </p:cNvPr>
          <p:cNvSpPr/>
          <p:nvPr/>
        </p:nvSpPr>
        <p:spPr>
          <a:xfrm>
            <a:off x="7285038" y="3638965"/>
            <a:ext cx="4278310" cy="2078768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Guidance for monitoring &amp; workshop template: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Templates available in the Appendix: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small design = one pager with checklist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Medium = 2 page with checklist and reporting examples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Large = 3 pager with checklists, monitoring template, reporting template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6B17199C-2668-D94A-FF4F-D14ECB240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6612498"/>
              </p:ext>
            </p:extLst>
          </p:nvPr>
        </p:nvGraphicFramePr>
        <p:xfrm>
          <a:off x="1665357" y="495533"/>
          <a:ext cx="8128000" cy="3336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0719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411EEB77-97F1-CC33-7995-FC2CA55E1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83F48F-1A42-629A-74BA-43F6BDA84AD3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>
            <a:noAutofit/>
          </a:bodyPr>
          <a:lstStyle/>
          <a:p>
            <a:r>
              <a:rPr lang="en-CA" sz="1800" dirty="0"/>
              <a:t>How big is this design change? What are the risks?</a:t>
            </a:r>
            <a:endParaRPr lang="en-US" dirty="0"/>
          </a:p>
        </p:txBody>
      </p:sp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0D2E96B9-CCF3-FF23-3FE2-B4385441C614}"/>
              </a:ext>
            </a:extLst>
          </p:cNvPr>
          <p:cNvSpPr txBox="1">
            <a:spLocks/>
          </p:cNvSpPr>
          <p:nvPr/>
        </p:nvSpPr>
        <p:spPr>
          <a:xfrm>
            <a:off x="415600" y="1605092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 dirty="0"/>
              <a:t>Impact &amp; risk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73392F92-1DD4-0A61-1FC7-75437F016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9C7B17FB-44E3-0495-8D1E-C7BDB7DDC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CA" b="1" dirty="0"/>
              <a:t>Impact: What will this change for users? What risks are present?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55480D9-AE5E-626A-2862-88223FB28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B3E864-414D-0CEF-6A80-0AE2C3150717}"/>
              </a:ext>
            </a:extLst>
          </p:cNvPr>
          <p:cNvSpPr txBox="1"/>
          <p:nvPr/>
        </p:nvSpPr>
        <p:spPr>
          <a:xfrm>
            <a:off x="501977" y="1419670"/>
            <a:ext cx="5386075" cy="29238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Impact: What we hope to achieve for users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 xml:space="preserve">Tweaking words or a few changes on a page usually doesn’t require a full rollout plan – just go live and monitor.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Risks: What might go wrong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Phased launch? Live beta? All live at once? What pages?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026FEA-FDC3-2569-4282-80DA38FC9ECC}"/>
              </a:ext>
            </a:extLst>
          </p:cNvPr>
          <p:cNvSpPr/>
          <p:nvPr/>
        </p:nvSpPr>
        <p:spPr>
          <a:xfrm>
            <a:off x="545205" y="4473649"/>
            <a:ext cx="5299618" cy="1647498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Heebo"/>
                <a:cs typeface="Heebo"/>
              </a:rPr>
              <a:t>From: Visa Tool Rollout &amp; Monitoring Plan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 descr="A black and white screen with white text  AI-generated content may be incorrect.">
            <a:extLst>
              <a:ext uri="{FF2B5EF4-FFF2-40B4-BE49-F238E27FC236}">
                <a16:creationId xmlns:a16="http://schemas.microsoft.com/office/drawing/2014/main" id="{B8029E61-445B-E917-69C2-181A3A7D6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229" y="1470958"/>
            <a:ext cx="4682956" cy="26694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D96E0F-C3AA-2D6D-6BB7-A24597EC905C}"/>
              </a:ext>
            </a:extLst>
          </p:cNvPr>
          <p:cNvSpPr txBox="1"/>
          <p:nvPr/>
        </p:nvSpPr>
        <p:spPr>
          <a:xfrm>
            <a:off x="7815128" y="4361481"/>
            <a:ext cx="2899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 xml:space="preserve">From: </a:t>
            </a:r>
            <a:r>
              <a:rPr lang="en-US" sz="1200" i="1" dirty="0">
                <a:hlinkClick r:id="rId4"/>
              </a:rPr>
              <a:t>Visa Tool Rollout &amp; Monitoring Plan</a:t>
            </a:r>
            <a:endParaRPr lang="en-CA" sz="1200" i="1" dirty="0"/>
          </a:p>
        </p:txBody>
      </p:sp>
    </p:spTree>
    <p:extLst>
      <p:ext uri="{BB962C8B-B14F-4D97-AF65-F5344CB8AC3E}">
        <p14:creationId xmlns:p14="http://schemas.microsoft.com/office/powerpoint/2010/main" val="2469591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2AF03A23-E9BF-199D-E354-D54BEE835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7045B2D8-EFEF-6475-CA6A-EB38242C9D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“Size” of design isn’t the same as impact/risk</a:t>
            </a:r>
            <a:endParaRPr lang="en-CA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EBA8EE3-BE12-59DF-FEE3-A9F9957F2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C68AEE-DF6D-F4F7-556B-E78EF4101BD4}"/>
              </a:ext>
            </a:extLst>
          </p:cNvPr>
          <p:cNvSpPr txBox="1"/>
          <p:nvPr/>
        </p:nvSpPr>
        <p:spPr>
          <a:xfrm>
            <a:off x="501977" y="1419670"/>
            <a:ext cx="5386075" cy="23698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Small changes can make major differences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E.g. changing text from “visa” to “permit” could drastically change search results, findability, etc.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Large changes might not change much for users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 xml:space="preserve">Lift + shift 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3226CC-314B-1F3C-0C67-EA8D5697D050}"/>
              </a:ext>
            </a:extLst>
          </p:cNvPr>
          <p:cNvSpPr/>
          <p:nvPr/>
        </p:nvSpPr>
        <p:spPr>
          <a:xfrm>
            <a:off x="545205" y="4473649"/>
            <a:ext cx="5299618" cy="1647498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Heebo"/>
                <a:cs typeface="Heebo"/>
              </a:rPr>
              <a:t>From: Visa Tool Rollout &amp; Monitoring Plan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 descr="A black and white screen with white text  AI-generated content may be incorrect.">
            <a:extLst>
              <a:ext uri="{FF2B5EF4-FFF2-40B4-BE49-F238E27FC236}">
                <a16:creationId xmlns:a16="http://schemas.microsoft.com/office/drawing/2014/main" id="{8F11FFB9-866B-6BF2-B5D2-172CB8DEB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229" y="1470958"/>
            <a:ext cx="4682956" cy="26694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45D917-5A5B-8F0E-5AEC-32B944996129}"/>
              </a:ext>
            </a:extLst>
          </p:cNvPr>
          <p:cNvSpPr txBox="1"/>
          <p:nvPr/>
        </p:nvSpPr>
        <p:spPr>
          <a:xfrm>
            <a:off x="7815128" y="4361481"/>
            <a:ext cx="2899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 xml:space="preserve">From: </a:t>
            </a:r>
            <a:r>
              <a:rPr lang="en-US" sz="1200" i="1" dirty="0">
                <a:hlinkClick r:id="rId4"/>
              </a:rPr>
              <a:t>Visa Tool Rollout &amp; Monitoring Plan</a:t>
            </a:r>
            <a:endParaRPr lang="en-CA" sz="1200" i="1" dirty="0"/>
          </a:p>
        </p:txBody>
      </p:sp>
    </p:spTree>
    <p:extLst>
      <p:ext uri="{BB962C8B-B14F-4D97-AF65-F5344CB8AC3E}">
        <p14:creationId xmlns:p14="http://schemas.microsoft.com/office/powerpoint/2010/main" val="3750608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918DD00B-2DD3-D5E3-82F0-790F0811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1A9D6DB4-0CE8-B2FB-49D3-A3071B222E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Impact/Risks determine the rest of your monitoring plan</a:t>
            </a:r>
            <a:endParaRPr lang="en-CA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13BD168-8461-2EC0-FC69-5FD398E01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280876-EDBB-8CAC-CFA5-7506FC438473}"/>
              </a:ext>
            </a:extLst>
          </p:cNvPr>
          <p:cNvGrpSpPr/>
          <p:nvPr/>
        </p:nvGrpSpPr>
        <p:grpSpPr>
          <a:xfrm>
            <a:off x="2038171" y="1426169"/>
            <a:ext cx="7548785" cy="1171442"/>
            <a:chOff x="2127902" y="1951797"/>
            <a:chExt cx="7548785" cy="117144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9C67AF-998B-5141-DDB3-A87F6D11FA3A}"/>
                </a:ext>
              </a:extLst>
            </p:cNvPr>
            <p:cNvSpPr txBox="1"/>
            <p:nvPr/>
          </p:nvSpPr>
          <p:spPr>
            <a:xfrm>
              <a:off x="4772971" y="1951797"/>
              <a:ext cx="20038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600DB4"/>
                  </a:solidFill>
                </a:rPr>
                <a:t>Impact/Risk</a:t>
              </a:r>
              <a:endParaRPr lang="en-CA" sz="2400" b="1" i="1" dirty="0">
                <a:solidFill>
                  <a:srgbClr val="600DB4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303E8C-1C40-6E4A-F352-198FF19CA79A}"/>
                </a:ext>
              </a:extLst>
            </p:cNvPr>
            <p:cNvSpPr txBox="1"/>
            <p:nvPr/>
          </p:nvSpPr>
          <p:spPr>
            <a:xfrm>
              <a:off x="8930115" y="2723129"/>
              <a:ext cx="746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High</a:t>
              </a:r>
              <a:endParaRPr lang="en-CA" sz="2000" b="1" i="1" dirty="0"/>
            </a:p>
          </p:txBody>
        </p:sp>
        <p:sp>
          <p:nvSpPr>
            <p:cNvPr id="2" name="Arrow: Right 1">
              <a:extLst>
                <a:ext uri="{FF2B5EF4-FFF2-40B4-BE49-F238E27FC236}">
                  <a16:creationId xmlns:a16="http://schemas.microsoft.com/office/drawing/2014/main" id="{6CEE6B83-4521-5490-5019-9612DB9758A1}"/>
                </a:ext>
              </a:extLst>
            </p:cNvPr>
            <p:cNvSpPr/>
            <p:nvPr/>
          </p:nvSpPr>
          <p:spPr>
            <a:xfrm>
              <a:off x="2127902" y="2339134"/>
              <a:ext cx="7370748" cy="346105"/>
            </a:xfrm>
            <a:prstGeom prst="rightArrow">
              <a:avLst/>
            </a:prstGeom>
            <a:gradFill flip="none" rotWithShape="1">
              <a:gsLst>
                <a:gs pos="0">
                  <a:srgbClr val="600DB4">
                    <a:tint val="66000"/>
                    <a:satMod val="160000"/>
                  </a:srgbClr>
                </a:gs>
                <a:gs pos="50000">
                  <a:srgbClr val="600DB4">
                    <a:tint val="44500"/>
                    <a:satMod val="160000"/>
                  </a:srgbClr>
                </a:gs>
                <a:gs pos="100000">
                  <a:srgbClr val="600DB4">
                    <a:tint val="23500"/>
                    <a:satMod val="160000"/>
                  </a:srgb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95780BF-FBF2-E5B8-18CF-ECDE8CD8FA76}"/>
              </a:ext>
            </a:extLst>
          </p:cNvPr>
          <p:cNvSpPr txBox="1"/>
          <p:nvPr/>
        </p:nvSpPr>
        <p:spPr>
          <a:xfrm>
            <a:off x="7564097" y="2843773"/>
            <a:ext cx="3818902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Phased rollout, not all at once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Robust monitoring plan, multiple data sources and frequent checks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Pre-planned reactions to various possible outcomes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Formal regular performance reports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4E4E69-D0E8-1977-6792-0024281C8FBF}"/>
              </a:ext>
            </a:extLst>
          </p:cNvPr>
          <p:cNvSpPr txBox="1"/>
          <p:nvPr/>
        </p:nvSpPr>
        <p:spPr>
          <a:xfrm>
            <a:off x="5075362" y="2197501"/>
            <a:ext cx="1296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Medium</a:t>
            </a:r>
            <a:endParaRPr lang="en-CA" sz="2000" b="1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80B52E-554F-4B4E-BF75-F939C3C55E0C}"/>
              </a:ext>
            </a:extLst>
          </p:cNvPr>
          <p:cNvSpPr txBox="1"/>
          <p:nvPr/>
        </p:nvSpPr>
        <p:spPr>
          <a:xfrm>
            <a:off x="1963869" y="2197501"/>
            <a:ext cx="746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Low</a:t>
            </a:r>
            <a:endParaRPr lang="en-CA" sz="2000" b="1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3452E7-933D-6A0C-A7B0-F663A807ABB7}"/>
              </a:ext>
            </a:extLst>
          </p:cNvPr>
          <p:cNvSpPr txBox="1"/>
          <p:nvPr/>
        </p:nvSpPr>
        <p:spPr>
          <a:xfrm>
            <a:off x="3814092" y="2841859"/>
            <a:ext cx="38189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Consider a Live Beta phase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Robust monitoring plan, multiple data sources and frequent checks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Ad hoc reactions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Email reporting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47401D-B852-0753-F431-91F7D10FCDDF}"/>
              </a:ext>
            </a:extLst>
          </p:cNvPr>
          <p:cNvSpPr txBox="1"/>
          <p:nvPr/>
        </p:nvSpPr>
        <p:spPr>
          <a:xfrm>
            <a:off x="502421" y="2843773"/>
            <a:ext cx="331167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Go live!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No plan – just check data 2-3 times post-launch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Ad hoc reactions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Verbal reporting, if any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B57852-D2F2-75B8-ADCA-1A73C91F644D}"/>
              </a:ext>
            </a:extLst>
          </p:cNvPr>
          <p:cNvSpPr txBox="1"/>
          <p:nvPr/>
        </p:nvSpPr>
        <p:spPr>
          <a:xfrm>
            <a:off x="2224755" y="5864383"/>
            <a:ext cx="7802310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There is no one-size-fits-all approach! Assess the risks and develop a monitoring plan tailored to the situation</a:t>
            </a:r>
            <a:endParaRPr lang="en-US" dirty="0"/>
          </a:p>
          <a:p>
            <a:pPr marL="285750" indent="-285750" algn="ctr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4614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B48902BD-0DB3-C1DB-2C4B-5F4C2C97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8D7652-AA2F-BE1C-980B-57611F5620DF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>
            <a:noAutofit/>
          </a:bodyPr>
          <a:lstStyle/>
          <a:p>
            <a:r>
              <a:rPr lang="en-CA" sz="1800" dirty="0"/>
              <a:t>How are we going to launch this design?</a:t>
            </a:r>
            <a:endParaRPr lang="en-US" dirty="0"/>
          </a:p>
        </p:txBody>
      </p:sp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271D1D30-99DE-725A-6425-0E2E71DA43B9}"/>
              </a:ext>
            </a:extLst>
          </p:cNvPr>
          <p:cNvSpPr txBox="1">
            <a:spLocks/>
          </p:cNvSpPr>
          <p:nvPr/>
        </p:nvSpPr>
        <p:spPr>
          <a:xfrm>
            <a:off x="415600" y="1605092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 dirty="0"/>
              <a:t>Rollout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0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E7B4B8A2-01A8-42F9-86EE-6EA4244E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A9432CEB-2098-C56B-BB0D-5F2362572D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CA" b="1" dirty="0"/>
              <a:t>Rollout: How you’re going to launch a new design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136E63-A81E-AC0D-BA8A-6016B52DE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EB3DE1-9F76-D536-7440-D17EDB17B4F0}"/>
              </a:ext>
            </a:extLst>
          </p:cNvPr>
          <p:cNvSpPr txBox="1"/>
          <p:nvPr/>
        </p:nvSpPr>
        <p:spPr>
          <a:xfrm>
            <a:off x="501977" y="1419670"/>
            <a:ext cx="5386075" cy="32008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Less important for small and medium design work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 xml:space="preserve">Tweaking words or a few changes on a page usually doesn’t require a full rollout plan – just go live and monitor.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Critical for large changes, new tools (e.g. Program Finder)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Phased launch? Live beta? All live at once? What pages?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EA87A66-89CD-53BD-D7E5-B20D183EC661}"/>
              </a:ext>
            </a:extLst>
          </p:cNvPr>
          <p:cNvSpPr/>
          <p:nvPr/>
        </p:nvSpPr>
        <p:spPr>
          <a:xfrm>
            <a:off x="545205" y="4473649"/>
            <a:ext cx="5299618" cy="1647498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Key message: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Consider phased launches for large changes or novel content. Use monitoring data to determine when to move from one phase to the next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 descr="A black and white screen with white text  AI-generated content may be incorrect.">
            <a:extLst>
              <a:ext uri="{FF2B5EF4-FFF2-40B4-BE49-F238E27FC236}">
                <a16:creationId xmlns:a16="http://schemas.microsoft.com/office/drawing/2014/main" id="{D8A4C797-CABE-2C27-12B9-F5A0D84CC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229" y="1470958"/>
            <a:ext cx="4682956" cy="26694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73E695-7447-8406-824E-5DDB5CD84CD7}"/>
              </a:ext>
            </a:extLst>
          </p:cNvPr>
          <p:cNvSpPr txBox="1"/>
          <p:nvPr/>
        </p:nvSpPr>
        <p:spPr>
          <a:xfrm>
            <a:off x="7815128" y="4361481"/>
            <a:ext cx="2899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 xml:space="preserve">From: </a:t>
            </a:r>
            <a:r>
              <a:rPr lang="en-US" sz="1200" i="1" dirty="0">
                <a:hlinkClick r:id="rId4"/>
              </a:rPr>
              <a:t>Visa Tool Rollout &amp; Monitoring Plan</a:t>
            </a:r>
            <a:endParaRPr lang="en-CA" sz="1200" i="1" dirty="0"/>
          </a:p>
        </p:txBody>
      </p:sp>
    </p:spTree>
    <p:extLst>
      <p:ext uri="{BB962C8B-B14F-4D97-AF65-F5344CB8AC3E}">
        <p14:creationId xmlns:p14="http://schemas.microsoft.com/office/powerpoint/2010/main" val="1333157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0D9B83DC-180E-824C-6B75-DD1F54065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D767929D-347B-A72A-7135-856565D982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Explicit rollout plan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3D680D7-9A72-964C-4571-8F54E72EE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E9AB5B5-1AA4-CF79-A5E4-EFCD34231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A6869B-50B6-172E-5D8F-E6F6D1AEDF0C}"/>
              </a:ext>
            </a:extLst>
          </p:cNvPr>
          <p:cNvSpPr txBox="1"/>
          <p:nvPr/>
        </p:nvSpPr>
        <p:spPr>
          <a:xfrm>
            <a:off x="501977" y="1419670"/>
            <a:ext cx="6441748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How will you launch this new large design?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You can “ramp up” the launch in a variety of ways, e.g.: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Promotional Features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Most Requested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Indexing/Deindexing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Promotion via Social Media team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ebo" pitchFamily="2" charset="-79"/>
                <a:cs typeface="Heebo" pitchFamily="2" charset="-79"/>
              </a:rPr>
              <a:t xml:space="preserve">Recommended: </a:t>
            </a:r>
            <a:r>
              <a:rPr lang="en-US" dirty="0">
                <a:latin typeface="Heebo" pitchFamily="2" charset="-79"/>
                <a:cs typeface="Heebo" pitchFamily="2" charset="-79"/>
              </a:rPr>
              <a:t>Gradual increase in visibility, e.g.: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ebo" pitchFamily="2" charset="-79"/>
                <a:cs typeface="Heebo" pitchFamily="2" charset="-79"/>
              </a:rPr>
              <a:t xml:space="preserve">Phase 1: </a:t>
            </a:r>
            <a:r>
              <a:rPr lang="en-US" dirty="0">
                <a:latin typeface="Heebo" pitchFamily="2" charset="-79"/>
                <a:cs typeface="Heebo" pitchFamily="2" charset="-79"/>
              </a:rPr>
              <a:t>Link to new content from just 1 page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ebo" pitchFamily="2" charset="-79"/>
                <a:cs typeface="Heebo" pitchFamily="2" charset="-79"/>
              </a:rPr>
              <a:t xml:space="preserve">Phase 2: </a:t>
            </a:r>
            <a:r>
              <a:rPr lang="en-US" dirty="0">
                <a:latin typeface="Heebo" pitchFamily="2" charset="-79"/>
                <a:cs typeface="Heebo" pitchFamily="2" charset="-79"/>
              </a:rPr>
              <a:t>Link from 5 pages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ebo" pitchFamily="2" charset="-79"/>
                <a:cs typeface="Heebo" pitchFamily="2" charset="-79"/>
              </a:rPr>
              <a:t xml:space="preserve">Phase 3: </a:t>
            </a:r>
            <a:r>
              <a:rPr lang="en-US" dirty="0">
                <a:latin typeface="Heebo" pitchFamily="2" charset="-79"/>
                <a:cs typeface="Heebo" pitchFamily="2" charset="-79"/>
              </a:rPr>
              <a:t>Full cross-linkage and indexing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1FE07C-A997-F10C-D462-05F84D1926C6}"/>
              </a:ext>
            </a:extLst>
          </p:cNvPr>
          <p:cNvSpPr/>
          <p:nvPr/>
        </p:nvSpPr>
        <p:spPr>
          <a:xfrm>
            <a:off x="7886700" y="1109261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400" dirty="0">
                <a:latin typeface="Heebo"/>
              </a:rPr>
              <a:t>✓ Pre-launch</a:t>
            </a:r>
            <a:endParaRPr lang="en-CA" dirty="0"/>
          </a:p>
          <a:p>
            <a:pPr algn="ctr"/>
            <a:r>
              <a:rPr lang="en-US" sz="1200" dirty="0">
                <a:latin typeface="Heebo"/>
              </a:rPr>
              <a:t>📋 Pre-launch checklist:</a:t>
            </a:r>
          </a:p>
          <a:p>
            <a:pPr algn="ctr"/>
            <a:r>
              <a:rPr lang="en-US" sz="1200" dirty="0">
                <a:latin typeface="Heebo"/>
              </a:rPr>
              <a:t>All links working and tested?</a:t>
            </a:r>
          </a:p>
          <a:p>
            <a:pPr algn="ctr"/>
            <a:r>
              <a:rPr lang="en-US" sz="1200" dirty="0">
                <a:latin typeface="Heebo"/>
              </a:rPr>
              <a:t>Content reviewed and approved?</a:t>
            </a:r>
          </a:p>
          <a:p>
            <a:pPr algn="ctr"/>
            <a:r>
              <a:rPr lang="en-US" sz="1200" dirty="0">
                <a:latin typeface="Heebo"/>
              </a:rPr>
              <a:t>Monitoring plan documented?</a:t>
            </a:r>
          </a:p>
          <a:p>
            <a:pPr algn="ctr"/>
            <a:r>
              <a:rPr lang="en-US" sz="1200" dirty="0">
                <a:latin typeface="Heebo"/>
              </a:rPr>
              <a:t>Calendar reminders set?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53B754-25D1-6DCC-6B15-EF6DEC2AF429}"/>
              </a:ext>
            </a:extLst>
          </p:cNvPr>
          <p:cNvSpPr/>
          <p:nvPr/>
        </p:nvSpPr>
        <p:spPr>
          <a:xfrm>
            <a:off x="7249472" y="4356285"/>
            <a:ext cx="4440551" cy="1795418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CA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Important: </a:t>
            </a:r>
            <a:r>
              <a:rPr lang="en-CA" sz="1600" dirty="0">
                <a:solidFill>
                  <a:schemeClr val="tx1"/>
                </a:solidFill>
                <a:latin typeface="Heebo"/>
                <a:cs typeface="Heebo"/>
              </a:rPr>
              <a:t xml:space="preserve">Be explicit about when you’ll move from one phase to the next using data. </a:t>
            </a:r>
          </a:p>
          <a:p>
            <a:endParaRPr lang="en-CA" sz="1600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CA" sz="1600" dirty="0">
                <a:solidFill>
                  <a:schemeClr val="tx1"/>
                </a:solidFill>
                <a:latin typeface="Heebo"/>
                <a:cs typeface="Heebo"/>
              </a:rPr>
              <a:t xml:space="preserve">E.g. “We’ll move to Phase 2 after 4 weeks of no issues detected in our monitoring” </a:t>
            </a:r>
          </a:p>
        </p:txBody>
      </p:sp>
    </p:spTree>
    <p:extLst>
      <p:ext uri="{BB962C8B-B14F-4D97-AF65-F5344CB8AC3E}">
        <p14:creationId xmlns:p14="http://schemas.microsoft.com/office/powerpoint/2010/main" val="2044922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3B916EF-95C2-7EE3-FB3C-1826EC4C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43250B66-5289-2C04-DCBE-0C17C4A241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Pre-launch: Check everything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332BB12-CAA3-AF35-56F2-AE4F85B9F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9AAC5EA-BFD3-C2AB-6374-283AE64EE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F0ADCC-1914-0529-42C2-E928906E73FC}"/>
              </a:ext>
            </a:extLst>
          </p:cNvPr>
          <p:cNvSpPr txBox="1"/>
          <p:nvPr/>
        </p:nvSpPr>
        <p:spPr>
          <a:xfrm>
            <a:off x="501977" y="1419670"/>
            <a:ext cx="6155997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some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ED18EDF-6812-E906-5436-34D5AE748233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F59502-0CCD-F7C3-CB37-A866358EB177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400" dirty="0">
                <a:latin typeface="Heebo"/>
              </a:rPr>
              <a:t>🚀 Go live</a:t>
            </a:r>
            <a:endParaRPr lang="en-CA" dirty="0"/>
          </a:p>
          <a:p>
            <a:pPr algn="ctr"/>
            <a:r>
              <a:rPr lang="en-US" sz="1200" dirty="0">
                <a:latin typeface="Heebo"/>
              </a:rPr>
              <a:t>Launch day checklist:</a:t>
            </a:r>
          </a:p>
          <a:p>
            <a:pPr algn="ctr"/>
            <a:r>
              <a:rPr lang="en-US" sz="1200" dirty="0">
                <a:latin typeface="Heebo"/>
              </a:rPr>
              <a:t>Design is live — start the clock!</a:t>
            </a:r>
          </a:p>
          <a:p>
            <a:pPr algn="ctr"/>
            <a:r>
              <a:rPr lang="en-US" sz="1200" dirty="0">
                <a:latin typeface="Heebo"/>
              </a:rPr>
              <a:t>Notify stakeholders</a:t>
            </a:r>
          </a:p>
          <a:p>
            <a:pPr algn="ctr"/>
            <a:r>
              <a:rPr lang="en-US" sz="1200" dirty="0">
                <a:latin typeface="Heebo"/>
              </a:rPr>
              <a:t>Check data sources within first 24h</a:t>
            </a:r>
          </a:p>
          <a:p>
            <a:pPr algn="ctr"/>
            <a:r>
              <a:rPr lang="en-US" sz="1200" dirty="0">
                <a:latin typeface="Heebo"/>
              </a:rPr>
              <a:t>Document baseline metrics</a:t>
            </a:r>
          </a:p>
        </p:txBody>
      </p:sp>
    </p:spTree>
    <p:extLst>
      <p:ext uri="{BB962C8B-B14F-4D97-AF65-F5344CB8AC3E}">
        <p14:creationId xmlns:p14="http://schemas.microsoft.com/office/powerpoint/2010/main" val="1010013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F55A94A9-9B28-0F4E-48C8-C921139B7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956DD22B-F518-9A0E-4F1E-1422B3CA7B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Launch according to rollout plan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713A3A9-AFA9-70E2-1D6C-BAA490E32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606F95D-4ED4-9C24-8257-0D13BBE8E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3D29-40BD-21F2-EC56-75723F3087FC}"/>
              </a:ext>
            </a:extLst>
          </p:cNvPr>
          <p:cNvSpPr txBox="1"/>
          <p:nvPr/>
        </p:nvSpPr>
        <p:spPr>
          <a:xfrm>
            <a:off x="501977" y="1419670"/>
            <a:ext cx="6155997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some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18B164-756E-994A-ECAF-F38F39CFBEE0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465635-3207-1A12-3337-39F360724C53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82951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CAC041BC-1039-B603-D225-8F97C3AC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3ED49E-3F0D-D6A1-6E32-70356525321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>
            <a:noAutofit/>
          </a:bodyPr>
          <a:lstStyle/>
          <a:p>
            <a:r>
              <a:rPr lang="en-CA" sz="1800" dirty="0"/>
              <a:t>What data will we check? How frequently?</a:t>
            </a:r>
            <a:endParaRPr lang="en-US" dirty="0"/>
          </a:p>
        </p:txBody>
      </p:sp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2B2CCBA9-4834-AE0D-D923-66AB642CA20C}"/>
              </a:ext>
            </a:extLst>
          </p:cNvPr>
          <p:cNvSpPr txBox="1">
            <a:spLocks/>
          </p:cNvSpPr>
          <p:nvPr/>
        </p:nvSpPr>
        <p:spPr>
          <a:xfrm>
            <a:off x="415600" y="1605092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 dirty="0"/>
              <a:t>Monitoring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086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B4AB7BEA-BAA4-25A8-A473-EBBF1B51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2CFFB2D6-4E8A-8437-2B81-198599EB1C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Determine KPIs and data sources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4D12911-BA56-D5CC-E39A-A853D3D01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8F10C2F-01D8-736E-9CC8-FC96BF062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C1C723-8194-EDFA-1B1A-98430059AF01}"/>
              </a:ext>
            </a:extLst>
          </p:cNvPr>
          <p:cNvSpPr txBox="1"/>
          <p:nvPr/>
        </p:nvSpPr>
        <p:spPr>
          <a:xfrm>
            <a:off x="501977" y="1419670"/>
            <a:ext cx="5819995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600DB4"/>
                </a:solidFill>
                <a:latin typeface="Heebo"/>
                <a:cs typeface="Heebo"/>
              </a:rPr>
              <a:t xml:space="preserve">What does success look like, and how will you measure it? </a:t>
            </a:r>
            <a:endParaRPr lang="en-US" sz="20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 pitchFamily="2" charset="-79"/>
                <a:cs typeface="Heebo" pitchFamily="2" charset="-79"/>
              </a:rPr>
              <a:t>Small design changes often hard to measure impact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 pitchFamily="2" charset="-79"/>
                <a:cs typeface="Heebo" pitchFamily="2" charset="-79"/>
              </a:rPr>
              <a:t>Instead, look for stability, e.g.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 pitchFamily="2" charset="-79"/>
                <a:cs typeface="Heebo" pitchFamily="2" charset="-79"/>
              </a:rPr>
              <a:t xml:space="preserve">Decrease or stable CSC call volumes for this </a:t>
            </a:r>
            <a:r>
              <a:rPr lang="en-US" sz="2000" dirty="0" err="1">
                <a:latin typeface="Heebo" pitchFamily="2" charset="-79"/>
                <a:cs typeface="Heebo" pitchFamily="2" charset="-79"/>
              </a:rPr>
              <a:t>LoB</a:t>
            </a:r>
            <a:endParaRPr lang="en-US" sz="2000" dirty="0">
              <a:latin typeface="Heebo" pitchFamily="2" charset="-79"/>
              <a:cs typeface="Heebo" pitchFamily="2" charset="-79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 pitchFamily="2" charset="-79"/>
                <a:cs typeface="Heebo" pitchFamily="2" charset="-79"/>
              </a:rPr>
              <a:t>Decrease or stable PFT “no” clicks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 pitchFamily="2" charset="-79"/>
                <a:cs typeface="Heebo" pitchFamily="2" charset="-79"/>
              </a:rPr>
              <a:t>Increase or stable analytics for Apply Now button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 pitchFamily="2" charset="-79"/>
                <a:cs typeface="Heebo" pitchFamily="2" charset="-79"/>
              </a:rPr>
              <a:t xml:space="preserve">Identify </a:t>
            </a:r>
            <a:r>
              <a:rPr lang="en-US" sz="2000" b="1" dirty="0">
                <a:solidFill>
                  <a:srgbClr val="600DB4"/>
                </a:solidFill>
                <a:latin typeface="Heebo" pitchFamily="2" charset="-79"/>
                <a:cs typeface="Heebo" pitchFamily="2" charset="-79"/>
              </a:rPr>
              <a:t>2-3 data sources</a:t>
            </a:r>
            <a:r>
              <a:rPr lang="en-US" sz="2000" dirty="0">
                <a:solidFill>
                  <a:srgbClr val="600DB4"/>
                </a:solidFill>
                <a:latin typeface="Heebo" pitchFamily="2" charset="-79"/>
                <a:cs typeface="Heebo" pitchFamily="2" charset="-79"/>
              </a:rPr>
              <a:t xml:space="preserve"> </a:t>
            </a:r>
            <a:r>
              <a:rPr lang="en-US" sz="2000" dirty="0">
                <a:latin typeface="Heebo" pitchFamily="2" charset="-79"/>
                <a:cs typeface="Heebo" pitchFamily="2" charset="-79"/>
              </a:rPr>
              <a:t>that you’ll monitor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0D5A6C3-AA09-7707-53C2-7D80AF83F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110" y="1583793"/>
            <a:ext cx="4768627" cy="2693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BD3AA5-BE3E-7A41-F647-D4C3943F1420}"/>
              </a:ext>
            </a:extLst>
          </p:cNvPr>
          <p:cNvSpPr txBox="1"/>
          <p:nvPr/>
        </p:nvSpPr>
        <p:spPr>
          <a:xfrm>
            <a:off x="7019981" y="4479723"/>
            <a:ext cx="4160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Sometimes just checking the PFT or TSS will be all you need!</a:t>
            </a:r>
            <a:endParaRPr lang="en-CA" sz="1200" i="1" dirty="0"/>
          </a:p>
        </p:txBody>
      </p:sp>
    </p:spTree>
    <p:extLst>
      <p:ext uri="{BB962C8B-B14F-4D97-AF65-F5344CB8AC3E}">
        <p14:creationId xmlns:p14="http://schemas.microsoft.com/office/powerpoint/2010/main" val="1321381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DDFCCEB2-D5CD-5740-9575-0E12BD8C8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BDFB6101-EEEF-DEFD-607D-6CEDC782BC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CA" b="1" dirty="0"/>
              <a:t>Monitor: How you’ll measure performance once live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2484779-21AE-7999-816E-7A744D10D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15E459A-4FA7-E863-AD4E-402CF7A70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5BAD21-5B13-99C8-91C8-600E16BCEB19}"/>
              </a:ext>
            </a:extLst>
          </p:cNvPr>
          <p:cNvSpPr txBox="1"/>
          <p:nvPr/>
        </p:nvSpPr>
        <p:spPr>
          <a:xfrm>
            <a:off x="501977" y="1419670"/>
            <a:ext cx="5851821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Pick your KPIs – what does success look like?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 xml:space="preserve">Improved client satisfaction? Increased self-serve? </a:t>
            </a:r>
            <a:br>
              <a:rPr lang="en-US" dirty="0">
                <a:latin typeface="Heebo"/>
                <a:cs typeface="Heebo"/>
              </a:rPr>
            </a:br>
            <a:endParaRPr lang="en-US" dirty="0">
              <a:latin typeface="Heebo" pitchFamily="2" charset="-79"/>
              <a:cs typeface="Heebo" pitchFamily="2" charset="-79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Choose data sources – how will you measure success?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Can use existing data sources, and/or new ones (e.g. custom survey)</a:t>
            </a:r>
            <a:br>
              <a:rPr lang="en-US" dirty="0">
                <a:latin typeface="Heebo"/>
                <a:cs typeface="Heebo"/>
              </a:rPr>
            </a:br>
            <a:endParaRPr lang="en-US" dirty="0"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Interpret data – do you need to React?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Does data suggest an issue? E.g. broken links, unclear text, poor IA, findability issues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No issues? Keep monitoring until end of monitoring plan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 dirty="0">
              <a:solidFill>
                <a:srgbClr val="600DB4"/>
              </a:solidFill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541CFB-2B88-FB8D-6711-3730B7C6F900}"/>
              </a:ext>
            </a:extLst>
          </p:cNvPr>
          <p:cNvSpPr/>
          <p:nvPr/>
        </p:nvSpPr>
        <p:spPr>
          <a:xfrm>
            <a:off x="7105435" y="3708709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  <a:hlinkClick r:id="rId3"/>
              </a:rPr>
              <a:t>Rapid Research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 descr="A close-up of a search bar  AI-generated content may be incorrect.">
            <a:extLst>
              <a:ext uri="{FF2B5EF4-FFF2-40B4-BE49-F238E27FC236}">
                <a16:creationId xmlns:a16="http://schemas.microsoft.com/office/drawing/2014/main" id="{2DF45F25-97C6-B4F6-E2AE-463AA4010D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088" y="2038360"/>
            <a:ext cx="4657004" cy="12843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6229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9E576D93-A7A8-E4E3-380D-E490EBFD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F3B58822-FE19-9CA7-0836-534D3E5571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Launch &amp; monitor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14465DC-66E1-E3C9-4676-0B53F7036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8383591-AE3F-DCA7-4769-4904AFFE2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AB76E2-F90C-B5A0-3DDA-6D204ED777E3}"/>
              </a:ext>
            </a:extLst>
          </p:cNvPr>
          <p:cNvSpPr txBox="1"/>
          <p:nvPr/>
        </p:nvSpPr>
        <p:spPr>
          <a:xfrm>
            <a:off x="501977" y="1419670"/>
            <a:ext cx="6040713" cy="31700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sz="20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/>
                <a:cs typeface="Heebo"/>
              </a:rPr>
              <a:t>Set yourself calendar reminders to monitor in intervals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ebo"/>
                <a:cs typeface="Heebo"/>
              </a:rPr>
              <a:t xml:space="preserve">Recommended: </a:t>
            </a:r>
            <a:r>
              <a:rPr lang="en-US" sz="2000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/>
                <a:cs typeface="Heebo"/>
              </a:rPr>
              <a:t>Each interval, look at data sources you selected and look for evidence of issues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/>
                <a:cs typeface="Heebo"/>
              </a:rPr>
              <a:t>After the last interval, you’re done!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238B41A-8B8F-B99D-99E8-F70EE3BA02ED}"/>
              </a:ext>
            </a:extLst>
          </p:cNvPr>
          <p:cNvSpPr/>
          <p:nvPr/>
        </p:nvSpPr>
        <p:spPr>
          <a:xfrm>
            <a:off x="1440820" y="4862513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AEEC0FC-15BC-C692-0144-7CC98CB31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341" y="1419670"/>
            <a:ext cx="4369875" cy="37246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EAA3A4-A663-3525-0E8A-0377F8D65F17}"/>
              </a:ext>
            </a:extLst>
          </p:cNvPr>
          <p:cNvSpPr txBox="1"/>
          <p:nvPr/>
        </p:nvSpPr>
        <p:spPr>
          <a:xfrm>
            <a:off x="7271836" y="5438330"/>
            <a:ext cx="4225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Analytics can help indicate if the new design is working or not</a:t>
            </a:r>
            <a:endParaRPr lang="en-CA" sz="1200" i="1" dirty="0"/>
          </a:p>
        </p:txBody>
      </p:sp>
    </p:spTree>
    <p:extLst>
      <p:ext uri="{BB962C8B-B14F-4D97-AF65-F5344CB8AC3E}">
        <p14:creationId xmlns:p14="http://schemas.microsoft.com/office/powerpoint/2010/main" val="3084752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30DC4AFD-AA8A-5D95-A681-3D1301F5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44173A-C8E7-E0DA-9E9D-C92F7CC6C8C4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>
            <a:noAutofit/>
          </a:bodyPr>
          <a:lstStyle/>
          <a:p>
            <a:r>
              <a:rPr lang="en-CA" sz="1800" dirty="0"/>
              <a:t>Monitoring data suggests a problem – what do we do?</a:t>
            </a:r>
            <a:endParaRPr lang="en-US" dirty="0"/>
          </a:p>
        </p:txBody>
      </p:sp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647270B1-BFFC-C7C0-2051-D2FE1DBB4AF9}"/>
              </a:ext>
            </a:extLst>
          </p:cNvPr>
          <p:cNvSpPr txBox="1">
            <a:spLocks/>
          </p:cNvSpPr>
          <p:nvPr/>
        </p:nvSpPr>
        <p:spPr>
          <a:xfrm>
            <a:off x="415600" y="1605092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 dirty="0"/>
              <a:t>React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259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98E4FE7A-F39D-5274-743D-B941245C5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CCE77208-2C87-E931-8840-E7E0315CFF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CA" b="1" dirty="0"/>
              <a:t>React: What you’ll do based on the monitor data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3C9D96F-CC55-E55E-FAD0-6C5EA22B4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BC48999-73CD-5013-72FC-8BF09964F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3E11EF-3FD8-6722-329A-1A55C79B8595}"/>
              </a:ext>
            </a:extLst>
          </p:cNvPr>
          <p:cNvSpPr txBox="1"/>
          <p:nvPr/>
        </p:nvSpPr>
        <p:spPr>
          <a:xfrm>
            <a:off x="501977" y="1419670"/>
            <a:ext cx="6492756" cy="42165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For small/medium designs: ad hoc data-based reaction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KPIs improving/stable? Do nothing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Things getting worse? Tweak or rollback changes</a:t>
            </a:r>
            <a:br>
              <a:rPr lang="en-US" dirty="0">
                <a:latin typeface="Heebo"/>
                <a:cs typeface="Heebo"/>
              </a:rPr>
            </a:br>
            <a:endParaRPr lang="en-US" dirty="0"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Large designs: Explicit reaction plans for different outcomes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What will you do if the design: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 xml:space="preserve">Has usability issues? Negative client feedback? Problems with AI search tools?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If no issues, at what point do you transition to next phase of launch?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8737FD0-291B-D140-E9C0-E5B776A6C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341" y="1282047"/>
            <a:ext cx="4171950" cy="3695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870527-A0F3-0482-0153-DE1B361841C5}"/>
              </a:ext>
            </a:extLst>
          </p:cNvPr>
          <p:cNvSpPr txBox="1"/>
          <p:nvPr/>
        </p:nvSpPr>
        <p:spPr>
          <a:xfrm>
            <a:off x="7381340" y="5130094"/>
            <a:ext cx="41719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 xml:space="preserve">From: </a:t>
            </a:r>
            <a:r>
              <a:rPr lang="en-CA" sz="1200" i="1" dirty="0">
                <a:hlinkClick r:id="rId4"/>
              </a:rPr>
              <a:t>Program Finder Phase 2 summary report</a:t>
            </a:r>
            <a:endParaRPr lang="en-CA" sz="1200" i="1" dirty="0"/>
          </a:p>
          <a:p>
            <a:pPr algn="ctr"/>
            <a:endParaRPr lang="en-CA" sz="1200" i="1" dirty="0"/>
          </a:p>
          <a:p>
            <a:pPr algn="ctr"/>
            <a:r>
              <a:rPr lang="en-CA" sz="1200" dirty="0"/>
              <a:t xml:space="preserve">Monitoring revealed that our results page was too long – we </a:t>
            </a:r>
            <a:r>
              <a:rPr lang="en-CA" sz="1200" b="1" dirty="0"/>
              <a:t xml:space="preserve">reacted </a:t>
            </a:r>
            <a:r>
              <a:rPr lang="en-CA" sz="1200" dirty="0"/>
              <a:t>by merging individual program streams into 1 result instead of separate results for each stream</a:t>
            </a:r>
          </a:p>
        </p:txBody>
      </p:sp>
    </p:spTree>
    <p:extLst>
      <p:ext uri="{BB962C8B-B14F-4D97-AF65-F5344CB8AC3E}">
        <p14:creationId xmlns:p14="http://schemas.microsoft.com/office/powerpoint/2010/main" val="3030610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C3FB6DD5-B1BF-6D51-FD8D-B685D91F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875E8E80-DE56-C569-D164-18BFAC3864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React: Detecting an issue &amp; assessing risk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3D0936C-2F52-CFE5-71CC-7A12AA52D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BF0C393-81C1-9023-9436-C934E4F49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3685B1-7019-FF08-F94B-10652BFF55DE}"/>
              </a:ext>
            </a:extLst>
          </p:cNvPr>
          <p:cNvSpPr txBox="1"/>
          <p:nvPr/>
        </p:nvSpPr>
        <p:spPr>
          <a:xfrm>
            <a:off x="501977" y="1419670"/>
            <a:ext cx="6155997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>
                <a:solidFill>
                  <a:srgbClr val="600DB4"/>
                </a:solidFill>
                <a:latin typeface="Heebo"/>
                <a:cs typeface="Heebo"/>
              </a:rPr>
              <a:t>Step 1: Notice something is off</a:t>
            </a:r>
            <a:endParaRPr lang="en-US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KPI trending in wrong direction (e.g. PFT “no” clicks rising)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Spike in negative user comments or CSC call volume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Unexpected drop in page traffic or task completion</a:t>
            </a:r>
          </a:p>
          <a:p>
            <a:pPr>
              <a:spcBef>
                <a:spcPts val="500"/>
              </a:spcBef>
              <a:spcAft>
                <a:spcPts val="600"/>
              </a:spcAft>
            </a:pPr>
            <a:r>
              <a:rPr lang="en-US" b="1">
                <a:solidFill>
                  <a:srgbClr val="600DB4"/>
                </a:solidFill>
                <a:latin typeface="Heebo"/>
                <a:cs typeface="Heebo"/>
              </a:rPr>
              <a:t>Step 2: Assess the severity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Is it a blip, or a sustained trend? Look at 2+ data sources before acting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High risk design? Escalate quickly. Low risk? Monitor for one more interval first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732FFD-EF96-D452-F7F9-6B7F4AA59DB9}"/>
              </a:ext>
            </a:extLst>
          </p:cNvPr>
          <p:cNvSpPr/>
          <p:nvPr/>
        </p:nvSpPr>
        <p:spPr>
          <a:xfrm>
            <a:off x="1440820" y="5172881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D55D39-BD74-6CAB-6F2D-BEDEEBF6C7C2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600" dirty="0">
                <a:latin typeface="Heebo"/>
                <a:cs typeface="Heebo"/>
              </a:rPr>
              <a:t>📊 Tip: Cross-check</a:t>
            </a:r>
            <a:endParaRPr lang="en-CA" dirty="0"/>
          </a:p>
          <a:p>
            <a:pPr algn="ctr"/>
            <a:r>
              <a:rPr lang="en-US" sz="1400" dirty="0">
                <a:latin typeface="Heebo"/>
                <a:cs typeface="Heebo"/>
              </a:rPr>
              <a:t>Don’t react to a single data point. Confirm the issue in at least two sources before making changes.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93473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2BA9932-4CCD-1F38-E287-14D9D6CEB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6E7697CB-5579-34B0-679C-B80A31B880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React: Tweak or rollback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58EA213-5D6F-32F6-F86E-E467450A5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EDF8CE1-E64F-66FA-55C1-3B3212A8E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1608BE-A089-7E68-DEF3-02079C666045}"/>
              </a:ext>
            </a:extLst>
          </p:cNvPr>
          <p:cNvSpPr txBox="1"/>
          <p:nvPr/>
        </p:nvSpPr>
        <p:spPr>
          <a:xfrm>
            <a:off x="501977" y="1419670"/>
            <a:ext cx="6155997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err="1">
                <a:solidFill>
                  <a:srgbClr val="600DB4"/>
                </a:solidFill>
                <a:latin typeface="Heebo"/>
                <a:cs typeface="Heebo"/>
              </a:rPr>
              <a:t>Tweak: Make targeted fixes</a:t>
            </a:r>
            <a:endParaRPr lang="en-US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Fix broken links, adjust confusing headings, clarify CTAs</a:t>
            </a:r>
            <a:endParaRPr lang="en-US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 pitchFamily="2" charset="-79"/>
                <a:cs typeface="Heebo" pitchFamily="2" charset="-79"/>
              </a:rPr>
              <a:t>After tweaking, reset your monitoring clock and observe again</a:t>
            </a:r>
            <a:endParaRPr lang="en-US">
              <a:latin typeface="Heebo" pitchFamily="2" charset="-79"/>
              <a:cs typeface="Heebo" pitchFamily="2" charset="-79"/>
            </a:endParaRPr>
          </a:p>
          <a:p>
            <a:pPr>
              <a:spcBef>
                <a:spcPts val="500"/>
              </a:spcBef>
              <a:spcAft>
                <a:spcPts val="600"/>
              </a:spcAft>
            </a:pPr>
            <a:r>
              <a:rPr lang="en-US" b="1">
                <a:solidFill>
                  <a:srgbClr val="600DB4"/>
                </a:solidFill>
                <a:latin typeface="Heebo"/>
                <a:cs typeface="Heebo"/>
              </a:rPr>
              <a:t>Rollback: Undo the change entirely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Used when the issue is severe and a quick fix isn’t possible</a:t>
            </a:r>
            <a:endParaRPr lang="en-US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For large designs: your pre-planned if/then reactions guide this decision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A22A59-7781-2177-EC7E-3FFC744C2B54}"/>
              </a:ext>
            </a:extLst>
          </p:cNvPr>
          <p:cNvSpPr/>
          <p:nvPr/>
        </p:nvSpPr>
        <p:spPr>
          <a:xfrm>
            <a:off x="1440820" y="5172881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999B91-B2B9-97AD-9AA0-75006876E273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600" dirty="0">
                <a:latin typeface="Heebo"/>
                <a:cs typeface="Heebo"/>
              </a:rPr>
              <a:t>⚠ When to rollback</a:t>
            </a:r>
            <a:endParaRPr lang="en-CA" dirty="0"/>
          </a:p>
          <a:p>
            <a:pPr algn="ctr"/>
            <a:r>
              <a:rPr lang="en-US" sz="1400" dirty="0">
                <a:latin typeface="Heebo"/>
                <a:cs typeface="Heebo"/>
              </a:rPr>
              <a:t>If a tweak won’t solve the root problem, a full rollback protects users while you rethink the design.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93562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77C8417-5CC6-F5FF-ABA4-62FFD768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5405079D-4C03-81C7-8BCB-4BEBFA0DB0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Tweak if needed &amp; verbal report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1C5AF5D-FEFF-BCAE-7CDD-86B5CFCBE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4DECE8C-0E1C-3009-9A53-2F82717A9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6E71FC-669C-41B4-7660-2E4DB1BD4E2C}"/>
              </a:ext>
            </a:extLst>
          </p:cNvPr>
          <p:cNvSpPr txBox="1"/>
          <p:nvPr/>
        </p:nvSpPr>
        <p:spPr>
          <a:xfrm>
            <a:off x="501977" y="1419670"/>
            <a:ext cx="6466382" cy="52322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600DB4"/>
                </a:solidFill>
                <a:latin typeface="Heebo"/>
                <a:cs typeface="Heebo"/>
              </a:rPr>
              <a:t>Data suggests an issue? Tweak your design, e.g.:</a:t>
            </a:r>
            <a:endParaRPr lang="en-US" sz="24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ebo"/>
                <a:cs typeface="Heebo"/>
              </a:rPr>
              <a:t>Fix a link; reduce reading level; frontload headings; etc.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ebo"/>
                <a:cs typeface="Heebo"/>
              </a:rPr>
              <a:t>No issues? Leave it be and keep monitoring</a:t>
            </a:r>
            <a:endParaRPr lang="en-US" sz="2400" dirty="0">
              <a:latin typeface="Heebo" pitchFamily="2" charset="-79"/>
              <a:cs typeface="Heebo" pitchFamily="2" charset="-79"/>
            </a:endParaRP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600DB4"/>
                </a:solidFill>
                <a:latin typeface="Heebo"/>
                <a:cs typeface="Heebo"/>
              </a:rPr>
              <a:t>Report whatever happens verbally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ebo"/>
                <a:cs typeface="Heebo"/>
              </a:rPr>
              <a:t>“Hey Sheila, we had feedback in the PFT that there was a broken link, so I fixed it”</a:t>
            </a:r>
            <a:br>
              <a:rPr lang="en-US" sz="2400" dirty="0">
                <a:latin typeface="Heebo"/>
                <a:cs typeface="Heebo"/>
              </a:rPr>
            </a:br>
            <a:endParaRPr lang="en-US" sz="2400" dirty="0"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600DB4"/>
                </a:solidFill>
                <a:latin typeface="Heebo"/>
                <a:cs typeface="Heebo"/>
              </a:rPr>
              <a:t xml:space="preserve">After last monitoring interval, you’re done!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>
              <a:latin typeface="Heebo"/>
              <a:cs typeface="Heebo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C5F8F30-C47F-0C41-BD92-DD264640F2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96"/>
          <a:stretch/>
        </p:blipFill>
        <p:spPr bwMode="auto">
          <a:xfrm>
            <a:off x="7270423" y="1522399"/>
            <a:ext cx="4419600" cy="76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7E2386A-28FF-7917-7082-53F9182D1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8" t="24398" r="12960" b="66314"/>
          <a:stretch/>
        </p:blipFill>
        <p:spPr bwMode="auto">
          <a:xfrm>
            <a:off x="7270423" y="2979683"/>
            <a:ext cx="4346649" cy="7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199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04516B2C-1413-AAE4-ACC1-BBC9319AE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2ED6E7A4-E629-16CF-A766-E21E6B8A80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/>
              <a:t>After tweaks, reset the monitoring clock</a:t>
            </a:r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78E834A-0334-A467-A9C0-115627070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D9D1CEF-5058-2B4D-B580-CFD91A0EF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AF10E-FB1A-2026-0D93-B014E50A1616}"/>
              </a:ext>
            </a:extLst>
          </p:cNvPr>
          <p:cNvSpPr txBox="1"/>
          <p:nvPr/>
        </p:nvSpPr>
        <p:spPr>
          <a:xfrm>
            <a:off x="501977" y="1419670"/>
            <a:ext cx="6155997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err="1">
                <a:solidFill>
                  <a:srgbClr val="600DB4"/>
                </a:solidFill>
                <a:latin typeface="Heebo"/>
                <a:cs typeface="Heebo"/>
              </a:rPr>
              <a:t>Why resetting the clock matters</a:t>
            </a:r>
            <a:endParaRPr lang="en-US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Your tweak is itself a change to the design — it needs its own monitoring period</a:t>
            </a:r>
            <a:endParaRPr lang="en-US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 pitchFamily="2" charset="-79"/>
                <a:cs typeface="Heebo" pitchFamily="2" charset="-79"/>
              </a:rPr>
              <a:t>Restart your monitoring intervals from day 1 after any significant change</a:t>
            </a:r>
            <a:endParaRPr lang="en-US">
              <a:latin typeface="Heebo" pitchFamily="2" charset="-79"/>
              <a:cs typeface="Heebo" pitchFamily="2" charset="-79"/>
            </a:endParaRPr>
          </a:p>
          <a:p>
            <a:pPr>
              <a:spcBef>
                <a:spcPts val="500"/>
              </a:spcBef>
              <a:spcAft>
                <a:spcPts val="600"/>
              </a:spcAft>
            </a:pPr>
            <a:r>
              <a:rPr lang="en-US" b="1">
                <a:solidFill>
                  <a:srgbClr val="600DB4"/>
                </a:solidFill>
                <a:latin typeface="Heebo"/>
                <a:cs typeface="Heebo"/>
              </a:rPr>
              <a:t>When are you done monitoring?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Once all monitoring intervals pass with no issues detected</a:t>
            </a:r>
            <a:endParaRPr lang="en-US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For large designs: once all rollout phases are complete and stable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642507-1395-7A1E-92FA-2DCE5C080AB9}"/>
              </a:ext>
            </a:extLst>
          </p:cNvPr>
          <p:cNvSpPr/>
          <p:nvPr/>
        </p:nvSpPr>
        <p:spPr>
          <a:xfrm>
            <a:off x="1440820" y="5172881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3BD8195-ED68-9FCE-D415-46B0D2F90D9F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600" dirty="0">
                <a:latin typeface="Heebo"/>
                <a:cs typeface="Heebo"/>
              </a:rPr>
              <a:t>🔁 Reset = Restart</a:t>
            </a:r>
            <a:endParaRPr lang="en-CA" dirty="0"/>
          </a:p>
          <a:p>
            <a:pPr algn="ctr"/>
            <a:r>
              <a:rPr lang="en-US" sz="1400" dirty="0">
                <a:latin typeface="Heebo"/>
                <a:cs typeface="Heebo"/>
              </a:rPr>
              <a:t>Every change restarts the clock. Keep monitoring until you’ve completed a full interval cycle with no new issues.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65607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EC273B11-C4A1-83B0-124B-00F8C721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2917EC-5D99-C81A-A0EC-5A2F7FF7BFEF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>
            <a:noAutofit/>
          </a:bodyPr>
          <a:lstStyle/>
          <a:p>
            <a:r>
              <a:rPr lang="en-CA" sz="1800" dirty="0"/>
              <a:t>Who are we keeping in the loop, and how?</a:t>
            </a:r>
            <a:endParaRPr lang="en-US" dirty="0"/>
          </a:p>
        </p:txBody>
      </p:sp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35E8B21B-9624-4382-E66B-58A0496825B8}"/>
              </a:ext>
            </a:extLst>
          </p:cNvPr>
          <p:cNvSpPr txBox="1">
            <a:spLocks/>
          </p:cNvSpPr>
          <p:nvPr/>
        </p:nvSpPr>
        <p:spPr>
          <a:xfrm>
            <a:off x="415600" y="1605092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 dirty="0"/>
              <a:t>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15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D343775-CC59-DBC6-D68F-C29FE1991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1FA5A511-43AD-6060-87ED-04F24B91EF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CA" b="1" dirty="0"/>
              <a:t>Report: Who you’ll tell about the monitoring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93612DC-03AF-30C8-CDBE-B14B475B5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F2324BC-B0F0-331F-DD37-6EDDF3919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155FC2-F38D-9FDB-A622-F3EDAB9558EA}"/>
              </a:ext>
            </a:extLst>
          </p:cNvPr>
          <p:cNvSpPr txBox="1"/>
          <p:nvPr/>
        </p:nvSpPr>
        <p:spPr>
          <a:xfrm>
            <a:off x="501978" y="1419670"/>
            <a:ext cx="5363246" cy="35086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Small/medium designs don’t need much reporting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 xml:space="preserve">Small: verbal reporting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Medium: email reporting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Large designs benefit from regular reporting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Biweekly reporting of monitoring data and any reactions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End-of-phase report to summarize findings and next steps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pic>
        <p:nvPicPr>
          <p:cNvPr id="4" name="Picture 3" descr="A screenshot of a graph  AI-generated content may be incorrect.">
            <a:extLst>
              <a:ext uri="{FF2B5EF4-FFF2-40B4-BE49-F238E27FC236}">
                <a16:creationId xmlns:a16="http://schemas.microsoft.com/office/drawing/2014/main" id="{DBBEFE05-2F58-4983-841D-E1B8D928D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760" y="1454167"/>
            <a:ext cx="5090017" cy="23216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6CAD3D-F413-3852-A29B-EDE9CB4EFAB0}"/>
              </a:ext>
            </a:extLst>
          </p:cNvPr>
          <p:cNvSpPr txBox="1"/>
          <p:nvPr/>
        </p:nvSpPr>
        <p:spPr>
          <a:xfrm>
            <a:off x="6876242" y="3912660"/>
            <a:ext cx="41719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 xml:space="preserve">From: </a:t>
            </a:r>
            <a:r>
              <a:rPr lang="en-CA" sz="1200" i="1" dirty="0">
                <a:hlinkClick r:id="rId4"/>
              </a:rPr>
              <a:t>Program Finder Phase 1 summary report</a:t>
            </a:r>
            <a:endParaRPr lang="en-CA" sz="1200" i="1" dirty="0"/>
          </a:p>
          <a:p>
            <a:pPr algn="ctr"/>
            <a:endParaRPr lang="en-CA" sz="1200" i="1" dirty="0"/>
          </a:p>
          <a:p>
            <a:pPr algn="ctr"/>
            <a:r>
              <a:rPr lang="en-CA" sz="1200" dirty="0"/>
              <a:t xml:space="preserve">Monitoring revealed that our results page was too long – we </a:t>
            </a:r>
            <a:r>
              <a:rPr lang="en-CA" sz="1200" b="1" dirty="0"/>
              <a:t xml:space="preserve">reacted </a:t>
            </a:r>
            <a:r>
              <a:rPr lang="en-CA" sz="1200" dirty="0"/>
              <a:t>by merging individual program streams into 1 result instead of separate results for each stream</a:t>
            </a:r>
          </a:p>
        </p:txBody>
      </p:sp>
    </p:spTree>
    <p:extLst>
      <p:ext uri="{BB962C8B-B14F-4D97-AF65-F5344CB8AC3E}">
        <p14:creationId xmlns:p14="http://schemas.microsoft.com/office/powerpoint/2010/main" val="3872172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4AD64932-1F60-764D-818B-482BCBEB1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83852CDF-8532-FDD0-AE2C-6E332BE520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Different needs for different designs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C38A6E4-4D77-F047-F042-A9B8B9183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0D6DEFC-8A46-AB00-6FFE-757011B9A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8570AF-7AD7-FB82-1415-5F29283E8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312091"/>
              </p:ext>
            </p:extLst>
          </p:nvPr>
        </p:nvGraphicFramePr>
        <p:xfrm>
          <a:off x="489518" y="793061"/>
          <a:ext cx="11360798" cy="5837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570">
                  <a:extLst>
                    <a:ext uri="{9D8B030D-6E8A-4147-A177-3AD203B41FA5}">
                      <a16:colId xmlns:a16="http://schemas.microsoft.com/office/drawing/2014/main" val="768044647"/>
                    </a:ext>
                  </a:extLst>
                </a:gridCol>
                <a:gridCol w="2785731">
                  <a:extLst>
                    <a:ext uri="{9D8B030D-6E8A-4147-A177-3AD203B41FA5}">
                      <a16:colId xmlns:a16="http://schemas.microsoft.com/office/drawing/2014/main" val="3759277013"/>
                    </a:ext>
                  </a:extLst>
                </a:gridCol>
                <a:gridCol w="2860158">
                  <a:extLst>
                    <a:ext uri="{9D8B030D-6E8A-4147-A177-3AD203B41FA5}">
                      <a16:colId xmlns:a16="http://schemas.microsoft.com/office/drawing/2014/main" val="2336521039"/>
                    </a:ext>
                  </a:extLst>
                </a:gridCol>
                <a:gridCol w="4673339">
                  <a:extLst>
                    <a:ext uri="{9D8B030D-6E8A-4147-A177-3AD203B41FA5}">
                      <a16:colId xmlns:a16="http://schemas.microsoft.com/office/drawing/2014/main" val="1591706331"/>
                    </a:ext>
                  </a:extLst>
                </a:gridCol>
              </a:tblGrid>
              <a:tr h="74652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solidFill>
                      <a:srgbClr val="600D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 xml:space="preserve">Small designs (minor </a:t>
                      </a:r>
                      <a:r>
                        <a:rPr lang="fr-CA" dirty="0" err="1"/>
                        <a:t>edits</a:t>
                      </a:r>
                      <a:r>
                        <a:rPr lang="fr-CA" dirty="0"/>
                        <a:t xml:space="preserve">, </a:t>
                      </a:r>
                      <a:r>
                        <a:rPr lang="fr-CA" dirty="0" err="1"/>
                        <a:t>tweaks</a:t>
                      </a:r>
                      <a:r>
                        <a:rPr lang="fr-CA" dirty="0"/>
                        <a:t>, additions)</a:t>
                      </a:r>
                      <a:endParaRPr lang="en-CA" dirty="0"/>
                    </a:p>
                  </a:txBody>
                  <a:tcPr>
                    <a:solidFill>
                      <a:srgbClr val="600D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 xml:space="preserve">Medium designs (plain </a:t>
                      </a:r>
                      <a:r>
                        <a:rPr lang="fr-CA" dirty="0" err="1"/>
                        <a:t>lang</a:t>
                      </a:r>
                      <a:r>
                        <a:rPr lang="fr-CA" dirty="0"/>
                        <a:t xml:space="preserve"> rewrites, lift + shift to </a:t>
                      </a:r>
                      <a:r>
                        <a:rPr lang="fr-CA" dirty="0" err="1"/>
                        <a:t>subway</a:t>
                      </a:r>
                      <a:r>
                        <a:rPr lang="fr-CA" dirty="0"/>
                        <a:t>, etc.)</a:t>
                      </a:r>
                      <a:endParaRPr lang="en-CA" dirty="0"/>
                    </a:p>
                  </a:txBody>
                  <a:tcPr>
                    <a:solidFill>
                      <a:srgbClr val="600D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 xml:space="preserve">Large changes, big new content or </a:t>
                      </a:r>
                      <a:r>
                        <a:rPr lang="fr-CA" dirty="0" err="1"/>
                        <a:t>tool</a:t>
                      </a:r>
                      <a:endParaRPr lang="en-CA" dirty="0"/>
                    </a:p>
                  </a:txBody>
                  <a:tcPr>
                    <a:solidFill>
                      <a:srgbClr val="600D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6495"/>
                  </a:ext>
                </a:extLst>
              </a:tr>
              <a:tr h="746520">
                <a:tc>
                  <a:txBody>
                    <a:bodyPr/>
                    <a:lstStyle/>
                    <a:p>
                      <a:r>
                        <a:rPr lang="fr-CA" b="1" dirty="0" err="1">
                          <a:solidFill>
                            <a:srgbClr val="600DB4"/>
                          </a:solidFill>
                        </a:rPr>
                        <a:t>Rollout</a:t>
                      </a:r>
                      <a:endParaRPr lang="en-CA" b="1" dirty="0">
                        <a:solidFill>
                          <a:srgbClr val="600DB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N</a:t>
                      </a:r>
                      <a:r>
                        <a:rPr lang="en-US" dirty="0"/>
                        <a:t>/A – Go live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 – Go live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 xml:space="preserve">Phased launch, gradual increase in visibility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98761"/>
                  </a:ext>
                </a:extLst>
              </a:tr>
              <a:tr h="1854436">
                <a:tc>
                  <a:txBody>
                    <a:bodyPr/>
                    <a:lstStyle/>
                    <a:p>
                      <a:r>
                        <a:rPr lang="fr-CA" b="1" dirty="0">
                          <a:solidFill>
                            <a:srgbClr val="600DB4"/>
                          </a:solidFill>
                        </a:rPr>
                        <a:t>Monitor</a:t>
                      </a:r>
                      <a:endParaRPr lang="en-CA" b="1" dirty="0">
                        <a:solidFill>
                          <a:srgbClr val="600DB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 hoc monitoring in the days/weeks post launch. 2-3 data sources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Frequency: 1 day post launch, 3, 7, 14.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Regular monitoring for days and weeks post launch. 3-4 data sources &amp; explicit monitoring plan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Frequency: 1 day post launch; 3, 5, 7, 14, 28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dk1"/>
                          </a:solidFill>
                        </a:rPr>
                        <a:t xml:space="preserve">Regular monitoring for days and weeks post launch. As many data sources as possible &amp; explicit monitoring plan. Data used as gate for moving to next phase of rollout. </a:t>
                      </a:r>
                    </a:p>
                    <a:p>
                      <a:endParaRPr lang="en-CA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CA" dirty="0">
                          <a:solidFill>
                            <a:schemeClr val="dk1"/>
                          </a:solidFill>
                        </a:rPr>
                        <a:t xml:space="preserve">Frequency: Daily for first week post-launch, then weekly until end of rollout plan.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949904"/>
                  </a:ext>
                </a:extLst>
              </a:tr>
              <a:tr h="976019">
                <a:tc>
                  <a:txBody>
                    <a:bodyPr/>
                    <a:lstStyle/>
                    <a:p>
                      <a:r>
                        <a:rPr lang="fr-CA" b="1" dirty="0" err="1">
                          <a:solidFill>
                            <a:srgbClr val="600DB4"/>
                          </a:solidFill>
                        </a:rPr>
                        <a:t>React</a:t>
                      </a:r>
                      <a:endParaRPr lang="en-CA" b="1" dirty="0">
                        <a:solidFill>
                          <a:srgbClr val="600DB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 hoc based on monitoring data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 hoc based on monitoring data and based on what the new design changed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Explicit If/Then plans to address wide range of possible issues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916187"/>
                  </a:ext>
                </a:extLst>
              </a:tr>
              <a:tr h="976019">
                <a:tc>
                  <a:txBody>
                    <a:bodyPr/>
                    <a:lstStyle/>
                    <a:p>
                      <a:r>
                        <a:rPr lang="fr-CA" b="1" dirty="0">
                          <a:solidFill>
                            <a:srgbClr val="600DB4"/>
                          </a:solidFill>
                        </a:rPr>
                        <a:t>Report</a:t>
                      </a:r>
                      <a:endParaRPr lang="en-CA" b="1" dirty="0">
                        <a:solidFill>
                          <a:srgbClr val="600DB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formal reports; verbal reporting enough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 reports post-launch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Weekly/Biweekly reports, summary reports after each phase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449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3981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7C17CE7-D85D-739A-8C2B-486EC7564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35FDBD4D-4931-4087-35DA-F2353955ED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Determine KPIs and data sources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047BEEB-7EB8-EA3A-5391-402503221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9153360-F299-E6CF-DAB0-2CF528338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6A7C85-B7F8-B19D-3AE2-26C6C4E895F7}"/>
              </a:ext>
            </a:extLst>
          </p:cNvPr>
          <p:cNvSpPr txBox="1"/>
          <p:nvPr/>
        </p:nvSpPr>
        <p:spPr>
          <a:xfrm>
            <a:off x="501977" y="1419670"/>
            <a:ext cx="6198861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 xml:space="preserve">What does success look like, and how will you measure it? 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 xml:space="preserve">Larger changes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Instead, look for stability, e.g.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 xml:space="preserve">Decrease or stable CSC call volumes for this </a:t>
            </a:r>
            <a:r>
              <a:rPr lang="en-US" dirty="0" err="1">
                <a:latin typeface="Heebo" pitchFamily="2" charset="-79"/>
                <a:cs typeface="Heebo" pitchFamily="2" charset="-79"/>
              </a:rPr>
              <a:t>LoB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Decrease or stable PFT “no” clicks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Increase or stable analytics for Apply Now button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CCCAD3-DD06-06C7-54DE-096642D28DD4}"/>
              </a:ext>
            </a:extLst>
          </p:cNvPr>
          <p:cNvSpPr/>
          <p:nvPr/>
        </p:nvSpPr>
        <p:spPr>
          <a:xfrm>
            <a:off x="1440820" y="5300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E2FAEA8-1F16-2EBE-C0D8-E4BEB7A4972E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400" dirty="0">
                <a:latin typeface="Heebo"/>
              </a:rPr>
              <a:t>🎯 Tip</a:t>
            </a:r>
            <a:endParaRPr lang="en-CA" dirty="0"/>
          </a:p>
          <a:p>
            <a:pPr algn="ctr"/>
            <a:r>
              <a:rPr lang="en-US" sz="1200" dirty="0">
                <a:latin typeface="Heebo"/>
              </a:rPr>
              <a:t>KPI examples for larger designs:</a:t>
            </a:r>
          </a:p>
          <a:p>
            <a:pPr algn="ctr"/>
            <a:r>
              <a:rPr lang="en-US" sz="1200" dirty="0">
                <a:latin typeface="Heebo"/>
              </a:rPr>
              <a:t>Task completion rate (TSS)</a:t>
            </a:r>
          </a:p>
          <a:p>
            <a:pPr algn="ctr"/>
            <a:r>
              <a:rPr lang="en-US" sz="1200" dirty="0">
                <a:latin typeface="Heebo"/>
              </a:rPr>
              <a:t>Apply Now / CTA click rate</a:t>
            </a:r>
          </a:p>
          <a:p>
            <a:pPr algn="ctr"/>
            <a:r>
              <a:rPr lang="en-US" sz="1200" dirty="0">
                <a:latin typeface="Heebo"/>
              </a:rPr>
              <a:t>CSC call volume for the LoB</a:t>
            </a:r>
          </a:p>
        </p:txBody>
      </p:sp>
    </p:spTree>
    <p:extLst>
      <p:ext uri="{BB962C8B-B14F-4D97-AF65-F5344CB8AC3E}">
        <p14:creationId xmlns:p14="http://schemas.microsoft.com/office/powerpoint/2010/main" val="491113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5474F639-995F-06DE-F05F-6DAB74109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B6254F57-8A64-E6CB-F07E-09A69D6789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Tailored data sources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F18ADBC-E70B-4117-C6D1-6C6493FBA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05B354C-40E8-3A29-B062-C06E4A29F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D0D5BB-AED3-E68D-EFB0-283A13A6F7A9}"/>
              </a:ext>
            </a:extLst>
          </p:cNvPr>
          <p:cNvSpPr txBox="1"/>
          <p:nvPr/>
        </p:nvSpPr>
        <p:spPr>
          <a:xfrm>
            <a:off x="501977" y="1419670"/>
            <a:ext cx="6198861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 xml:space="preserve">What does success look like, and how will you measure it? 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Small design changes often hard to measure impact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Instead, look for stability, e.g.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 xml:space="preserve">Decrease or stable CSC call volumes for this </a:t>
            </a:r>
            <a:r>
              <a:rPr lang="en-US" dirty="0" err="1">
                <a:latin typeface="Heebo" pitchFamily="2" charset="-79"/>
                <a:cs typeface="Heebo" pitchFamily="2" charset="-79"/>
              </a:rPr>
              <a:t>LoB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Decrease or stable PFT “no” clicks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Increase or stable analytics for Apply Now button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477F772-814E-0481-A6E2-9FA23D084F53}"/>
              </a:ext>
            </a:extLst>
          </p:cNvPr>
          <p:cNvSpPr/>
          <p:nvPr/>
        </p:nvSpPr>
        <p:spPr>
          <a:xfrm>
            <a:off x="1440820" y="5300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03E9A3-0AE6-A44E-2088-32EDA991E604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400" dirty="0">
                <a:latin typeface="Heebo"/>
              </a:rPr>
              <a:t>📋 Match</a:t>
            </a:r>
            <a:endParaRPr lang="en-CA" dirty="0"/>
          </a:p>
          <a:p>
            <a:pPr algn="ctr"/>
            <a:r>
              <a:rPr lang="en-US" sz="1200" dirty="0">
                <a:latin typeface="Heebo"/>
              </a:rPr>
              <a:t>Match data sources to the type of change:</a:t>
            </a:r>
          </a:p>
          <a:p>
            <a:pPr algn="ctr"/>
            <a:r>
              <a:rPr lang="en-US" sz="1200" dirty="0">
                <a:latin typeface="Heebo"/>
              </a:rPr>
              <a:t>Content change? Use PFT + Analytics</a:t>
            </a:r>
          </a:p>
          <a:p>
            <a:pPr algn="ctr"/>
            <a:r>
              <a:rPr lang="en-US" sz="1200" dirty="0">
                <a:latin typeface="Heebo"/>
              </a:rPr>
              <a:t>Navigation change? Use TSS + back-button data</a:t>
            </a:r>
          </a:p>
          <a:p>
            <a:pPr algn="ctr"/>
            <a:r>
              <a:rPr lang="en-US" sz="1200" dirty="0">
                <a:latin typeface="Heebo"/>
              </a:rPr>
              <a:t>New tool? Add a custom survey</a:t>
            </a:r>
          </a:p>
        </p:txBody>
      </p:sp>
    </p:spTree>
    <p:extLst>
      <p:ext uri="{BB962C8B-B14F-4D97-AF65-F5344CB8AC3E}">
        <p14:creationId xmlns:p14="http://schemas.microsoft.com/office/powerpoint/2010/main" val="3276841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84078918-D4A0-76F1-24A8-EA38B064E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283B3C7F-F9F7-D2A7-F9EA-BA647F5E9B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Monitoring plan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D191F55-6DC2-95DA-EA79-4A9A2410B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B6BDB0E-C6A1-6A35-365E-1D27E579B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048AA5-C9DD-3FCA-9F83-97B20EE2EEDE}"/>
              </a:ext>
            </a:extLst>
          </p:cNvPr>
          <p:cNvSpPr txBox="1"/>
          <p:nvPr/>
        </p:nvSpPr>
        <p:spPr>
          <a:xfrm>
            <a:off x="501977" y="1419670"/>
            <a:ext cx="6198861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 xml:space="preserve">What does success look like, and how will you measure it? 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Small design changes often hard to measure impact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Instead, look for stability, e.g.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 xml:space="preserve">Decrease or stable CSC call volumes for this </a:t>
            </a:r>
            <a:r>
              <a:rPr lang="en-US" dirty="0" err="1">
                <a:latin typeface="Heebo" pitchFamily="2" charset="-79"/>
                <a:cs typeface="Heebo" pitchFamily="2" charset="-79"/>
              </a:rPr>
              <a:t>LoB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Decrease or stable PFT “no” clicks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Increase or stable analytics for Apply Now button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EE67E9-2171-49E8-822C-DF9E0A0D15E1}"/>
              </a:ext>
            </a:extLst>
          </p:cNvPr>
          <p:cNvSpPr/>
          <p:nvPr/>
        </p:nvSpPr>
        <p:spPr>
          <a:xfrm>
            <a:off x="1440820" y="5300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D6F7E58-BC3E-F40C-B6F4-4FDB47CF0194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400" dirty="0">
                <a:latin typeface="Heebo"/>
              </a:rPr>
              <a:t>📝 Plan template</a:t>
            </a:r>
            <a:endParaRPr lang="en-CA" dirty="0"/>
          </a:p>
          <a:p>
            <a:pPr algn="ctr"/>
            <a:r>
              <a:rPr lang="en-US" sz="1200" dirty="0">
                <a:latin typeface="Heebo"/>
              </a:rPr>
              <a:t>Your monitoring plan should specify:</a:t>
            </a:r>
          </a:p>
          <a:p>
            <a:pPr algn="ctr"/>
            <a:r>
              <a:rPr lang="en-US" sz="1200" dirty="0">
                <a:latin typeface="Heebo"/>
              </a:rPr>
              <a:t>Which KPIs to track</a:t>
            </a:r>
          </a:p>
          <a:p>
            <a:pPr algn="ctr"/>
            <a:r>
              <a:rPr lang="en-US" sz="1200" dirty="0">
                <a:latin typeface="Heebo"/>
              </a:rPr>
              <a:t>Which data sources to check</a:t>
            </a:r>
          </a:p>
          <a:p>
            <a:pPr algn="ctr"/>
            <a:r>
              <a:rPr lang="en-US" sz="1200" dirty="0">
                <a:latin typeface="Heebo"/>
              </a:rPr>
              <a:t>At what intervals to check them</a:t>
            </a:r>
          </a:p>
          <a:p>
            <a:pPr algn="ctr"/>
            <a:r>
              <a:rPr lang="en-US" sz="1200" dirty="0">
                <a:latin typeface="Heebo"/>
              </a:rPr>
              <a:t>What a “pass” looks like</a:t>
            </a:r>
          </a:p>
        </p:txBody>
      </p:sp>
    </p:spTree>
    <p:extLst>
      <p:ext uri="{BB962C8B-B14F-4D97-AF65-F5344CB8AC3E}">
        <p14:creationId xmlns:p14="http://schemas.microsoft.com/office/powerpoint/2010/main" val="8552692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1BC265F-00AD-FEFD-20F0-7380C75FF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F223EE37-8F77-4FD0-AF12-6BD060715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Launch &amp; monitor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9DFBD7A-0CC7-C600-3CCC-32A58142B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910E294-1A6E-F3E8-3909-F6DBBBBAE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2C6035-5543-FE09-5900-E1E3EDC839A2}"/>
              </a:ext>
            </a:extLst>
          </p:cNvPr>
          <p:cNvSpPr txBox="1"/>
          <p:nvPr/>
        </p:nvSpPr>
        <p:spPr>
          <a:xfrm>
            <a:off x="501977" y="1419670"/>
            <a:ext cx="6155997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some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2B28D6-FCA2-6715-2885-AEE8252D9785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140D0E6-68D6-500A-1545-9AF5DA03D68C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400" dirty="0">
                <a:latin typeface="Heebo"/>
              </a:rPr>
              <a:t>📅 Check-in schedule</a:t>
            </a:r>
            <a:endParaRPr lang="en-CA" dirty="0"/>
          </a:p>
          <a:p>
            <a:pPr algn="ctr"/>
            <a:r>
              <a:rPr lang="en-US" sz="1200" dirty="0">
                <a:latin typeface="Heebo"/>
              </a:rPr>
              <a:t>Recommended monitoring intervals (medium designs):</a:t>
            </a:r>
          </a:p>
          <a:p>
            <a:pPr algn="ctr"/>
            <a:r>
              <a:rPr lang="en-US" sz="1200" dirty="0">
                <a:latin typeface="Heebo"/>
              </a:rPr>
              <a:t>Day 1 post-launch</a:t>
            </a:r>
          </a:p>
          <a:p>
            <a:pPr algn="ctr"/>
            <a:r>
              <a:rPr lang="en-US" sz="1200" dirty="0">
                <a:latin typeface="Heebo"/>
              </a:rPr>
              <a:t>Day 3, Day 7</a:t>
            </a:r>
          </a:p>
          <a:p>
            <a:pPr algn="ctr"/>
            <a:r>
              <a:rPr lang="en-US" sz="1200" dirty="0">
                <a:latin typeface="Heebo"/>
              </a:rPr>
              <a:t>Day 14 (2 weeks)</a:t>
            </a:r>
          </a:p>
          <a:p>
            <a:pPr algn="ctr"/>
            <a:r>
              <a:rPr lang="en-US" sz="1200" dirty="0">
                <a:latin typeface="Heebo"/>
              </a:rPr>
              <a:t>Day 28 (1 month)</a:t>
            </a:r>
          </a:p>
        </p:txBody>
      </p:sp>
    </p:spTree>
    <p:extLst>
      <p:ext uri="{BB962C8B-B14F-4D97-AF65-F5344CB8AC3E}">
        <p14:creationId xmlns:p14="http://schemas.microsoft.com/office/powerpoint/2010/main" val="1449537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B17C3CD-457C-CD5F-8B2A-280CF3285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F74775DB-2D54-1B4A-37C9-9A9C5965E9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Tweak if needed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597594F-F2AD-64E5-05F7-A9B510530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FFBDBF2-E998-78DB-2BE1-B0B333B56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FE70E3-D376-AC30-12BC-7473457DFCDC}"/>
              </a:ext>
            </a:extLst>
          </p:cNvPr>
          <p:cNvSpPr txBox="1"/>
          <p:nvPr/>
        </p:nvSpPr>
        <p:spPr>
          <a:xfrm>
            <a:off x="501977" y="1419670"/>
            <a:ext cx="6155997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some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9E80034-64A3-5BE4-D6C9-A0E9A15DD270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814230-63A8-6F31-8987-327A789DF42A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400" dirty="0">
                <a:latin typeface="Heebo"/>
              </a:rPr>
              <a:t>🔧 Common tweaks</a:t>
            </a:r>
            <a:endParaRPr lang="en-CA" dirty="0"/>
          </a:p>
          <a:p>
            <a:pPr algn="ctr"/>
            <a:r>
              <a:rPr lang="en-US" sz="1200" dirty="0">
                <a:latin typeface="Heebo"/>
              </a:rPr>
              <a:t>Common tweaks after launch:</a:t>
            </a:r>
          </a:p>
          <a:p>
            <a:pPr algn="ctr"/>
            <a:r>
              <a:rPr lang="en-US" sz="1200" dirty="0">
                <a:latin typeface="Heebo"/>
              </a:rPr>
              <a:t>Fix broken or outdated links</a:t>
            </a:r>
          </a:p>
          <a:p>
            <a:pPr algn="ctr"/>
            <a:r>
              <a:rPr lang="en-US" sz="1200" dirty="0">
                <a:latin typeface="Heebo"/>
              </a:rPr>
              <a:t>Clarify ambiguous headings</a:t>
            </a:r>
          </a:p>
          <a:p>
            <a:pPr algn="ctr"/>
            <a:r>
              <a:rPr lang="en-US" sz="1200" dirty="0">
                <a:latin typeface="Heebo"/>
              </a:rPr>
              <a:t>Adjust reading level of body text</a:t>
            </a:r>
          </a:p>
          <a:p>
            <a:pPr algn="ctr"/>
            <a:r>
              <a:rPr lang="en-US" sz="1200" dirty="0">
                <a:latin typeface="Heebo"/>
              </a:rPr>
              <a:t>Frontload key info in paragraphs</a:t>
            </a:r>
          </a:p>
        </p:txBody>
      </p:sp>
    </p:spTree>
    <p:extLst>
      <p:ext uri="{BB962C8B-B14F-4D97-AF65-F5344CB8AC3E}">
        <p14:creationId xmlns:p14="http://schemas.microsoft.com/office/powerpoint/2010/main" val="3575582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405290A2-0A3F-9AEA-B1B5-DFE59B53F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A3B7B52B-83DE-83AF-8C0A-FAE0AEE0F7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Email reporting &amp; end of monitoring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3C4F9ED-87D8-3F90-EB23-F369FA3B0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8497A48-5A7E-08B5-F319-91C5C7E09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958F02-CC26-8774-8081-42FE66F68FA2}"/>
              </a:ext>
            </a:extLst>
          </p:cNvPr>
          <p:cNvSpPr txBox="1"/>
          <p:nvPr/>
        </p:nvSpPr>
        <p:spPr>
          <a:xfrm>
            <a:off x="501977" y="1419670"/>
            <a:ext cx="6155997" cy="24929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ebo"/>
                <a:cs typeface="Heebo"/>
              </a:rPr>
              <a:t xml:space="preserve">Recommended: </a:t>
            </a:r>
            <a:r>
              <a:rPr lang="en-US" dirty="0">
                <a:latin typeface="Heebo"/>
                <a:cs typeface="Heebo"/>
              </a:rPr>
              <a:t>Each day for first week post-launch; 2 weeks; 4 weeks; 6 weeks; 8 weeks</a:t>
            </a:r>
            <a:endParaRPr lang="en-US" b="1" dirty="0">
              <a:latin typeface="Heebo"/>
              <a:cs typeface="Heebo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472D78-95DB-C037-2B7A-8435DFFE636D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C7268B-BE9A-DF4D-B691-5E47E37588D0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400" dirty="0">
                <a:latin typeface="Heebo"/>
              </a:rPr>
              <a:t>📧 Report template</a:t>
            </a:r>
            <a:endParaRPr lang="en-CA" dirty="0"/>
          </a:p>
          <a:p>
            <a:pPr algn="ctr"/>
            <a:r>
              <a:rPr lang="en-US" sz="1200" dirty="0">
                <a:latin typeface="Heebo"/>
              </a:rPr>
              <a:t>Email report should include:</a:t>
            </a:r>
          </a:p>
          <a:p>
            <a:pPr algn="ctr"/>
            <a:r>
              <a:rPr lang="en-US" sz="1200" dirty="0">
                <a:latin typeface="Heebo"/>
              </a:rPr>
              <a:t>Summary of monitoring data</a:t>
            </a:r>
          </a:p>
          <a:p>
            <a:pPr algn="ctr"/>
            <a:r>
              <a:rPr lang="en-US" sz="1200" dirty="0">
                <a:latin typeface="Heebo"/>
              </a:rPr>
              <a:t>Any issues found</a:t>
            </a:r>
          </a:p>
          <a:p>
            <a:pPr algn="ctr"/>
            <a:r>
              <a:rPr lang="en-US" sz="1200" dirty="0">
                <a:latin typeface="Heebo"/>
              </a:rPr>
              <a:t>Reactions taken</a:t>
            </a:r>
          </a:p>
          <a:p>
            <a:pPr algn="ctr"/>
            <a:r>
              <a:rPr lang="en-US" sz="1200" dirty="0">
                <a:latin typeface="Heebo"/>
              </a:rPr>
              <a:t>Next monitoring milestone</a:t>
            </a:r>
          </a:p>
        </p:txBody>
      </p:sp>
    </p:spTree>
    <p:extLst>
      <p:ext uri="{BB962C8B-B14F-4D97-AF65-F5344CB8AC3E}">
        <p14:creationId xmlns:p14="http://schemas.microsoft.com/office/powerpoint/2010/main" val="3193134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45D93549-F686-AFC6-BD2F-01B4ADBA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8200C9EE-9CBA-5991-8C4B-D2FE40D79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Tailored data sources &amp; monitoring plan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A3E0EDA-EDD0-34E7-0648-A29ED905A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ED55AEE-9BF2-A287-F781-57F126103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A298B9-8AC5-5D43-4242-18DBC5515FB3}"/>
              </a:ext>
            </a:extLst>
          </p:cNvPr>
          <p:cNvSpPr txBox="1"/>
          <p:nvPr/>
        </p:nvSpPr>
        <p:spPr>
          <a:xfrm>
            <a:off x="501977" y="1419670"/>
            <a:ext cx="6198861" cy="36625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 xml:space="preserve">As before: 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Leverage as many data sources as possible for large designs, e.g.: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Page Feedback Tool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Analytics Dashboard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Environmental Scan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Survey embedded in new content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Feedback from Social Care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6EFD07-A413-AFC5-00D5-4C1C28FECED3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400" dirty="0">
                <a:latin typeface="Heebo"/>
              </a:rPr>
              <a:t>🔎 Data checklist</a:t>
            </a:r>
            <a:endParaRPr lang="en-CA" dirty="0"/>
          </a:p>
          <a:p>
            <a:pPr algn="ctr"/>
            <a:r>
              <a:rPr lang="en-US" sz="1200" dirty="0">
                <a:latin typeface="Heebo"/>
              </a:rPr>
              <a:t>Data sources for large designs:</a:t>
            </a:r>
          </a:p>
          <a:p>
            <a:pPr algn="ctr"/>
            <a:r>
              <a:rPr lang="en-US" sz="1200" dirty="0">
                <a:latin typeface="Heebo"/>
              </a:rPr>
              <a:t>Adobe Analytics dashboard</a:t>
            </a:r>
          </a:p>
          <a:p>
            <a:pPr algn="ctr"/>
            <a:r>
              <a:rPr lang="en-US" sz="1200" dirty="0">
                <a:latin typeface="Heebo"/>
              </a:rPr>
              <a:t>Page Feedback Tool (PFT)</a:t>
            </a:r>
          </a:p>
          <a:p>
            <a:pPr algn="ctr"/>
            <a:r>
              <a:rPr lang="en-US" sz="1200" dirty="0">
                <a:latin typeface="Heebo"/>
              </a:rPr>
              <a:t>Task Success Survey (TSS)</a:t>
            </a:r>
          </a:p>
          <a:p>
            <a:pPr algn="ctr"/>
            <a:r>
              <a:rPr lang="en-US" sz="1200" dirty="0">
                <a:latin typeface="Heebo"/>
              </a:rPr>
              <a:t>Environmental scan (forums, social)</a:t>
            </a:r>
          </a:p>
          <a:p>
            <a:pPr algn="ctr"/>
            <a:r>
              <a:rPr lang="en-US" sz="1200" dirty="0">
                <a:latin typeface="Heebo"/>
              </a:rPr>
              <a:t>Custom survey embedded in content</a:t>
            </a:r>
          </a:p>
        </p:txBody>
      </p:sp>
    </p:spTree>
    <p:extLst>
      <p:ext uri="{BB962C8B-B14F-4D97-AF65-F5344CB8AC3E}">
        <p14:creationId xmlns:p14="http://schemas.microsoft.com/office/powerpoint/2010/main" val="3469241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8B494A6A-BC96-6BBD-ADBE-0E68BA01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AFA5E264-747C-BF5D-983A-DC28FE0895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Plan how you’ll React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794263D-42F8-48B4-12D5-9D6B956CE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96BF709-EE01-EB23-08C0-06FF6B880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0CFC1B-A197-D1BE-6DC7-C9B6D1FC4541}"/>
              </a:ext>
            </a:extLst>
          </p:cNvPr>
          <p:cNvSpPr txBox="1"/>
          <p:nvPr/>
        </p:nvSpPr>
        <p:spPr>
          <a:xfrm>
            <a:off x="501977" y="1419670"/>
            <a:ext cx="6198861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 xml:space="preserve">What does success look like, and how will you measure it? 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Small design changes often hard to measure impact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Instead, look for stability, e.g.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 xml:space="preserve">Decrease or stable CSC call volumes for this </a:t>
            </a:r>
            <a:r>
              <a:rPr lang="en-US" dirty="0" err="1">
                <a:latin typeface="Heebo" pitchFamily="2" charset="-79"/>
                <a:cs typeface="Heebo" pitchFamily="2" charset="-79"/>
              </a:rPr>
              <a:t>LoB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Decrease or stable PFT “no” clicks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Increase or stable analytics for Apply Now button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7E6E5C-30E7-3646-E123-CF823762730B}"/>
              </a:ext>
            </a:extLst>
          </p:cNvPr>
          <p:cNvSpPr/>
          <p:nvPr/>
        </p:nvSpPr>
        <p:spPr>
          <a:xfrm>
            <a:off x="1440820" y="5300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6134CB-6C89-7B7B-C8FF-11F2BFAED45F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400" dirty="0">
                <a:latin typeface="Heebo"/>
              </a:rPr>
              <a:t>⚡ React plan</a:t>
            </a:r>
            <a:endParaRPr lang="en-CA" dirty="0"/>
          </a:p>
          <a:p>
            <a:pPr algn="ctr"/>
            <a:r>
              <a:rPr lang="en-US" sz="1200" dirty="0">
                <a:latin typeface="Heebo"/>
              </a:rPr>
              <a:t>Sample if/then reaction plan:</a:t>
            </a:r>
          </a:p>
          <a:p>
            <a:pPr algn="ctr"/>
            <a:r>
              <a:rPr lang="en-US" sz="1200" dirty="0">
                <a:latin typeface="Heebo"/>
              </a:rPr>
              <a:t>If PFT “no” clicks spike &gt;20% → investigate comments</a:t>
            </a:r>
          </a:p>
          <a:p>
            <a:pPr algn="ctr"/>
            <a:r>
              <a:rPr lang="en-US" sz="1200" dirty="0">
                <a:latin typeface="Heebo"/>
              </a:rPr>
              <a:t>If TSS score drops → consider rollback</a:t>
            </a:r>
          </a:p>
          <a:p>
            <a:pPr algn="ctr"/>
            <a:r>
              <a:rPr lang="en-US" sz="1200" dirty="0">
                <a:latin typeface="Heebo"/>
              </a:rPr>
              <a:t>If no issues after 4 weeks → advance to next phase</a:t>
            </a:r>
          </a:p>
        </p:txBody>
      </p:sp>
    </p:spTree>
    <p:extLst>
      <p:ext uri="{BB962C8B-B14F-4D97-AF65-F5344CB8AC3E}">
        <p14:creationId xmlns:p14="http://schemas.microsoft.com/office/powerpoint/2010/main" val="24073931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EB561C5D-D1A0-6CE7-5B2E-47C79940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52849AD7-163D-82C7-ABE9-01BED6DC2F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Monitoring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14C97B-AD34-8284-FAFC-F233C8774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6D6458E-51CC-C889-1C30-0D70B7166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772F21-26B3-2D6C-AE8F-C156FCF61743}"/>
              </a:ext>
            </a:extLst>
          </p:cNvPr>
          <p:cNvSpPr txBox="1"/>
          <p:nvPr/>
        </p:nvSpPr>
        <p:spPr>
          <a:xfrm>
            <a:off x="501977" y="1419670"/>
            <a:ext cx="6155997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some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2DD89F-861B-F3CE-AE3C-F290B9F65606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535FB0-6857-6AE7-1A43-02C6B6A6B68A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400" dirty="0">
                <a:latin typeface="Heebo"/>
              </a:rPr>
              <a:t>📊 Dashboard</a:t>
            </a:r>
            <a:endParaRPr lang="en-CA" dirty="0"/>
          </a:p>
          <a:p>
            <a:pPr algn="ctr"/>
            <a:r>
              <a:rPr lang="en-US" sz="1200" dirty="0">
                <a:latin typeface="Heebo"/>
              </a:rPr>
              <a:t>Monitoring dashboard should track:</a:t>
            </a:r>
          </a:p>
          <a:p>
            <a:pPr algn="ctr"/>
            <a:r>
              <a:rPr lang="en-US" sz="1200" dirty="0">
                <a:latin typeface="Heebo"/>
              </a:rPr>
              <a:t>Traffic to new content</a:t>
            </a:r>
          </a:p>
          <a:p>
            <a:pPr algn="ctr"/>
            <a:r>
              <a:rPr lang="en-US" sz="1200" dirty="0">
                <a:latin typeface="Heebo"/>
              </a:rPr>
              <a:t>Task completion and drop-off</a:t>
            </a:r>
          </a:p>
          <a:p>
            <a:pPr algn="ctr"/>
            <a:r>
              <a:rPr lang="en-US" sz="1200" dirty="0">
                <a:latin typeface="Heebo"/>
              </a:rPr>
              <a:t>PFT yes/no ratios</a:t>
            </a:r>
          </a:p>
          <a:p>
            <a:pPr algn="ctr"/>
            <a:r>
              <a:rPr lang="en-US" sz="1200" dirty="0">
                <a:latin typeface="Heebo"/>
              </a:rPr>
              <a:t>Return visit rate (if applicable)</a:t>
            </a:r>
          </a:p>
        </p:txBody>
      </p:sp>
    </p:spTree>
    <p:extLst>
      <p:ext uri="{BB962C8B-B14F-4D97-AF65-F5344CB8AC3E}">
        <p14:creationId xmlns:p14="http://schemas.microsoft.com/office/powerpoint/2010/main" val="2246751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5312F7E4-AFCF-D7CE-48B7-FBB2CDDED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FDE04653-6B93-D8C4-C5B7-C488D076FA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Reporting &amp; end of monitoring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79F3AF9-123D-D548-B777-1F8B9C87A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89684BC-81F9-6B5E-8FF3-E5BE3D157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428E22-18C0-E056-80B0-1BC465BB8539}"/>
              </a:ext>
            </a:extLst>
          </p:cNvPr>
          <p:cNvSpPr txBox="1"/>
          <p:nvPr/>
        </p:nvSpPr>
        <p:spPr>
          <a:xfrm>
            <a:off x="501977" y="1419670"/>
            <a:ext cx="6155997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some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AAF8FA-2871-2D49-FD77-F4F2C12A3F44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 xml:space="preserve"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63CEBD-56CC-57E0-DB02-0203FE1C36DE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z="1400" dirty="0">
                <a:latin typeface="Heebo"/>
              </a:rPr>
              <a:t>✅ Wrap-up</a:t>
            </a:r>
            <a:endParaRPr lang="en-CA" dirty="0"/>
          </a:p>
          <a:p>
            <a:pPr algn="ctr"/>
            <a:r>
              <a:rPr lang="en-US" sz="1200" dirty="0">
                <a:latin typeface="Heebo"/>
              </a:rPr>
              <a:t>End-of-monitoring checklist:</a:t>
            </a:r>
          </a:p>
          <a:p>
            <a:pPr algn="ctr"/>
            <a:r>
              <a:rPr lang="en-US" sz="1200" dirty="0">
                <a:latin typeface="Heebo"/>
              </a:rPr>
              <a:t>All intervals completed with no new issues?</a:t>
            </a:r>
          </a:p>
          <a:p>
            <a:pPr algn="ctr"/>
            <a:r>
              <a:rPr lang="en-US" sz="1200" dirty="0">
                <a:latin typeface="Heebo"/>
              </a:rPr>
              <a:t>Final report drafted and shared?</a:t>
            </a:r>
          </a:p>
          <a:p>
            <a:pPr algn="ctr"/>
            <a:r>
              <a:rPr lang="en-US" sz="1200" dirty="0">
                <a:latin typeface="Heebo"/>
              </a:rPr>
              <a:t>Design team debriefed?</a:t>
            </a:r>
          </a:p>
          <a:p>
            <a:pPr algn="ctr"/>
            <a:r>
              <a:rPr lang="en-US" sz="1200" dirty="0">
                <a:latin typeface="Heebo"/>
              </a:rPr>
              <a:t>Lessons learned documented?</a:t>
            </a:r>
          </a:p>
        </p:txBody>
      </p:sp>
    </p:spTree>
    <p:extLst>
      <p:ext uri="{BB962C8B-B14F-4D97-AF65-F5344CB8AC3E}">
        <p14:creationId xmlns:p14="http://schemas.microsoft.com/office/powerpoint/2010/main" val="856614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>
            <a:off x="3189171" y="2867800"/>
            <a:ext cx="5593772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6600"/>
              <a:t>Conclusion</a:t>
            </a:r>
            <a:endParaRPr sz="6600"/>
          </a:p>
        </p:txBody>
      </p:sp>
      <p:sp>
        <p:nvSpPr>
          <p:cNvPr id="201" name="TextBox Conclusion Key Points"/>
          <p:cNvSpPr txBox="1"/>
          <p:nvPr/>
        </p:nvSpPr>
        <p:spPr>
          <a:xfrm>
            <a:off x="457200" y="4115800"/>
            <a:ext cx="11277600" cy="2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400"/>
              </a:spcBef>
            </a:pPr>
            <a:r>
              <a:rPr lang="en-US" sz="1600" b="1" dirty="0">
                <a:solidFill>
                  <a:srgbClr val="600DB4"/>
                </a:solidFill>
                <a:latin typeface="Heebo"/>
              </a:rPr>
              <a:t>Key takeaways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Heebo"/>
              </a:rPr>
              <a:t>Every design change — big or small — deserves some level of monitoring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Heebo"/>
              </a:rPr>
              <a:t>Impact and risk determine how robust your monitoring plan needs to be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Heebo"/>
              </a:rPr>
              <a:t>Use data to react, not guesswork — and reset the clock when you make changes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latin typeface="Heebo"/>
              </a:rPr>
              <a:t>Templates and examples are in the Appendix to help you get started</a:t>
            </a:r>
          </a:p>
        </p:txBody>
      </p:sp>
    </p:spTree>
    <p:extLst>
      <p:ext uri="{BB962C8B-B14F-4D97-AF65-F5344CB8AC3E}">
        <p14:creationId xmlns:p14="http://schemas.microsoft.com/office/powerpoint/2010/main" val="23448489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 dirty="0"/>
              <a:t>Quick reference: Data sources by effort level</a:t>
            </a:r>
            <a:endParaRPr b="1" dirty="0"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8061650" cy="519322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342900" indent="-342900">
              <a:spcAft>
                <a:spcPts val="600"/>
              </a:spcAft>
            </a:pPr>
            <a:r>
              <a:rPr lang="en-US" sz="2100" b="1" dirty="0">
                <a:solidFill>
                  <a:srgbClr val="600DB4"/>
                </a:solidFill>
              </a:rPr>
              <a:t>Low effort (check these first)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 xml:space="preserve">Adobe Analytics: </a:t>
            </a:r>
            <a:r>
              <a:rPr lang="en-US" sz="1600" dirty="0"/>
              <a:t>page traffic, button clicks, drop-off rates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 xml:space="preserve">Page Feedback Tool (PFT): </a:t>
            </a:r>
            <a:r>
              <a:rPr lang="en-US" sz="1600" dirty="0"/>
              <a:t>yes/no ratings and open comments from users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 xml:space="preserve">Google Trends: </a:t>
            </a:r>
            <a:r>
              <a:rPr lang="en-US" sz="1600" dirty="0"/>
              <a:t>search demand for key terms</a:t>
            </a:r>
          </a:p>
          <a:p>
            <a:pPr marL="342900" indent="-342900">
              <a:spcBef>
                <a:spcPts val="800"/>
              </a:spcBef>
              <a:spcAft>
                <a:spcPts val="600"/>
              </a:spcAft>
            </a:pPr>
            <a:r>
              <a:rPr lang="en-US" sz="2100" b="1" dirty="0">
                <a:solidFill>
                  <a:srgbClr val="600DB4"/>
                </a:solidFill>
              </a:rPr>
              <a:t>Medium effort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 xml:space="preserve">Task Success Survey (TSS): </a:t>
            </a:r>
            <a:r>
              <a:rPr lang="en-US" sz="1600" dirty="0"/>
              <a:t>task completion rates and ease ratings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 xml:space="preserve">Social Care: </a:t>
            </a:r>
            <a:r>
              <a:rPr lang="en-US" sz="1600" dirty="0"/>
              <a:t>feedback themes from social media and email support</a:t>
            </a:r>
          </a:p>
          <a:p>
            <a:pPr marL="342900" indent="-342900">
              <a:spcBef>
                <a:spcPts val="800"/>
              </a:spcBef>
              <a:spcAft>
                <a:spcPts val="600"/>
              </a:spcAft>
            </a:pPr>
            <a:r>
              <a:rPr lang="en-US" sz="2100" b="1" dirty="0">
                <a:solidFill>
                  <a:srgbClr val="600DB4"/>
                </a:solidFill>
              </a:rPr>
              <a:t>Higher effort (for large designs)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 xml:space="preserve">Environmental scan: </a:t>
            </a:r>
            <a:r>
              <a:rPr lang="en-US" sz="1600" dirty="0"/>
              <a:t>Reddit, forums, Facebook groups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 xml:space="preserve">Custom surveys: </a:t>
            </a:r>
            <a:r>
              <a:rPr lang="en-US" sz="1600" dirty="0"/>
              <a:t>SUPR-Q, embedded surveys for usability scores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6DA41C6-79EC-4566-81E3-F477C0EC7FFC}"/>
              </a:ext>
            </a:extLst>
          </p:cNvPr>
          <p:cNvSpPr/>
          <p:nvPr/>
        </p:nvSpPr>
        <p:spPr>
          <a:xfrm>
            <a:off x="7704173" y="2524125"/>
            <a:ext cx="3924300" cy="1809750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Heebo"/>
                <a:cs typeface="Heebo"/>
              </a:rPr>
              <a:t>💡 Start simple: Adobe Analytics + PFT are enough for most small and medium designs.</a:t>
            </a:r>
            <a:endParaRPr lang="en-US" sz="1600" dirty="0">
              <a:solidFill>
                <a:schemeClr val="tx1"/>
              </a:solidFill>
              <a:latin typeface="Heebo" pitchFamily="2" charset="-79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8611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9A688C3D-97D6-8928-6505-5706F7BDE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60C11B5E-5493-9CA4-6D9A-EFAC8ED8CB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 dirty="0"/>
              <a:t>More resources + links</a:t>
            </a:r>
            <a:endParaRPr b="1" dirty="0"/>
          </a:p>
        </p:txBody>
      </p:sp>
      <p:sp>
        <p:nvSpPr>
          <p:cNvPr id="139" name="Google Shape;139;p24">
            <a:extLst>
              <a:ext uri="{FF2B5EF4-FFF2-40B4-BE49-F238E27FC236}">
                <a16:creationId xmlns:a16="http://schemas.microsoft.com/office/drawing/2014/main" id="{1D6E061A-EA26-C423-689B-8BD44E527F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8061650" cy="519322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342900" indent="-342900">
              <a:spcAft>
                <a:spcPts val="1200"/>
              </a:spcAft>
            </a:pPr>
            <a:r>
              <a:rPr lang="en-US" sz="2100" b="1" dirty="0">
                <a:solidFill>
                  <a:srgbClr val="600DB4"/>
                </a:solidFill>
              </a:rPr>
              <a:t>So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B2A714E-56B5-A9D8-6A5E-3C6FDCEA4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0" y="3229635"/>
            <a:ext cx="113608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609585" lvl="0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1219170" lvl="1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828754" lvl="2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2438339" lvl="3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3047924" lvl="4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3657509" lvl="5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4267093" lvl="6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4876678" lvl="7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5486263" lvl="8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Program Finder Phase 2 summary report.docx</a:t>
            </a: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0B4C2D-75E2-6B84-3673-D7B5574AF64C}"/>
              </a:ext>
            </a:extLst>
          </p:cNvPr>
          <p:cNvSpPr/>
          <p:nvPr/>
        </p:nvSpPr>
        <p:spPr>
          <a:xfrm>
            <a:off x="7285038" y="3638965"/>
            <a:ext cx="4278310" cy="2078768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Example monitoring plans: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 xml:space="preserve">-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  <a:hlinkClick r:id="rId4"/>
              </a:rPr>
              <a:t>Program Finder Rollout &amp; Monitoring</a:t>
            </a:r>
            <a:endParaRPr lang="en-US" sz="1600" dirty="0">
              <a:solidFill>
                <a:schemeClr val="tx1"/>
              </a:solidFill>
              <a:latin typeface="Heebo"/>
              <a:cs typeface="Heebo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  <a:hlinkClick r:id="rId5"/>
              </a:rPr>
              <a:t xml:space="preserve">-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  <a:hlinkClick r:id="rId5"/>
              </a:rPr>
              <a:t>Visa Tool Rollout &amp; Monitoring</a:t>
            </a:r>
            <a:endParaRPr lang="en-US" sz="1600" dirty="0">
              <a:solidFill>
                <a:schemeClr val="tx1"/>
              </a:solidFill>
              <a:latin typeface="Heebo"/>
              <a:cs typeface="Heebo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Heebo"/>
                <a:cs typeface="Heebo"/>
                <a:hlinkClick r:id="rId6"/>
              </a:rPr>
              <a:t>- Contact IRCC Rollout &amp; Monitoring</a:t>
            </a:r>
            <a:endParaRPr lang="en-US" sz="1600" dirty="0">
              <a:solidFill>
                <a:schemeClr val="tx1"/>
              </a:solidFill>
              <a:latin typeface="Heebo"/>
              <a:cs typeface="Heebo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Heebo"/>
              <a:cs typeface="Heebo"/>
            </a:endParaRP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Feel free to use these as examples &amp; inspiration!</a:t>
            </a:r>
          </a:p>
        </p:txBody>
      </p:sp>
    </p:spTree>
    <p:extLst>
      <p:ext uri="{BB962C8B-B14F-4D97-AF65-F5344CB8AC3E}">
        <p14:creationId xmlns:p14="http://schemas.microsoft.com/office/powerpoint/2010/main" val="2687983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415600" y="2646033"/>
            <a:ext cx="113608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US" sz="6667">
                <a:latin typeface="Heebo"/>
              </a:rPr>
              <a:t>Thank you!</a:t>
            </a:r>
            <a:endParaRPr lang="en-US"/>
          </a:p>
        </p:txBody>
      </p:sp>
      <p:sp>
        <p:nvSpPr>
          <p:cNvPr id="162" name="Google Shape;162;p28"/>
          <p:cNvSpPr txBox="1">
            <a:spLocks noGrp="1"/>
          </p:cNvSpPr>
          <p:nvPr>
            <p:ph type="title" idx="2"/>
          </p:nvPr>
        </p:nvSpPr>
        <p:spPr>
          <a:xfrm>
            <a:off x="415600" y="3650367"/>
            <a:ext cx="113608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 fontScale="90000"/>
          </a:bodyPr>
          <a:lstStyle/>
          <a:p>
            <a:r>
              <a:rPr lang="en-US">
                <a:latin typeface="Heebo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2691463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C0B026-C636-F7F6-5DF0-39281B21A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4651" y="2650450"/>
            <a:ext cx="10489200" cy="1557100"/>
          </a:xfrm>
        </p:spPr>
        <p:txBody>
          <a:bodyPr anchor="ctr">
            <a:normAutofit/>
          </a:bodyPr>
          <a:lstStyle/>
          <a:p>
            <a:r>
              <a:rPr lang="en" sz="8000" b="1" dirty="0">
                <a:solidFill>
                  <a:srgbClr val="350267"/>
                </a:solidFill>
                <a:latin typeface="Lexend"/>
                <a:sym typeface="Lexend"/>
              </a:rPr>
              <a:t>Examples of monitoring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2807965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CE04-B391-AE19-8146-D7F0D262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large design rollout &amp; monitoring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C5BEC-D9A0-7F4F-6345-8446CA837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290700"/>
            <a:ext cx="5528000" cy="4801200"/>
          </a:xfrm>
        </p:spPr>
        <p:txBody>
          <a:bodyPr>
            <a:normAutofit fontScale="62500" lnSpcReduction="20000"/>
          </a:bodyPr>
          <a:lstStyle/>
          <a:p>
            <a:pPr marL="169329" indent="0">
              <a:buNone/>
            </a:pPr>
            <a:r>
              <a:rPr lang="en-CA" b="1" dirty="0"/>
              <a:t xml:space="preserve">Phase 1 </a:t>
            </a:r>
          </a:p>
          <a:p>
            <a:pPr marL="169329" indent="0">
              <a:buNone/>
            </a:pPr>
            <a:endParaRPr lang="en-CA" dirty="0"/>
          </a:p>
          <a:p>
            <a:r>
              <a:rPr lang="en-CA" dirty="0"/>
              <a:t xml:space="preserve">Analytics dashboard to ensure metrics are relatively stable. Key metrics of interest: </a:t>
            </a:r>
          </a:p>
          <a:p>
            <a:endParaRPr lang="en-CA" dirty="0"/>
          </a:p>
          <a:p>
            <a:pPr lvl="1"/>
            <a:r>
              <a:rPr lang="en-CA" dirty="0"/>
              <a:t xml:space="preserve">Clicks on all doormats </a:t>
            </a:r>
          </a:p>
          <a:p>
            <a:endParaRPr lang="en-CA" dirty="0"/>
          </a:p>
          <a:p>
            <a:pPr lvl="1"/>
            <a:r>
              <a:rPr lang="en-CA" dirty="0"/>
              <a:t xml:space="preserve">Clicks on Most requested band </a:t>
            </a:r>
          </a:p>
          <a:p>
            <a:endParaRPr lang="en-CA" dirty="0"/>
          </a:p>
          <a:p>
            <a:pPr lvl="1"/>
            <a:r>
              <a:rPr lang="en-CA" dirty="0"/>
              <a:t xml:space="preserve">Clicks on social media icons </a:t>
            </a:r>
          </a:p>
          <a:p>
            <a:endParaRPr lang="en-CA" dirty="0"/>
          </a:p>
          <a:p>
            <a:pPr lvl="1"/>
            <a:r>
              <a:rPr lang="en-CA" dirty="0"/>
              <a:t xml:space="preserve">Clicks on Help with common topics </a:t>
            </a:r>
          </a:p>
          <a:p>
            <a:endParaRPr lang="en-CA" dirty="0"/>
          </a:p>
          <a:p>
            <a:r>
              <a:rPr lang="en-CA" dirty="0"/>
              <a:t xml:space="preserve">Slow roll-out of social media icons: </a:t>
            </a:r>
          </a:p>
          <a:p>
            <a:endParaRPr lang="en-CA" dirty="0"/>
          </a:p>
          <a:p>
            <a:pPr lvl="1"/>
            <a:r>
              <a:rPr lang="en-CA" dirty="0"/>
              <a:t xml:space="preserve">As discussed with Social care, the social media icons will only be shown to 10% of visitors at the start of Phase 1 (using Adobe Target) </a:t>
            </a:r>
          </a:p>
          <a:p>
            <a:endParaRPr lang="en-CA" dirty="0"/>
          </a:p>
          <a:p>
            <a:pPr lvl="1"/>
            <a:r>
              <a:rPr lang="en-CA" dirty="0"/>
              <a:t xml:space="preserve">Social care team will assess if volumes of Facebook messages have significantly increased </a:t>
            </a:r>
          </a:p>
          <a:p>
            <a:endParaRPr lang="en-CA" dirty="0"/>
          </a:p>
          <a:p>
            <a:pPr lvl="2"/>
            <a:r>
              <a:rPr lang="en-CA" dirty="0"/>
              <a:t xml:space="preserve">If yes, we’ll end the Target activity and remove the icons from the topic page </a:t>
            </a:r>
          </a:p>
          <a:p>
            <a:endParaRPr lang="en-CA" dirty="0"/>
          </a:p>
          <a:p>
            <a:pPr lvl="2"/>
            <a:r>
              <a:rPr lang="en-CA" dirty="0"/>
              <a:t xml:space="preserve">If no, we’ll increase visibility to 25%, 50% and then 75% of visitors and check in with Social care at each increment </a:t>
            </a:r>
          </a:p>
          <a:p>
            <a:endParaRPr lang="en-CA" dirty="0"/>
          </a:p>
          <a:p>
            <a:pPr lvl="3"/>
            <a:r>
              <a:rPr lang="en-CA" dirty="0"/>
              <a:t xml:space="preserve">If volumes are deemed manageable by Social Care team at 75%, we’ll end the Target activity and add the icons to the topic page in AEM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705110-606C-8AC1-4D4C-20F98B0AC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0" y="646678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Contact IRCC - Research, designs, monitoring plan.docx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0956B42-DAE0-A9B1-2F68-C8BB6711EAF6}"/>
              </a:ext>
            </a:extLst>
          </p:cNvPr>
          <p:cNvSpPr txBox="1">
            <a:spLocks/>
          </p:cNvSpPr>
          <p:nvPr/>
        </p:nvSpPr>
        <p:spPr>
          <a:xfrm>
            <a:off x="6248402" y="1290700"/>
            <a:ext cx="5528000" cy="4801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55000" lnSpcReduction="20000"/>
          </a:bodyPr>
          <a:lstStyle>
            <a:lvl1pPr marL="609585" lvl="0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1219170" lvl="1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828754" lvl="2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2438339" lvl="3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3047924" lvl="4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3657509" lvl="5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4267093" lvl="6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4876678" lvl="7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5486263" lvl="8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169329" indent="0">
              <a:buFont typeface="Heebo"/>
              <a:buNone/>
            </a:pPr>
            <a:r>
              <a:rPr lang="en-CA" b="1" dirty="0"/>
              <a:t xml:space="preserve">Phase 2 </a:t>
            </a:r>
          </a:p>
          <a:p>
            <a:pPr marL="169329" indent="0">
              <a:buFont typeface="Heebo"/>
              <a:buNone/>
            </a:pPr>
            <a:endParaRPr lang="en-CA" b="1" dirty="0"/>
          </a:p>
          <a:p>
            <a:r>
              <a:rPr lang="en-CA" dirty="0"/>
              <a:t xml:space="preserve">Slow roll-out: </a:t>
            </a:r>
          </a:p>
          <a:p>
            <a:endParaRPr lang="en-CA" dirty="0"/>
          </a:p>
          <a:p>
            <a:pPr lvl="1"/>
            <a:r>
              <a:rPr lang="en-CA" dirty="0"/>
              <a:t xml:space="preserve">We’ll run an Adobe Target activity that splits traffic to Contact IRCC topic page, only diverting 25% to the revamped page in Phase 2 </a:t>
            </a:r>
          </a:p>
          <a:p>
            <a:endParaRPr lang="en-CA" dirty="0"/>
          </a:p>
          <a:p>
            <a:pPr lvl="1"/>
            <a:r>
              <a:rPr lang="en-CA" dirty="0"/>
              <a:t xml:space="preserve">We’ll incrementally increase traffic to 50% and 75% </a:t>
            </a:r>
          </a:p>
          <a:p>
            <a:endParaRPr lang="en-CA" dirty="0"/>
          </a:p>
          <a:p>
            <a:r>
              <a:rPr lang="en-CA" dirty="0"/>
              <a:t xml:space="preserve">We’ll check-in with call centre &amp; web form teams 1 week and 2 weeks after each increment to ensure volumes are still manageable </a:t>
            </a:r>
          </a:p>
          <a:p>
            <a:endParaRPr lang="en-CA" dirty="0"/>
          </a:p>
          <a:p>
            <a:pPr lvl="1"/>
            <a:r>
              <a:rPr lang="en-CA" dirty="0"/>
              <a:t xml:space="preserve">If call volumes are not manageable, we will roll back the Adobe Target activity and brainstorm other ideas for the revamp </a:t>
            </a:r>
          </a:p>
          <a:p>
            <a:endParaRPr lang="en-CA" dirty="0"/>
          </a:p>
          <a:p>
            <a:r>
              <a:rPr lang="en-CA" dirty="0"/>
              <a:t xml:space="preserve">Analytics dashboard to  ensure metrics are relatively stable. Key metrics in immediate term: </a:t>
            </a:r>
          </a:p>
          <a:p>
            <a:endParaRPr lang="en-CA" dirty="0"/>
          </a:p>
          <a:p>
            <a:pPr lvl="1"/>
            <a:r>
              <a:rPr lang="en-CA" dirty="0"/>
              <a:t xml:space="preserve">Clicks to web form </a:t>
            </a:r>
          </a:p>
          <a:p>
            <a:endParaRPr lang="en-CA" dirty="0"/>
          </a:p>
          <a:p>
            <a:pPr lvl="1"/>
            <a:r>
              <a:rPr lang="en-CA" dirty="0"/>
              <a:t xml:space="preserve">Clicks to open expand-collapse with phone number </a:t>
            </a:r>
          </a:p>
          <a:p>
            <a:endParaRPr lang="en-CA" dirty="0"/>
          </a:p>
          <a:p>
            <a:pPr lvl="1"/>
            <a:r>
              <a:rPr lang="en-CA" dirty="0"/>
              <a:t xml:space="preserve">Clicks on phone link from mobile devices (compared against baseline rate) </a:t>
            </a:r>
          </a:p>
          <a:p>
            <a:endParaRPr lang="en-CA" dirty="0"/>
          </a:p>
          <a:p>
            <a:pPr lvl="1"/>
            <a:r>
              <a:rPr lang="en-CA" dirty="0"/>
              <a:t xml:space="preserve">Clicks on self-serve section  </a:t>
            </a:r>
          </a:p>
          <a:p>
            <a:endParaRPr lang="en-CA" dirty="0"/>
          </a:p>
          <a:p>
            <a:r>
              <a:rPr lang="en-CA" dirty="0"/>
              <a:t xml:space="preserve">Key metrics of interest in long term: </a:t>
            </a:r>
          </a:p>
          <a:p>
            <a:endParaRPr lang="en-CA" dirty="0"/>
          </a:p>
          <a:p>
            <a:pPr lvl="1"/>
            <a:r>
              <a:rPr lang="en-CA" dirty="0"/>
              <a:t xml:space="preserve">Task Success Survey scores (i.e. task completion and ease for Contact IRCC task) </a:t>
            </a:r>
          </a:p>
        </p:txBody>
      </p:sp>
    </p:spTree>
    <p:extLst>
      <p:ext uri="{BB962C8B-B14F-4D97-AF65-F5344CB8AC3E}">
        <p14:creationId xmlns:p14="http://schemas.microsoft.com/office/powerpoint/2010/main" val="28191237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682E0-468D-65D1-DCA2-87CADB36B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6012-DD59-DA41-B8C1-8E66F0E20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large design rollout &amp; monitoring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9C28D-FB44-7DD8-58AB-69F67FAAA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8400" y="1146730"/>
            <a:ext cx="5528000" cy="5135391"/>
          </a:xfrm>
        </p:spPr>
        <p:txBody>
          <a:bodyPr>
            <a:normAutofit fontScale="92500"/>
          </a:bodyPr>
          <a:lstStyle/>
          <a:p>
            <a:pPr marL="169329" indent="0">
              <a:buNone/>
            </a:pPr>
            <a:r>
              <a:rPr lang="en-CA" sz="1400" b="1" dirty="0"/>
              <a:t>Live Beta</a:t>
            </a:r>
          </a:p>
          <a:p>
            <a:pPr marL="169329" indent="0">
              <a:buNone/>
            </a:pPr>
            <a:endParaRPr lang="en-CA" sz="1400" dirty="0"/>
          </a:p>
          <a:p>
            <a:pPr fontAlgn="base"/>
            <a:r>
              <a:rPr lang="en-CA" sz="1400" dirty="0"/>
              <a:t>We will link a </a:t>
            </a:r>
            <a:r>
              <a:rPr lang="en-CA" sz="1400" b="1" dirty="0"/>
              <a:t>user experience survey</a:t>
            </a:r>
            <a:r>
              <a:rPr lang="en-CA" sz="1400" dirty="0"/>
              <a:t> on the Results page of the tool</a:t>
            </a:r>
            <a:br>
              <a:rPr lang="en-CA" sz="1400" dirty="0"/>
            </a:br>
            <a:endParaRPr lang="en-CA" sz="1400" dirty="0"/>
          </a:p>
          <a:p>
            <a:pPr fontAlgn="base"/>
            <a:r>
              <a:rPr lang="en-CA" sz="1400" dirty="0"/>
              <a:t>We will construct and monitor an </a:t>
            </a:r>
            <a:r>
              <a:rPr lang="en-CA" sz="1400" b="1" dirty="0"/>
              <a:t>Adobe Analytics dashboard</a:t>
            </a:r>
          </a:p>
          <a:p>
            <a:pPr lvl="1" fontAlgn="base"/>
            <a:r>
              <a:rPr lang="en-CA" sz="1400" dirty="0"/>
              <a:t>Total tool traffic, average completion and drop-off rates </a:t>
            </a:r>
          </a:p>
          <a:p>
            <a:pPr lvl="1" fontAlgn="base"/>
            <a:r>
              <a:rPr lang="en-CA" sz="1400" dirty="0"/>
              <a:t>Which branches of the tool’s decision tree are clicked most</a:t>
            </a:r>
          </a:p>
          <a:p>
            <a:pPr lvl="1" fontAlgn="base"/>
            <a:r>
              <a:rPr lang="en-CA" sz="1400" dirty="0"/>
              <a:t>Which program results get shown to users most frequently (user sees list of results) </a:t>
            </a:r>
          </a:p>
          <a:p>
            <a:pPr lvl="1" fontAlgn="base"/>
            <a:r>
              <a:rPr lang="en-CA" sz="1400" dirty="0"/>
              <a:t>Which program result expand-collapses are opened (user looked at specific program)</a:t>
            </a:r>
          </a:p>
          <a:p>
            <a:pPr lvl="1" fontAlgn="base"/>
            <a:endParaRPr lang="en-CA" sz="1400" dirty="0"/>
          </a:p>
          <a:p>
            <a:pPr fontAlgn="base"/>
            <a:r>
              <a:rPr lang="en-CA" sz="1400" dirty="0"/>
              <a:t xml:space="preserve">We will implement the </a:t>
            </a:r>
            <a:r>
              <a:rPr lang="en-CA" sz="1400" b="1" dirty="0"/>
              <a:t xml:space="preserve">Page Feedback Tool </a:t>
            </a:r>
            <a:r>
              <a:rPr lang="en-CA" sz="1400" dirty="0"/>
              <a:t>on every screen</a:t>
            </a:r>
          </a:p>
          <a:p>
            <a:pPr fontAlgn="base"/>
            <a:endParaRPr lang="en-CA" sz="1400" dirty="0"/>
          </a:p>
          <a:p>
            <a:pPr fontAlgn="base"/>
            <a:r>
              <a:rPr lang="en-CA" sz="1400" dirty="0"/>
              <a:t xml:space="preserve">We will conduct a broader </a:t>
            </a:r>
            <a:r>
              <a:rPr lang="en-CA" sz="1400" b="1" dirty="0"/>
              <a:t xml:space="preserve">environmental scan </a:t>
            </a:r>
            <a:r>
              <a:rPr lang="en-CA" sz="1400" dirty="0"/>
              <a:t xml:space="preserve">to capture feedback about the program finder outside of Canada.ca data sources: </a:t>
            </a:r>
          </a:p>
          <a:p>
            <a:pPr lvl="1" fontAlgn="base"/>
            <a:r>
              <a:rPr lang="en-CA" sz="1400" dirty="0"/>
              <a:t xml:space="preserve">Social media sites (Facebook, X, immigration forums) for any discussion of the program finder since launch </a:t>
            </a:r>
          </a:p>
          <a:p>
            <a:pPr lvl="1" fontAlgn="base"/>
            <a:r>
              <a:rPr lang="en-CA" sz="1400" dirty="0"/>
              <a:t>IRCC Comms Social Media Team and Social Care team to enquire about any program finder feedback</a:t>
            </a:r>
          </a:p>
          <a:p>
            <a:pPr lvl="1" fontAlgn="base"/>
            <a:endParaRPr lang="en-CA" sz="1400" dirty="0"/>
          </a:p>
          <a:p>
            <a:pPr fontAlgn="base"/>
            <a:r>
              <a:rPr lang="en-CA" sz="1400" dirty="0"/>
              <a:t xml:space="preserve">The tool will only be moved to our </a:t>
            </a:r>
            <a:r>
              <a:rPr lang="en-CA" sz="1400" b="1" dirty="0"/>
              <a:t>full launch plan once we have four weeks of performance data without any new usability issues detected</a:t>
            </a:r>
          </a:p>
          <a:p>
            <a:pPr fontAlgn="base"/>
            <a:endParaRPr lang="en-CA" sz="1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F51695-E557-62E8-7B40-47A91A2C0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0" y="6282121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Program Finder Rollout &amp; Monitoring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5D09D9-56BD-AC31-81A0-A23381B1C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08545"/>
              </p:ext>
            </p:extLst>
          </p:nvPr>
        </p:nvGraphicFramePr>
        <p:xfrm>
          <a:off x="551431" y="1181421"/>
          <a:ext cx="5303193" cy="4935754"/>
        </p:xfrm>
        <a:graphic>
          <a:graphicData uri="http://schemas.openxmlformats.org/drawingml/2006/table">
            <a:tbl>
              <a:tblPr/>
              <a:tblGrid>
                <a:gridCol w="1767731">
                  <a:extLst>
                    <a:ext uri="{9D8B030D-6E8A-4147-A177-3AD203B41FA5}">
                      <a16:colId xmlns:a16="http://schemas.microsoft.com/office/drawing/2014/main" val="2046415649"/>
                    </a:ext>
                  </a:extLst>
                </a:gridCol>
                <a:gridCol w="2371139">
                  <a:extLst>
                    <a:ext uri="{9D8B030D-6E8A-4147-A177-3AD203B41FA5}">
                      <a16:colId xmlns:a16="http://schemas.microsoft.com/office/drawing/2014/main" val="210166307"/>
                    </a:ext>
                  </a:extLst>
                </a:gridCol>
                <a:gridCol w="1164323">
                  <a:extLst>
                    <a:ext uri="{9D8B030D-6E8A-4147-A177-3AD203B41FA5}">
                      <a16:colId xmlns:a16="http://schemas.microsoft.com/office/drawing/2014/main" val="3963015997"/>
                    </a:ext>
                  </a:extLst>
                </a:gridCol>
              </a:tblGrid>
              <a:tr h="228899">
                <a:tc gridSpan="3"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600" b="1" i="0" dirty="0">
                          <a:effectLst/>
                        </a:rPr>
                        <a:t>Live Beta – URLs for Program Finder Feature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endParaRPr lang="en-GB" sz="1600" b="0" i="0" dirty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324339"/>
                  </a:ext>
                </a:extLst>
              </a:tr>
              <a:tr h="22889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 dirty="0">
                          <a:effectLst/>
                          <a:latin typeface="Arial" panose="020B0604020202020204" pitchFamily="34" charset="0"/>
                        </a:rPr>
                        <a:t>URL EN </a:t>
                      </a:r>
                      <a:endParaRPr lang="en-GB" sz="1600" b="0" i="0" dirty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URL FR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Web Advisor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148532"/>
                  </a:ext>
                </a:extLst>
              </a:tr>
              <a:tr h="5235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3"/>
                        </a:rPr>
                        <a:t>Studying and working in Canada as an international student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4"/>
                        </a:rPr>
                        <a:t>Étudier et travailler au Canada à titre d’étudiant étranger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Ariana Emond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456997"/>
                  </a:ext>
                </a:extLst>
              </a:tr>
              <a:tr h="3762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5"/>
                        </a:rPr>
                        <a:t>Work in Canada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6"/>
                        </a:rPr>
                        <a:t>Travailler au Canada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John Wong + Liza Hamilton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889237"/>
                  </a:ext>
                </a:extLst>
              </a:tr>
              <a:tr h="5235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7"/>
                        </a:rPr>
                        <a:t>Sponsor your family members to immigrate to Canada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8"/>
                        </a:rPr>
                        <a:t>Parrainer les membres de votre famille pour qu’ils immigrent au Canada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Danna El-Arab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147633"/>
                  </a:ext>
                </a:extLst>
              </a:tr>
              <a:tr h="5235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9"/>
                        </a:rPr>
                        <a:t>Irregular border crossings and asylum in Canada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0"/>
                        </a:rPr>
                        <a:t>Passages irréguliers à la frontière et demande d’asile au Canada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Tracy Dransfield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347225"/>
                  </a:ext>
                </a:extLst>
              </a:tr>
              <a:tr h="5235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1"/>
                        </a:rPr>
                        <a:t>Study in Canada as an international student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2"/>
                        </a:rPr>
                        <a:t>Étudier au Canada à titre d’étudiant étranger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Ariana Emond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355728"/>
                  </a:ext>
                </a:extLst>
              </a:tr>
              <a:tr h="5235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3"/>
                        </a:rPr>
                        <a:t>Contact Immigration, Refugees and Citizenship Canada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4"/>
                        </a:rPr>
                        <a:t>Contactez Immigration, Réfugiés et Citoyenneté Canada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Aloisa Santos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80858"/>
                  </a:ext>
                </a:extLst>
              </a:tr>
              <a:tr h="3762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5"/>
                        </a:rPr>
                        <a:t>Extend your work permit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6"/>
                        </a:rPr>
                        <a:t>Prolonger votre permis de travail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John Wong &amp; Liza Hamilton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576421"/>
                  </a:ext>
                </a:extLst>
              </a:tr>
              <a:tr h="3762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7"/>
                        </a:rPr>
                        <a:t>Get a work permit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8"/>
                        </a:rPr>
                        <a:t>Obtenir un permis de travail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John Wong &amp; Liza Hamilton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563766"/>
                  </a:ext>
                </a:extLst>
              </a:tr>
              <a:tr h="3762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9"/>
                        </a:rPr>
                        <a:t>Parent and grandparent super visa - Canada.ca</a:t>
                      </a: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 dirty="0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20"/>
                        </a:rPr>
                        <a:t>Super visa pour parents et grands-parents - Canada.ca</a:t>
                      </a:r>
                      <a:r>
                        <a:rPr lang="fr-FR" sz="1000" b="0" i="0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 dirty="0">
                          <a:effectLst/>
                          <a:latin typeface="Arial" panose="020B0604020202020204" pitchFamily="34" charset="0"/>
                        </a:rPr>
                        <a:t>Sean Mueller </a:t>
                      </a:r>
                      <a:endParaRPr lang="en-GB" sz="1600" b="0" i="0" dirty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388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2014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415600" y="2646033"/>
            <a:ext cx="113608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US" sz="6667" dirty="0">
                <a:latin typeface="Heebo"/>
              </a:rPr>
              <a:t>Program Finder monitoring</a:t>
            </a:r>
          </a:p>
        </p:txBody>
      </p:sp>
      <p:sp>
        <p:nvSpPr>
          <p:cNvPr id="162" name="Google Shape;162;p28"/>
          <p:cNvSpPr txBox="1">
            <a:spLocks noGrp="1"/>
          </p:cNvSpPr>
          <p:nvPr>
            <p:ph type="title" idx="2"/>
          </p:nvPr>
        </p:nvSpPr>
        <p:spPr>
          <a:xfrm>
            <a:off x="415600" y="3650367"/>
            <a:ext cx="113608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 fontScale="90000"/>
          </a:bodyPr>
          <a:lstStyle/>
          <a:p>
            <a:r>
              <a:rPr lang="en-US">
                <a:latin typeface="Heebo"/>
              </a:rPr>
              <a:t>Explore immigration programs tool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Program finder</a:t>
            </a:r>
            <a:endParaRPr lang="en-US"/>
          </a:p>
        </p:txBody>
      </p:sp>
      <p:pic>
        <p:nvPicPr>
          <p:cNvPr id="8" name="Picture 7" descr="A group of people walking with a red maple leaf  Description automatically generated">
            <a:extLst>
              <a:ext uri="{FF2B5EF4-FFF2-40B4-BE49-F238E27FC236}">
                <a16:creationId xmlns:a16="http://schemas.microsoft.com/office/drawing/2014/main" id="{DC449F24-92D1-B9F7-FB43-CFD142F3C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20" y="1911048"/>
            <a:ext cx="5845040" cy="3556001"/>
          </a:xfrm>
          <a:prstGeom prst="rect">
            <a:avLst/>
          </a:prstGeom>
        </p:spPr>
      </p:pic>
      <p:pic>
        <p:nvPicPr>
          <p:cNvPr id="9" name="Picture 8" descr="A person in a blue shirt  Description automatically generated">
            <a:extLst>
              <a:ext uri="{FF2B5EF4-FFF2-40B4-BE49-F238E27FC236}">
                <a16:creationId xmlns:a16="http://schemas.microsoft.com/office/drawing/2014/main" id="{9A4F900F-EC00-FD1A-DAB3-9E9673729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619" y="1911048"/>
            <a:ext cx="5539620" cy="355600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Data sources for monitoring</a:t>
            </a:r>
            <a:endParaRPr lang="en-US" b="1">
              <a:latin typeface="Heebo"/>
            </a:endParaRPr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11360800" cy="480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380990" indent="-380990"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>Environmental scan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/>
              <a:t>Reddit, Canadavisa.com, Twitter, Facebook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 xml:space="preserve">Page feedback tool </a:t>
            </a:r>
            <a:r>
              <a:rPr lang="en-US"/>
              <a:t>comments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>Optimal Workshop</a:t>
            </a:r>
            <a:r>
              <a:rPr lang="en-US"/>
              <a:t xml:space="preserve"> survey (SUPR-Q score &amp; comments)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 xml:space="preserve">Adobe Analytics </a:t>
            </a:r>
            <a:r>
              <a:rPr lang="en-US"/>
              <a:t>dashboard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/>
              <a:t>Participation + completion rates, top selections, top results expanded, if users clicked to go to H2As, previous button clicks, 'Change answer' link clicks</a:t>
            </a:r>
          </a:p>
        </p:txBody>
      </p:sp>
    </p:spTree>
    <p:extLst>
      <p:ext uri="{BB962C8B-B14F-4D97-AF65-F5344CB8AC3E}">
        <p14:creationId xmlns:p14="http://schemas.microsoft.com/office/powerpoint/2010/main" val="10397352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Adobe Analytics dashboard</a:t>
            </a:r>
            <a:endParaRPr lang="en-US"/>
          </a:p>
        </p:txBody>
      </p:sp>
      <p:pic>
        <p:nvPicPr>
          <p:cNvPr id="4" name="Picture 3" descr="A screenshot of a computer screen  Description automatically generated">
            <a:extLst>
              <a:ext uri="{FF2B5EF4-FFF2-40B4-BE49-F238E27FC236}">
                <a16:creationId xmlns:a16="http://schemas.microsoft.com/office/drawing/2014/main" id="{3794424A-3337-1873-50FD-D0BEE400C5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77" t="16038" r="902" b="629"/>
          <a:stretch/>
        </p:blipFill>
        <p:spPr>
          <a:xfrm>
            <a:off x="415600" y="1711326"/>
            <a:ext cx="11369539" cy="320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486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6C7223-0991-501D-50DA-F36CBCFBD37B}"/>
              </a:ext>
            </a:extLst>
          </p:cNvPr>
          <p:cNvSpPr/>
          <p:nvPr/>
        </p:nvSpPr>
        <p:spPr>
          <a:xfrm>
            <a:off x="9936891" y="6065108"/>
            <a:ext cx="2171700" cy="514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Adobe Analytics dashboard</a:t>
            </a:r>
            <a:endParaRPr lang="en-US"/>
          </a:p>
        </p:txBody>
      </p:sp>
      <p:pic>
        <p:nvPicPr>
          <p:cNvPr id="6" name="Picture 5" descr="A screenshot of a computer  Description automatically generated">
            <a:extLst>
              <a:ext uri="{FF2B5EF4-FFF2-40B4-BE49-F238E27FC236}">
                <a16:creationId xmlns:a16="http://schemas.microsoft.com/office/drawing/2014/main" id="{17AB1695-6C8C-A00A-61AE-3708563B6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474" y="3250075"/>
            <a:ext cx="6942668" cy="3014871"/>
          </a:xfrm>
          <a:prstGeom prst="rect">
            <a:avLst/>
          </a:prstGeom>
        </p:spPr>
      </p:pic>
      <p:pic>
        <p:nvPicPr>
          <p:cNvPr id="7" name="Picture 6" descr="A screenshot of a computer  Description automatically generated">
            <a:extLst>
              <a:ext uri="{FF2B5EF4-FFF2-40B4-BE49-F238E27FC236}">
                <a16:creationId xmlns:a16="http://schemas.microsoft.com/office/drawing/2014/main" id="{114C72FB-1E47-D32C-689E-2D66C9E92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613" y="3247421"/>
            <a:ext cx="4644120" cy="3020636"/>
          </a:xfrm>
          <a:prstGeom prst="rect">
            <a:avLst/>
          </a:prstGeom>
        </p:spPr>
      </p:pic>
      <p:pic>
        <p:nvPicPr>
          <p:cNvPr id="3" name="Picture 2" descr="A screenshot of a computer  Description automatically generated">
            <a:extLst>
              <a:ext uri="{FF2B5EF4-FFF2-40B4-BE49-F238E27FC236}">
                <a16:creationId xmlns:a16="http://schemas.microsoft.com/office/drawing/2014/main" id="{14122575-1294-036F-AB1C-1EAF6A2F3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634" y="1130752"/>
            <a:ext cx="8588223" cy="183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6818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Client feedback: Page feedback tool &amp; SUPR-Q survey</a:t>
            </a:r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8FDCEC-D961-B0DC-F912-7F896C5D769C}"/>
              </a:ext>
            </a:extLst>
          </p:cNvPr>
          <p:cNvSpPr/>
          <p:nvPr/>
        </p:nvSpPr>
        <p:spPr>
          <a:xfrm>
            <a:off x="7408013" y="1295310"/>
            <a:ext cx="4367427" cy="2340481"/>
          </a:xfrm>
          <a:prstGeom prst="wedgeEllipseCallout">
            <a:avLst/>
          </a:prstGeom>
          <a:solidFill>
            <a:srgbClr val="E9E5F2"/>
          </a:solidFill>
          <a:ln w="6350">
            <a:solidFill>
              <a:srgbClr val="AA95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Heebo"/>
                <a:cs typeface="Heebo"/>
              </a:rPr>
              <a:t xml:space="preserve">When I went through this tool for PR opportunities, the final page provided a </a:t>
            </a:r>
            <a:r>
              <a:rPr lang="en-US" sz="1600" b="1">
                <a:solidFill>
                  <a:srgbClr val="000000"/>
                </a:solidFill>
                <a:latin typeface="Heebo"/>
                <a:cs typeface="Heebo"/>
              </a:rPr>
              <a:t xml:space="preserve">long list </a:t>
            </a:r>
            <a:r>
              <a:rPr lang="en-US" sz="1600">
                <a:solidFill>
                  <a:srgbClr val="000000"/>
                </a:solidFill>
                <a:latin typeface="Heebo"/>
                <a:cs typeface="Heebo"/>
              </a:rPr>
              <a:t xml:space="preserve">of PR programs. It would be nice to </a:t>
            </a:r>
            <a:r>
              <a:rPr lang="en-US" sz="1600" b="1">
                <a:solidFill>
                  <a:srgbClr val="000000"/>
                </a:solidFill>
                <a:latin typeface="Heebo"/>
                <a:cs typeface="Heebo"/>
              </a:rPr>
              <a:t>narrow the search</a:t>
            </a:r>
            <a:r>
              <a:rPr lang="en-US" sz="1600">
                <a:solidFill>
                  <a:srgbClr val="000000"/>
                </a:solidFill>
                <a:latin typeface="Heebo"/>
                <a:cs typeface="Heebo"/>
              </a:rPr>
              <a:t xml:space="preserve"> further through a filter system.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39A8700-2160-61F1-105B-1D7803F58B14}"/>
              </a:ext>
            </a:extLst>
          </p:cNvPr>
          <p:cNvSpPr/>
          <p:nvPr/>
        </p:nvSpPr>
        <p:spPr>
          <a:xfrm>
            <a:off x="5835954" y="4131233"/>
            <a:ext cx="4378271" cy="2042529"/>
          </a:xfrm>
          <a:prstGeom prst="wedgeEllipseCallout">
            <a:avLst/>
          </a:prstGeom>
          <a:solidFill>
            <a:srgbClr val="350267">
              <a:alpha val="67000"/>
            </a:srgbClr>
          </a:solidFill>
          <a:ln w="6350">
            <a:solidFill>
              <a:srgbClr val="3502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Heebo"/>
                <a:cs typeface="Heebo"/>
              </a:rPr>
              <a:t>The tool presents</a:t>
            </a:r>
            <a:r>
              <a:rPr lang="en-US" sz="1600" b="1">
                <a:solidFill>
                  <a:srgbClr val="FFFFFF"/>
                </a:solidFill>
                <a:latin typeface="Heebo"/>
                <a:cs typeface="Heebo"/>
              </a:rPr>
              <a:t xml:space="preserve"> too many options</a:t>
            </a:r>
            <a:r>
              <a:rPr lang="en-US" sz="1600">
                <a:solidFill>
                  <a:srgbClr val="FFFFFF"/>
                </a:solidFill>
                <a:latin typeface="Heebo"/>
                <a:cs typeface="Heebo"/>
              </a:rPr>
              <a:t xml:space="preserve"> that aren't really viable for people. I think you should add more questions, </a:t>
            </a:r>
            <a:r>
              <a:rPr lang="en-US" sz="1600" b="1">
                <a:solidFill>
                  <a:srgbClr val="FFFFFF"/>
                </a:solidFill>
                <a:latin typeface="Heebo"/>
                <a:cs typeface="Heebo"/>
              </a:rPr>
              <a:t>so the results are more tailored</a:t>
            </a:r>
            <a:r>
              <a:rPr lang="en-US" sz="1600">
                <a:solidFill>
                  <a:srgbClr val="FFFFFF"/>
                </a:solidFill>
                <a:latin typeface="Heebo"/>
                <a:cs typeface="Heebo"/>
              </a:rPr>
              <a:t>... </a:t>
            </a:r>
            <a:endParaRPr lang="en-US" sz="1600">
              <a:solidFill>
                <a:srgbClr val="FFFFFF"/>
              </a:solidFill>
              <a:latin typeface="Heebo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AB4B9-D4CF-805E-13F6-CEAABED64CBA}"/>
              </a:ext>
            </a:extLst>
          </p:cNvPr>
          <p:cNvSpPr txBox="1"/>
          <p:nvPr/>
        </p:nvSpPr>
        <p:spPr>
          <a:xfrm>
            <a:off x="169923" y="1299833"/>
            <a:ext cx="6437871" cy="2596753"/>
          </a:xfrm>
          <a:prstGeom prst="wedgeEllipseCallout">
            <a:avLst/>
          </a:prstGeom>
          <a:solidFill>
            <a:srgbClr val="350267">
              <a:alpha val="67000"/>
            </a:srgbClr>
          </a:solidFill>
          <a:ln w="6350">
            <a:solidFill>
              <a:srgbClr val="350267"/>
            </a:solidFill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Heebo"/>
              </a:rPr>
              <a:t xml:space="preserve">...I used the tool just now and was given links to ALL of the economic immigration programs. </a:t>
            </a:r>
            <a:r>
              <a:rPr lang="en-US" sz="1600" b="1">
                <a:solidFill>
                  <a:srgbClr val="FFFFFF"/>
                </a:solidFill>
                <a:latin typeface="Heebo"/>
              </a:rPr>
              <a:t>It's way too much/overwhelming</a:t>
            </a:r>
            <a:r>
              <a:rPr lang="en-US" sz="1600">
                <a:solidFill>
                  <a:srgbClr val="FFFFFF"/>
                </a:solidFill>
                <a:latin typeface="Heebo"/>
              </a:rPr>
              <a:t xml:space="preserve"> for someone who knows nothing about IRCC's immigration programs. Please improve the tool by </a:t>
            </a:r>
            <a:r>
              <a:rPr lang="en-US" sz="1600" b="1">
                <a:solidFill>
                  <a:srgbClr val="FFFFFF"/>
                </a:solidFill>
                <a:latin typeface="Heebo"/>
              </a:rPr>
              <a:t>adding more questions/filters</a:t>
            </a:r>
            <a:r>
              <a:rPr lang="en-US" sz="1600">
                <a:solidFill>
                  <a:srgbClr val="FFFFFF"/>
                </a:solidFill>
                <a:latin typeface="Heebo"/>
              </a:rPr>
              <a:t xml:space="preserve"> before suggesting which programs to apply to.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A0946F50-9C96-2B99-063D-6F7434D72617}"/>
              </a:ext>
            </a:extLst>
          </p:cNvPr>
          <p:cNvSpPr/>
          <p:nvPr/>
        </p:nvSpPr>
        <p:spPr>
          <a:xfrm>
            <a:off x="2955325" y="4252783"/>
            <a:ext cx="2430161" cy="1812324"/>
          </a:xfrm>
          <a:prstGeom prst="wedgeEllipseCallout">
            <a:avLst/>
          </a:prstGeom>
          <a:solidFill>
            <a:srgbClr val="E9E5F2"/>
          </a:solidFill>
          <a:ln w="6350">
            <a:solidFill>
              <a:srgbClr val="AA95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ebo"/>
                <a:cs typeface="Arial"/>
              </a:rPr>
              <a:t xml:space="preserve">If [I] get </a:t>
            </a:r>
            <a:r>
              <a:rPr lang="en-US" sz="2400" b="1">
                <a:solidFill>
                  <a:srgbClr val="000000"/>
                </a:solidFill>
                <a:latin typeface="Heebo"/>
                <a:cs typeface="Arial"/>
              </a:rPr>
              <a:t xml:space="preserve">short </a:t>
            </a:r>
            <a:r>
              <a:rPr lang="en-US" sz="2400">
                <a:solidFill>
                  <a:srgbClr val="000000"/>
                </a:solidFill>
                <a:latin typeface="Heebo"/>
                <a:cs typeface="Arial"/>
              </a:rPr>
              <a:t>information, it would be great.</a:t>
            </a:r>
            <a:endParaRPr lang="en-US" sz="2400">
              <a:solidFill>
                <a:srgbClr val="000000"/>
              </a:solidFill>
              <a:latin typeface="Heebo"/>
              <a:cs typeface="Heebo"/>
            </a:endParaRPr>
          </a:p>
        </p:txBody>
      </p:sp>
    </p:spTree>
    <p:extLst>
      <p:ext uri="{BB962C8B-B14F-4D97-AF65-F5344CB8AC3E}">
        <p14:creationId xmlns:p14="http://schemas.microsoft.com/office/powerpoint/2010/main" val="42765265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Changes made to Program Finder</a:t>
            </a:r>
            <a:endParaRPr lang="en-US"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11360800" cy="480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380990" indent="-380990">
              <a:spcAft>
                <a:spcPts val="1600"/>
              </a:spcAft>
            </a:pPr>
            <a:r>
              <a:rPr lang="en-US"/>
              <a:t>Continued phased</a:t>
            </a:r>
            <a:r>
              <a:rPr lang="en-US" b="1"/>
              <a:t xml:space="preserve"> </a:t>
            </a:r>
            <a:r>
              <a:rPr lang="en-US" b="1">
                <a:solidFill>
                  <a:srgbClr val="350267"/>
                </a:solidFill>
              </a:rPr>
              <a:t>roll-out</a:t>
            </a:r>
            <a:r>
              <a:rPr lang="en-US" b="1"/>
              <a:t xml:space="preserve"> </a:t>
            </a:r>
            <a:r>
              <a:rPr lang="en-US"/>
              <a:t>based on positive feedback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/>
              <a:t>Removed </a:t>
            </a:r>
            <a:r>
              <a:rPr lang="en-US" b="1">
                <a:solidFill>
                  <a:srgbClr val="350267"/>
                </a:solidFill>
              </a:rPr>
              <a:t>Special measures</a:t>
            </a:r>
            <a:r>
              <a:rPr lang="en-US" b="1"/>
              <a:t xml:space="preserve"> </a:t>
            </a:r>
            <a:r>
              <a:rPr lang="en-US"/>
              <a:t>link from landing page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/>
              <a:t>Analytics data showed most visitors weren't continuing to a special measure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/>
              <a:t xml:space="preserve">Tweaks to </a:t>
            </a:r>
            <a:r>
              <a:rPr lang="en-US" b="1">
                <a:solidFill>
                  <a:srgbClr val="350267"/>
                </a:solidFill>
              </a:rPr>
              <a:t>Work branch + results list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/>
              <a:t xml:space="preserve">Feedback showed users were </a:t>
            </a:r>
            <a:r>
              <a:rPr lang="en-US" b="1">
                <a:solidFill>
                  <a:srgbClr val="350267"/>
                </a:solidFill>
              </a:rPr>
              <a:t>overwhelmed</a:t>
            </a:r>
            <a:r>
              <a:rPr lang="en-US"/>
              <a:t xml:space="preserve"> with amount of results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 b="1">
                <a:solidFill>
                  <a:srgbClr val="350267"/>
                </a:solidFill>
              </a:rPr>
              <a:t xml:space="preserve">Iterated </a:t>
            </a:r>
            <a:r>
              <a:rPr lang="en-US"/>
              <a:t>multiple versions of questions under Work branch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 b="1">
                <a:solidFill>
                  <a:srgbClr val="350267"/>
                </a:solidFill>
              </a:rPr>
              <a:t xml:space="preserve">Merged </a:t>
            </a:r>
            <a:r>
              <a:rPr lang="en-US"/>
              <a:t>individual streams (e.g. EE, PNP, Home child care...) into one result for entire program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0098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3FCE160-F52C-0BD6-E8C6-A9C15A42E2B6}"/>
              </a:ext>
            </a:extLst>
          </p:cNvPr>
          <p:cNvSpPr txBox="1"/>
          <p:nvPr/>
        </p:nvSpPr>
        <p:spPr>
          <a:xfrm>
            <a:off x="157288" y="3257034"/>
            <a:ext cx="4138739" cy="348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67" b="1" dirty="0">
                <a:latin typeface="Heebo"/>
                <a:cs typeface="Heebo"/>
              </a:rPr>
              <a:t xml:space="preserve">'Work permanently' branch: </a:t>
            </a:r>
            <a:r>
              <a:rPr lang="en-US" sz="1467" b="1" dirty="0">
                <a:solidFill>
                  <a:srgbClr val="600DB4"/>
                </a:solidFill>
                <a:latin typeface="Heebo"/>
                <a:cs typeface="Heebo"/>
              </a:rPr>
              <a:t>Before</a:t>
            </a:r>
            <a:endParaRPr lang="en-US" sz="2400" b="1">
              <a:solidFill>
                <a:srgbClr val="600DB4"/>
              </a:solidFill>
            </a:endParaRPr>
          </a:p>
        </p:txBody>
      </p:sp>
      <p:sp>
        <p:nvSpPr>
          <p:cNvPr id="5" name="Google Shape;132;p23">
            <a:extLst>
              <a:ext uri="{FF2B5EF4-FFF2-40B4-BE49-F238E27FC236}">
                <a16:creationId xmlns:a16="http://schemas.microsoft.com/office/drawing/2014/main" id="{BD5EBFA0-B10B-A828-6BB1-AA4C1A97A8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 dirty="0">
                <a:latin typeface="Heebo"/>
              </a:rPr>
              <a:t>Streamlining questions in Work branch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2460B-5630-AEBD-55EE-ADC5E0E998D4}"/>
              </a:ext>
            </a:extLst>
          </p:cNvPr>
          <p:cNvSpPr txBox="1"/>
          <p:nvPr/>
        </p:nvSpPr>
        <p:spPr>
          <a:xfrm>
            <a:off x="239666" y="5851954"/>
            <a:ext cx="3356145" cy="348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67" b="1" dirty="0">
                <a:latin typeface="Heebo"/>
              </a:rPr>
              <a:t>'Work permanently' branch:</a:t>
            </a:r>
            <a:r>
              <a:rPr lang="en-US" sz="1467" b="1" dirty="0">
                <a:solidFill>
                  <a:srgbClr val="7F7F7F"/>
                </a:solidFill>
                <a:latin typeface="Heebo"/>
              </a:rPr>
              <a:t xml:space="preserve"> </a:t>
            </a:r>
            <a:r>
              <a:rPr lang="en-US" sz="1467" b="1" dirty="0">
                <a:solidFill>
                  <a:srgbClr val="600DB4"/>
                </a:solidFill>
                <a:latin typeface="Heebo"/>
              </a:rPr>
              <a:t>After</a:t>
            </a:r>
            <a:endParaRPr lang="en-US" sz="1467" b="1" dirty="0">
              <a:solidFill>
                <a:srgbClr val="600DB4"/>
              </a:solidFill>
              <a:latin typeface="Heebo"/>
              <a:cs typeface="Heebo"/>
            </a:endParaRPr>
          </a:p>
        </p:txBody>
      </p:sp>
      <p:pic>
        <p:nvPicPr>
          <p:cNvPr id="11" name="Picture 10" descr="A white background with black text  Description automatically generated">
            <a:extLst>
              <a:ext uri="{FF2B5EF4-FFF2-40B4-BE49-F238E27FC236}">
                <a16:creationId xmlns:a16="http://schemas.microsoft.com/office/drawing/2014/main" id="{49D19BB8-A985-F6C9-8BD9-12212312A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08" y="4329843"/>
            <a:ext cx="5871517" cy="151404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2" name="Picture 11" descr="A white background with black text  Description automatically generated">
            <a:extLst>
              <a:ext uri="{FF2B5EF4-FFF2-40B4-BE49-F238E27FC236}">
                <a16:creationId xmlns:a16="http://schemas.microsoft.com/office/drawing/2014/main" id="{D8005BA1-78F4-7DFD-47D0-E7E4F36EC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749" y="4412221"/>
            <a:ext cx="5212833" cy="144265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5" name="Picture 14" descr="A screenshot of a white background  Description automatically generated">
            <a:extLst>
              <a:ext uri="{FF2B5EF4-FFF2-40B4-BE49-F238E27FC236}">
                <a16:creationId xmlns:a16="http://schemas.microsoft.com/office/drawing/2014/main" id="{EF512034-7D83-0254-F85E-D24935772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9361" y="1279611"/>
            <a:ext cx="2889767" cy="186381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6" name="Picture 15" descr="A white background with black text  Description automatically generated">
            <a:extLst>
              <a:ext uri="{FF2B5EF4-FFF2-40B4-BE49-F238E27FC236}">
                <a16:creationId xmlns:a16="http://schemas.microsoft.com/office/drawing/2014/main" id="{80BE78A4-B04A-6931-D86B-B091561C9D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568" y="2010719"/>
            <a:ext cx="2695491" cy="113133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7" name="Picture 16" descr="A white background with black text  Description automatically generated">
            <a:extLst>
              <a:ext uri="{FF2B5EF4-FFF2-40B4-BE49-F238E27FC236}">
                <a16:creationId xmlns:a16="http://schemas.microsoft.com/office/drawing/2014/main" id="{F05787C8-5231-DE9B-2282-DFFAEFFE1D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0127" y="1578233"/>
            <a:ext cx="3195939" cy="156553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9" name="Picture 18" descr="A white background with black text  Description automatically generated">
            <a:extLst>
              <a:ext uri="{FF2B5EF4-FFF2-40B4-BE49-F238E27FC236}">
                <a16:creationId xmlns:a16="http://schemas.microsoft.com/office/drawing/2014/main" id="{5EA69E9C-3D0D-F3E2-EC71-15B83630A5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154" y="1537043"/>
            <a:ext cx="2890452" cy="1600887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270701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 Description automatically generated">
            <a:extLst>
              <a:ext uri="{FF2B5EF4-FFF2-40B4-BE49-F238E27FC236}">
                <a16:creationId xmlns:a16="http://schemas.microsoft.com/office/drawing/2014/main" id="{2DB28369-65C1-F1B8-1D21-48993A7CE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66" y="1124467"/>
            <a:ext cx="6199695" cy="5524500"/>
          </a:xfrm>
          <a:prstGeom prst="rect">
            <a:avLst/>
          </a:prstGeom>
        </p:spPr>
      </p:pic>
      <p:sp>
        <p:nvSpPr>
          <p:cNvPr id="10" name="Google Shape;132;p23">
            <a:extLst>
              <a:ext uri="{FF2B5EF4-FFF2-40B4-BE49-F238E27FC236}">
                <a16:creationId xmlns:a16="http://schemas.microsoft.com/office/drawing/2014/main" id="{470974DC-CB91-E43A-689A-77667431E8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 dirty="0">
                <a:latin typeface="Heebo"/>
              </a:rPr>
              <a:t>Merging results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A147D-9ABB-192A-D19C-3FD36D935901}"/>
              </a:ext>
            </a:extLst>
          </p:cNvPr>
          <p:cNvSpPr txBox="1"/>
          <p:nvPr/>
        </p:nvSpPr>
        <p:spPr>
          <a:xfrm>
            <a:off x="6822539" y="2745775"/>
            <a:ext cx="4764880" cy="17642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33" b="1" dirty="0">
                <a:solidFill>
                  <a:srgbClr val="350267"/>
                </a:solidFill>
                <a:latin typeface="Heebo"/>
              </a:rPr>
              <a:t xml:space="preserve">Merged </a:t>
            </a:r>
            <a:r>
              <a:rPr lang="en-US" sz="2133" dirty="0">
                <a:latin typeface="Heebo"/>
              </a:rPr>
              <a:t xml:space="preserve">individual streams (e.g. EE, PNP, Home child care...) into one result for entire program, as feedback showed users were </a:t>
            </a:r>
            <a:r>
              <a:rPr lang="en-US" sz="2133" b="1" dirty="0">
                <a:solidFill>
                  <a:srgbClr val="350267"/>
                </a:solidFill>
                <a:latin typeface="Heebo"/>
              </a:rPr>
              <a:t>overwhelmed</a:t>
            </a:r>
            <a:r>
              <a:rPr lang="en-US" sz="2133" dirty="0">
                <a:latin typeface="Heebo"/>
              </a:rPr>
              <a:t xml:space="preserve"> with amount of results</a:t>
            </a:r>
          </a:p>
        </p:txBody>
      </p:sp>
    </p:spTree>
    <p:extLst>
      <p:ext uri="{BB962C8B-B14F-4D97-AF65-F5344CB8AC3E}">
        <p14:creationId xmlns:p14="http://schemas.microsoft.com/office/powerpoint/2010/main" val="31877780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415600" y="2646033"/>
            <a:ext cx="113608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US" sz="6667" dirty="0">
                <a:latin typeface="Heebo"/>
              </a:rPr>
              <a:t>Account Chooser</a:t>
            </a:r>
            <a:endParaRPr lang="en-US" dirty="0"/>
          </a:p>
        </p:txBody>
      </p:sp>
      <p:sp>
        <p:nvSpPr>
          <p:cNvPr id="162" name="Google Shape;162;p28"/>
          <p:cNvSpPr txBox="1">
            <a:spLocks noGrp="1"/>
          </p:cNvSpPr>
          <p:nvPr>
            <p:ph type="title" idx="2"/>
          </p:nvPr>
        </p:nvSpPr>
        <p:spPr>
          <a:xfrm>
            <a:off x="415600" y="3650367"/>
            <a:ext cx="113608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 fontScale="90000"/>
          </a:bodyPr>
          <a:lstStyle/>
          <a:p>
            <a:r>
              <a:rPr lang="en-US">
                <a:latin typeface="Heebo"/>
              </a:rPr>
              <a:t>Wizard to help users find the right IRCC account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582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Account chooser</a:t>
            </a:r>
            <a:endParaRPr lang="en-US"/>
          </a:p>
        </p:txBody>
      </p:sp>
      <p:pic>
        <p:nvPicPr>
          <p:cNvPr id="4" name="Picture 3" descr="A screenshot of a registration form  Description automatically generated">
            <a:extLst>
              <a:ext uri="{FF2B5EF4-FFF2-40B4-BE49-F238E27FC236}">
                <a16:creationId xmlns:a16="http://schemas.microsoft.com/office/drawing/2014/main" id="{1D3A47BD-1DA8-D201-4D8A-D24D561FC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496786"/>
            <a:ext cx="5638800" cy="4076700"/>
          </a:xfrm>
          <a:prstGeom prst="rect">
            <a:avLst/>
          </a:prstGeom>
        </p:spPr>
      </p:pic>
      <p:pic>
        <p:nvPicPr>
          <p:cNvPr id="5" name="Picture 4" descr="A screenshot of a computer  Description automatically generated">
            <a:extLst>
              <a:ext uri="{FF2B5EF4-FFF2-40B4-BE49-F238E27FC236}">
                <a16:creationId xmlns:a16="http://schemas.microsoft.com/office/drawing/2014/main" id="{16984925-5F0E-8482-859F-DA275E90C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0" y="1493762"/>
            <a:ext cx="59944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360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Data sources for monitoring</a:t>
            </a:r>
            <a:endParaRPr lang="en-US" b="1">
              <a:latin typeface="Heebo"/>
            </a:endParaRPr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11360800" cy="480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380990" indent="-380990"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>Environmental scan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/>
              <a:t>Reddit, Canadavisa.com, Twitter, Facebook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 xml:space="preserve">Page feedback tool </a:t>
            </a:r>
            <a:r>
              <a:rPr lang="en-US"/>
              <a:t>comments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>Adobe Analytics</a:t>
            </a:r>
            <a:r>
              <a:rPr lang="en-US"/>
              <a:t xml:space="preserve"> dashboard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/>
              <a:t>Participation + completion rates, top selections, most popular accounts/destinations, back button clicks, inside/outside Canada</a:t>
            </a:r>
          </a:p>
        </p:txBody>
      </p:sp>
    </p:spTree>
    <p:extLst>
      <p:ext uri="{BB962C8B-B14F-4D97-AF65-F5344CB8AC3E}">
        <p14:creationId xmlns:p14="http://schemas.microsoft.com/office/powerpoint/2010/main" val="28902619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Adobe Analytics dashboard</a:t>
            </a:r>
            <a:endParaRPr lang="en-US"/>
          </a:p>
        </p:txBody>
      </p:sp>
      <p:pic>
        <p:nvPicPr>
          <p:cNvPr id="2" name="Picture 1" descr="A screenshot of a graph  Description automatically generated">
            <a:extLst>
              <a:ext uri="{FF2B5EF4-FFF2-40B4-BE49-F238E27FC236}">
                <a16:creationId xmlns:a16="http://schemas.microsoft.com/office/drawing/2014/main" id="{C13E1C9E-72FD-0AEC-7444-3166FFA05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61" y="1305995"/>
            <a:ext cx="9664096" cy="465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33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Adobe Analytics dashboard</a:t>
            </a:r>
            <a:endParaRPr lang="en-US"/>
          </a:p>
        </p:txBody>
      </p:sp>
      <p:pic>
        <p:nvPicPr>
          <p:cNvPr id="2" name="Picture 1" descr="A screenshot of a computer  Description automatically generated">
            <a:extLst>
              <a:ext uri="{FF2B5EF4-FFF2-40B4-BE49-F238E27FC236}">
                <a16:creationId xmlns:a16="http://schemas.microsoft.com/office/drawing/2014/main" id="{3A9E0FA1-B6DE-A017-C91A-F5A977360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24" y="1196917"/>
            <a:ext cx="9772953" cy="493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844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Client feedback: Page feedback tool </a:t>
            </a:r>
            <a:endParaRPr lang="en-US"/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A0946F50-9C96-2B99-063D-6F7434D72617}"/>
              </a:ext>
            </a:extLst>
          </p:cNvPr>
          <p:cNvSpPr/>
          <p:nvPr/>
        </p:nvSpPr>
        <p:spPr>
          <a:xfrm>
            <a:off x="504568" y="3789405"/>
            <a:ext cx="2800864" cy="1194487"/>
          </a:xfrm>
          <a:prstGeom prst="wedgeEllipseCallout">
            <a:avLst/>
          </a:prstGeom>
          <a:solidFill>
            <a:srgbClr val="E9E5F2"/>
          </a:solidFill>
          <a:ln w="6350">
            <a:solidFill>
              <a:srgbClr val="AA95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Sign in to </a:t>
            </a:r>
            <a:r>
              <a:rPr lang="en-US" sz="1600" b="1" err="1">
                <a:solidFill>
                  <a:schemeClr val="tx1"/>
                </a:solidFill>
                <a:ea typeface="+mn-lt"/>
                <a:cs typeface="+mn-lt"/>
              </a:rPr>
              <a:t>GCKey</a:t>
            </a:r>
            <a:endParaRPr lang="en-US" sz="1600" err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67725594-482B-2636-2606-D8A5B637D4F6}"/>
              </a:ext>
            </a:extLst>
          </p:cNvPr>
          <p:cNvSpPr/>
          <p:nvPr/>
        </p:nvSpPr>
        <p:spPr>
          <a:xfrm>
            <a:off x="501952" y="1577501"/>
            <a:ext cx="2710109" cy="1352611"/>
          </a:xfrm>
          <a:prstGeom prst="wedgeEllipseCallout">
            <a:avLst/>
          </a:prstGeom>
          <a:solidFill>
            <a:srgbClr val="350267">
              <a:alpha val="67000"/>
            </a:srgbClr>
          </a:solidFill>
          <a:ln w="6350">
            <a:solidFill>
              <a:srgbClr val="3502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Heebo"/>
                <a:ea typeface="+mn-lt"/>
                <a:cs typeface="Heebo"/>
              </a:rPr>
              <a:t>How to create a </a:t>
            </a:r>
            <a:r>
              <a:rPr lang="en-US" sz="1600" b="1" err="1">
                <a:solidFill>
                  <a:srgbClr val="FFFFFF"/>
                </a:solidFill>
                <a:latin typeface="Heebo"/>
                <a:ea typeface="+mn-lt"/>
                <a:cs typeface="Heebo"/>
              </a:rPr>
              <a:t>GCKey</a:t>
            </a:r>
            <a:r>
              <a:rPr lang="en-US" sz="1600" b="1">
                <a:solidFill>
                  <a:srgbClr val="FFFFFF"/>
                </a:solidFill>
                <a:latin typeface="Heebo"/>
                <a:ea typeface="+mn-lt"/>
                <a:cs typeface="Heebo"/>
              </a:rPr>
              <a:t xml:space="preserve"> </a:t>
            </a:r>
            <a:r>
              <a:rPr lang="en-US" sz="1600">
                <a:solidFill>
                  <a:srgbClr val="FFFFFF"/>
                </a:solidFill>
                <a:latin typeface="Heebo"/>
                <a:ea typeface="+mn-lt"/>
                <a:cs typeface="Heebo"/>
              </a:rPr>
              <a:t>account</a:t>
            </a:r>
            <a:endParaRPr lang="en-US" sz="2400">
              <a:latin typeface="Heebo"/>
              <a:cs typeface="Heebo"/>
            </a:endParaRPr>
          </a:p>
        </p:txBody>
      </p:sp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6AE68ED6-B8CE-BDB8-57DD-03E443309E84}"/>
              </a:ext>
            </a:extLst>
          </p:cNvPr>
          <p:cNvSpPr/>
          <p:nvPr/>
        </p:nvSpPr>
        <p:spPr>
          <a:xfrm>
            <a:off x="3972143" y="5057987"/>
            <a:ext cx="2710109" cy="1352611"/>
          </a:xfrm>
          <a:prstGeom prst="wedgeEllipseCallout">
            <a:avLst/>
          </a:prstGeom>
          <a:solidFill>
            <a:srgbClr val="E9E5F2"/>
          </a:solidFill>
          <a:ln w="6350">
            <a:solidFill>
              <a:srgbClr val="AA95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Heebo"/>
                <a:cs typeface="Arial"/>
              </a:rPr>
              <a:t xml:space="preserve">Search for </a:t>
            </a:r>
            <a:r>
              <a:rPr lang="en-US" sz="1600" b="1">
                <a:solidFill>
                  <a:srgbClr val="000000"/>
                </a:solidFill>
                <a:latin typeface="Heebo"/>
                <a:cs typeface="Arial"/>
              </a:rPr>
              <a:t>create an account</a:t>
            </a:r>
          </a:p>
        </p:txBody>
      </p:sp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839FB978-869A-53A3-9439-3505322E0B41}"/>
              </a:ext>
            </a:extLst>
          </p:cNvPr>
          <p:cNvSpPr/>
          <p:nvPr/>
        </p:nvSpPr>
        <p:spPr>
          <a:xfrm>
            <a:off x="4098323" y="1297459"/>
            <a:ext cx="2800864" cy="1194487"/>
          </a:xfrm>
          <a:prstGeom prst="wedgeEllipseCallout">
            <a:avLst/>
          </a:prstGeom>
          <a:solidFill>
            <a:srgbClr val="E9E5F2"/>
          </a:solidFill>
          <a:ln w="6350">
            <a:solidFill>
              <a:srgbClr val="AA95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Heebo"/>
                <a:ea typeface="+mn-lt"/>
                <a:cs typeface="Heebo"/>
              </a:rPr>
              <a:t>Sign in</a:t>
            </a:r>
            <a:r>
              <a:rPr lang="en-US" sz="1600">
                <a:solidFill>
                  <a:schemeClr val="tx1"/>
                </a:solidFill>
                <a:latin typeface="Heebo"/>
                <a:ea typeface="+mn-lt"/>
                <a:cs typeface="Heebo"/>
              </a:rPr>
              <a:t xml:space="preserve"> to my IRCC account</a:t>
            </a:r>
            <a:endParaRPr lang="en-US" sz="2400">
              <a:solidFill>
                <a:schemeClr val="tx1"/>
              </a:solidFill>
              <a:latin typeface="Heebo"/>
              <a:cs typeface="Heebo"/>
            </a:endParaRPr>
          </a:p>
        </p:txBody>
      </p:sp>
      <p:sp>
        <p:nvSpPr>
          <p:cNvPr id="12" name="Rectangle: Rounded Corners 2">
            <a:extLst>
              <a:ext uri="{FF2B5EF4-FFF2-40B4-BE49-F238E27FC236}">
                <a16:creationId xmlns:a16="http://schemas.microsoft.com/office/drawing/2014/main" id="{B147D22E-F6F3-2C49-6044-98D5A7CAF7AB}"/>
              </a:ext>
            </a:extLst>
          </p:cNvPr>
          <p:cNvSpPr/>
          <p:nvPr/>
        </p:nvSpPr>
        <p:spPr>
          <a:xfrm>
            <a:off x="3704412" y="2936744"/>
            <a:ext cx="2710109" cy="1352611"/>
          </a:xfrm>
          <a:prstGeom prst="wedgeEllipseCallout">
            <a:avLst/>
          </a:prstGeom>
          <a:solidFill>
            <a:srgbClr val="350267">
              <a:alpha val="67000"/>
            </a:srgbClr>
          </a:solidFill>
          <a:ln w="6350">
            <a:solidFill>
              <a:srgbClr val="3502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r>
              <a:rPr lang="en-US" sz="1600">
                <a:solidFill>
                  <a:srgbClr val="FFFFFF"/>
                </a:solidFill>
                <a:latin typeface="Heebo"/>
                <a:ea typeface="+mn-lt"/>
                <a:cs typeface="Heebo"/>
              </a:rPr>
              <a:t>Just add a s</a:t>
            </a:r>
            <a:r>
              <a:rPr lang="en-US" sz="1600" b="1">
                <a:solidFill>
                  <a:srgbClr val="FFFFFF"/>
                </a:solidFill>
                <a:latin typeface="Heebo"/>
                <a:ea typeface="+mn-lt"/>
                <a:cs typeface="Heebo"/>
              </a:rPr>
              <a:t>ign in tab</a:t>
            </a:r>
            <a:r>
              <a:rPr lang="en-US" sz="1600">
                <a:solidFill>
                  <a:srgbClr val="FFFFFF"/>
                </a:solidFill>
                <a:latin typeface="Heebo"/>
                <a:ea typeface="+mn-lt"/>
                <a:cs typeface="Heebo"/>
              </a:rPr>
              <a:t xml:space="preserve"> for God's sake</a:t>
            </a:r>
          </a:p>
        </p:txBody>
      </p: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66A65C5D-2D46-509D-3150-72C2378E0875}"/>
              </a:ext>
            </a:extLst>
          </p:cNvPr>
          <p:cNvSpPr/>
          <p:nvPr/>
        </p:nvSpPr>
        <p:spPr>
          <a:xfrm>
            <a:off x="7630299" y="1523997"/>
            <a:ext cx="3737917" cy="1935891"/>
          </a:xfrm>
          <a:prstGeom prst="wedgeEllipseCallout">
            <a:avLst/>
          </a:prstGeom>
          <a:solidFill>
            <a:srgbClr val="785599"/>
          </a:solidFill>
          <a:ln w="6350">
            <a:solidFill>
              <a:srgbClr val="3502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467" dirty="0">
                <a:solidFill>
                  <a:schemeClr val="bg1"/>
                </a:solidFill>
                <a:latin typeface="Heebo"/>
                <a:ea typeface="+mn-lt"/>
                <a:cs typeface="Heebo"/>
              </a:rPr>
              <a:t xml:space="preserve">...This new categorized view is taking me to the login page anyways and just </a:t>
            </a:r>
            <a:r>
              <a:rPr lang="en-US" sz="1467" b="1" dirty="0">
                <a:solidFill>
                  <a:schemeClr val="bg1"/>
                </a:solidFill>
                <a:latin typeface="Heebo"/>
                <a:ea typeface="+mn-lt"/>
                <a:cs typeface="Heebo"/>
              </a:rPr>
              <a:t>adds extra steps</a:t>
            </a:r>
            <a:r>
              <a:rPr lang="en-US" sz="1467" dirty="0">
                <a:solidFill>
                  <a:schemeClr val="bg1"/>
                </a:solidFill>
                <a:latin typeface="Heebo"/>
                <a:ea typeface="+mn-lt"/>
                <a:cs typeface="Heebo"/>
              </a:rPr>
              <a:t xml:space="preserve"> for me to login.</a:t>
            </a:r>
            <a:endParaRPr lang="en-US" sz="1467">
              <a:solidFill>
                <a:schemeClr val="bg1"/>
              </a:solidFill>
              <a:latin typeface="Heebo"/>
              <a:cs typeface="Heebo"/>
            </a:endParaRPr>
          </a:p>
        </p:txBody>
      </p:sp>
      <p:sp>
        <p:nvSpPr>
          <p:cNvPr id="15" name="Rectangle: Rounded Corners 2">
            <a:extLst>
              <a:ext uri="{FF2B5EF4-FFF2-40B4-BE49-F238E27FC236}">
                <a16:creationId xmlns:a16="http://schemas.microsoft.com/office/drawing/2014/main" id="{05121C88-8742-5BCD-2C7B-7C2582CC506D}"/>
              </a:ext>
            </a:extLst>
          </p:cNvPr>
          <p:cNvSpPr/>
          <p:nvPr/>
        </p:nvSpPr>
        <p:spPr>
          <a:xfrm>
            <a:off x="7205492" y="3997365"/>
            <a:ext cx="4069352" cy="1733611"/>
          </a:xfrm>
          <a:prstGeom prst="wedgeEllipseCallout">
            <a:avLst/>
          </a:prstGeom>
          <a:solidFill>
            <a:srgbClr val="E9E5F2"/>
          </a:solidFill>
          <a:ln w="6350">
            <a:solidFill>
              <a:srgbClr val="AA95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467">
                <a:solidFill>
                  <a:srgbClr val="000000"/>
                </a:solidFill>
                <a:latin typeface="Heebo"/>
                <a:ea typeface="+mn-lt"/>
                <a:cs typeface="Heebo"/>
              </a:rPr>
              <a:t xml:space="preserve">IRCC just complicated the process of signing in with </a:t>
            </a:r>
            <a:r>
              <a:rPr lang="en-US" sz="1467" err="1">
                <a:solidFill>
                  <a:srgbClr val="000000"/>
                </a:solidFill>
                <a:latin typeface="Heebo"/>
                <a:ea typeface="+mn-lt"/>
                <a:cs typeface="Heebo"/>
              </a:rPr>
              <a:t>GCKey</a:t>
            </a:r>
            <a:r>
              <a:rPr lang="en-US" sz="1467">
                <a:solidFill>
                  <a:srgbClr val="000000"/>
                </a:solidFill>
                <a:latin typeface="Heebo"/>
                <a:ea typeface="+mn-lt"/>
                <a:cs typeface="Heebo"/>
              </a:rPr>
              <a:t xml:space="preserve">... please do not waste other people's time with these </a:t>
            </a:r>
            <a:r>
              <a:rPr lang="en-US" sz="1467" b="1">
                <a:solidFill>
                  <a:srgbClr val="000000"/>
                </a:solidFill>
                <a:latin typeface="Heebo"/>
                <a:ea typeface="+mn-lt"/>
                <a:cs typeface="Heebo"/>
              </a:rPr>
              <a:t>useless steps</a:t>
            </a:r>
            <a:r>
              <a:rPr lang="en-US" sz="1467">
                <a:solidFill>
                  <a:srgbClr val="000000"/>
                </a:solidFill>
                <a:latin typeface="Heebo"/>
                <a:ea typeface="+mn-lt"/>
                <a:cs typeface="Heebo"/>
              </a:rPr>
              <a:t>.</a:t>
            </a:r>
            <a:endParaRPr lang="en-US" sz="1467">
              <a:solidFill>
                <a:srgbClr val="000000"/>
              </a:solidFill>
              <a:latin typeface="Heebo"/>
              <a:cs typeface="Heebo"/>
            </a:endParaRPr>
          </a:p>
        </p:txBody>
      </p:sp>
    </p:spTree>
    <p:extLst>
      <p:ext uri="{BB962C8B-B14F-4D97-AF65-F5344CB8AC3E}">
        <p14:creationId xmlns:p14="http://schemas.microsoft.com/office/powerpoint/2010/main" val="24364728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Version 2: Sign-in language</a:t>
            </a:r>
          </a:p>
        </p:txBody>
      </p:sp>
      <p:pic>
        <p:nvPicPr>
          <p:cNvPr id="3" name="Picture 2" descr="A screenshot of a registration form  Description automatically generated">
            <a:extLst>
              <a:ext uri="{FF2B5EF4-FFF2-40B4-BE49-F238E27FC236}">
                <a16:creationId xmlns:a16="http://schemas.microsoft.com/office/drawing/2014/main" id="{7970DF05-E72A-FC1B-BCE5-299E56395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358" y="1605643"/>
            <a:ext cx="5820228" cy="4161365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A screenshot of a application form  Description automatically generated">
            <a:extLst>
              <a:ext uri="{FF2B5EF4-FFF2-40B4-BE49-F238E27FC236}">
                <a16:creationId xmlns:a16="http://schemas.microsoft.com/office/drawing/2014/main" id="{B8A8E957-AC7D-03AD-509A-8C9C2DBA7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365" y="1608665"/>
            <a:ext cx="5647272" cy="4160764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527A8B-A775-91E5-EAC0-D9BFCD3B65AA}"/>
              </a:ext>
            </a:extLst>
          </p:cNvPr>
          <p:cNvSpPr/>
          <p:nvPr/>
        </p:nvSpPr>
        <p:spPr>
          <a:xfrm>
            <a:off x="7712676" y="2378678"/>
            <a:ext cx="2677293" cy="1606375"/>
          </a:xfrm>
          <a:prstGeom prst="leftArrow">
            <a:avLst/>
          </a:prstGeom>
          <a:solidFill>
            <a:srgbClr val="E9E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>Added keyword</a:t>
            </a:r>
            <a:r>
              <a:rPr lang="en-US" sz="1333" b="1">
                <a:solidFill>
                  <a:schemeClr val="tx1"/>
                </a:solidFill>
                <a:latin typeface="Heebo"/>
                <a:cs typeface="Arial"/>
              </a:rPr>
              <a:t xml:space="preserve"> 'sign in'</a:t>
            </a:r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 xml:space="preserve">, </a:t>
            </a:r>
            <a:r>
              <a:rPr lang="en-US" sz="1333" b="1">
                <a:solidFill>
                  <a:schemeClr val="tx1"/>
                </a:solidFill>
                <a:latin typeface="Heebo"/>
                <a:cs typeface="Arial"/>
              </a:rPr>
              <a:t xml:space="preserve">combined </a:t>
            </a:r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>'Finish' &amp; 'Check' branches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1335F-39EB-2A41-67BD-3DCDD3B962B9}"/>
              </a:ext>
            </a:extLst>
          </p:cNvPr>
          <p:cNvSpPr txBox="1"/>
          <p:nvPr/>
        </p:nvSpPr>
        <p:spPr>
          <a:xfrm>
            <a:off x="1905000" y="5755159"/>
            <a:ext cx="163649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7F7F7F"/>
                </a:solidFill>
                <a:latin typeface="Heebo"/>
                <a:cs typeface="Heebo"/>
              </a:rPr>
              <a:t>Version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C6E620-2728-C23B-B3EE-F136BDC5E75A}"/>
              </a:ext>
            </a:extLst>
          </p:cNvPr>
          <p:cNvSpPr txBox="1"/>
          <p:nvPr/>
        </p:nvSpPr>
        <p:spPr>
          <a:xfrm>
            <a:off x="8362948" y="5755158"/>
            <a:ext cx="163649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7F7F7F"/>
                </a:solidFill>
                <a:latin typeface="Heebo"/>
                <a:cs typeface="Heebo"/>
              </a:rPr>
              <a:t>Version 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95EA41-5419-BED7-AB70-90F199D35BBD}"/>
              </a:ext>
            </a:extLst>
          </p:cNvPr>
          <p:cNvSpPr/>
          <p:nvPr/>
        </p:nvSpPr>
        <p:spPr>
          <a:xfrm>
            <a:off x="6238877" y="2976562"/>
            <a:ext cx="1476375" cy="452439"/>
          </a:xfrm>
          <a:prstGeom prst="roundRect">
            <a:avLst/>
          </a:prstGeom>
          <a:noFill/>
          <a:ln>
            <a:solidFill>
              <a:srgbClr val="600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883569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Version 2: Most popular programs</a:t>
            </a:r>
            <a:endParaRPr lang="en-US"/>
          </a:p>
        </p:txBody>
      </p:sp>
      <p:pic>
        <p:nvPicPr>
          <p:cNvPr id="7" name="Picture 6" descr="A screen shot of a computer  Description automatically generated">
            <a:extLst>
              <a:ext uri="{FF2B5EF4-FFF2-40B4-BE49-F238E27FC236}">
                <a16:creationId xmlns:a16="http://schemas.microsoft.com/office/drawing/2014/main" id="{DA013B08-ECB5-4015-2FE9-F7AD9257C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880" y="1719942"/>
            <a:ext cx="5081873" cy="3559629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8" name="Picture 7" descr="A screenshot of a application  Description automatically generated">
            <a:extLst>
              <a:ext uri="{FF2B5EF4-FFF2-40B4-BE49-F238E27FC236}">
                <a16:creationId xmlns:a16="http://schemas.microsoft.com/office/drawing/2014/main" id="{78CE757E-3CAA-2912-6DAE-0E40C35220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836" r="-471" b="3191"/>
          <a:stretch/>
        </p:blipFill>
        <p:spPr>
          <a:xfrm>
            <a:off x="1487245" y="1100818"/>
            <a:ext cx="4065827" cy="5076015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5BCAB42-1AB3-1E9F-3773-C61E2A3CA69E}"/>
              </a:ext>
            </a:extLst>
          </p:cNvPr>
          <p:cNvSpPr/>
          <p:nvPr/>
        </p:nvSpPr>
        <p:spPr>
          <a:xfrm>
            <a:off x="7252414" y="2622585"/>
            <a:ext cx="3123607" cy="1606375"/>
          </a:xfrm>
          <a:prstGeom prst="leftArrow">
            <a:avLst/>
          </a:prstGeom>
          <a:solidFill>
            <a:srgbClr val="E9E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 xml:space="preserve">Moved </a:t>
            </a:r>
            <a:r>
              <a:rPr lang="en-US" sz="1333" b="1">
                <a:solidFill>
                  <a:schemeClr val="tx1"/>
                </a:solidFill>
                <a:latin typeface="Heebo"/>
                <a:cs typeface="Arial"/>
              </a:rPr>
              <a:t>most popular programs</a:t>
            </a:r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> to the forefront for quick access with fewer clicks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E97768-8A89-330D-EA23-3942AA432454}"/>
              </a:ext>
            </a:extLst>
          </p:cNvPr>
          <p:cNvSpPr txBox="1"/>
          <p:nvPr/>
        </p:nvSpPr>
        <p:spPr>
          <a:xfrm>
            <a:off x="2571750" y="6164735"/>
            <a:ext cx="163649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7F7F7F"/>
                </a:solidFill>
                <a:latin typeface="Heebo"/>
                <a:cs typeface="Heebo"/>
              </a:rPr>
              <a:t>Version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4AC39-7050-E160-F34D-A30E2CE96CAC}"/>
              </a:ext>
            </a:extLst>
          </p:cNvPr>
          <p:cNvSpPr txBox="1"/>
          <p:nvPr/>
        </p:nvSpPr>
        <p:spPr>
          <a:xfrm>
            <a:off x="7820022" y="5269383"/>
            <a:ext cx="163649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7F7F7F"/>
                </a:solidFill>
                <a:latin typeface="Heebo"/>
                <a:cs typeface="Heebo"/>
              </a:rPr>
              <a:t>Version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98219C-2E18-2420-5884-D32BFF56E806}"/>
              </a:ext>
            </a:extLst>
          </p:cNvPr>
          <p:cNvSpPr/>
          <p:nvPr/>
        </p:nvSpPr>
        <p:spPr>
          <a:xfrm>
            <a:off x="6274594" y="2357436"/>
            <a:ext cx="976313" cy="2214563"/>
          </a:xfrm>
          <a:prstGeom prst="roundRect">
            <a:avLst/>
          </a:prstGeom>
          <a:noFill/>
          <a:ln>
            <a:solidFill>
              <a:srgbClr val="600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466666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login page  Description automatically generated">
            <a:extLst>
              <a:ext uri="{FF2B5EF4-FFF2-40B4-BE49-F238E27FC236}">
                <a16:creationId xmlns:a16="http://schemas.microsoft.com/office/drawing/2014/main" id="{BDCEC7DD-73F0-0AAC-0F28-CEAB3995E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088" y="1333930"/>
            <a:ext cx="5962651" cy="4187825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0" name="Google Shape;132;p23">
            <a:extLst>
              <a:ext uri="{FF2B5EF4-FFF2-40B4-BE49-F238E27FC236}">
                <a16:creationId xmlns:a16="http://schemas.microsoft.com/office/drawing/2014/main" id="{FED2DF60-0361-1F43-E052-40B86128AC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 xml:space="preserve">Version 2: </a:t>
            </a:r>
            <a:r>
              <a:rPr lang="en" b="1" err="1">
                <a:latin typeface="Heebo"/>
              </a:rPr>
              <a:t>GCKey</a:t>
            </a:r>
            <a:r>
              <a:rPr lang="en" b="1">
                <a:latin typeface="Heebo"/>
              </a:rPr>
              <a:t xml:space="preserve"> association with Secure account</a:t>
            </a:r>
            <a:endParaRPr lang="en-US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7CF9BB-F6C3-0F85-509D-AEA596F3FF88}"/>
              </a:ext>
            </a:extLst>
          </p:cNvPr>
          <p:cNvSpPr txBox="1"/>
          <p:nvPr/>
        </p:nvSpPr>
        <p:spPr>
          <a:xfrm>
            <a:off x="1747966" y="5516006"/>
            <a:ext cx="163649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7F7F7F"/>
                </a:solidFill>
                <a:latin typeface="Heebo"/>
                <a:cs typeface="Heebo"/>
              </a:rPr>
              <a:t>Version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69CEBB-1FF2-257C-9F90-5A55AC8FEA3E}"/>
              </a:ext>
            </a:extLst>
          </p:cNvPr>
          <p:cNvSpPr txBox="1"/>
          <p:nvPr/>
        </p:nvSpPr>
        <p:spPr>
          <a:xfrm>
            <a:off x="7251097" y="5511627"/>
            <a:ext cx="163649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7F7F7F"/>
                </a:solidFill>
                <a:latin typeface="Heebo"/>
                <a:cs typeface="Heebo"/>
              </a:rPr>
              <a:t>Version 2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8E046F1B-4CDE-92E9-7100-4B39BFFAF0AA}"/>
              </a:ext>
            </a:extLst>
          </p:cNvPr>
          <p:cNvSpPr/>
          <p:nvPr/>
        </p:nvSpPr>
        <p:spPr>
          <a:xfrm>
            <a:off x="9109148" y="2420178"/>
            <a:ext cx="2886769" cy="1822617"/>
          </a:xfrm>
          <a:prstGeom prst="leftArrow">
            <a:avLst/>
          </a:prstGeom>
          <a:solidFill>
            <a:srgbClr val="E9E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 xml:space="preserve">Added mention of </a:t>
            </a:r>
            <a:r>
              <a:rPr lang="en-US" sz="1333" err="1">
                <a:solidFill>
                  <a:schemeClr val="tx1"/>
                </a:solidFill>
                <a:latin typeface="Heebo"/>
                <a:cs typeface="Arial"/>
              </a:rPr>
              <a:t>GCKey</a:t>
            </a:r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> so users will more </a:t>
            </a:r>
            <a:r>
              <a:rPr lang="en-US" sz="1333" b="1">
                <a:solidFill>
                  <a:schemeClr val="tx1"/>
                </a:solidFill>
                <a:latin typeface="Heebo"/>
                <a:cs typeface="Arial"/>
              </a:rPr>
              <a:t>easily recognize </a:t>
            </a:r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>Secure account</a:t>
            </a:r>
          </a:p>
        </p:txBody>
      </p:sp>
      <p:pic>
        <p:nvPicPr>
          <p:cNvPr id="17" name="Picture 16" descr="A screenshot of a computer screen  Description automatically generated">
            <a:extLst>
              <a:ext uri="{FF2B5EF4-FFF2-40B4-BE49-F238E27FC236}">
                <a16:creationId xmlns:a16="http://schemas.microsoft.com/office/drawing/2014/main" id="{C7A55518-AB0E-EBB2-28AA-5B1D251E6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55" y="1338647"/>
            <a:ext cx="4300244" cy="4180704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DF53CD-726E-C96D-A017-02675688A8B5}"/>
              </a:ext>
            </a:extLst>
          </p:cNvPr>
          <p:cNvSpPr/>
          <p:nvPr/>
        </p:nvSpPr>
        <p:spPr>
          <a:xfrm>
            <a:off x="7155656" y="3071811"/>
            <a:ext cx="1952625" cy="523876"/>
          </a:xfrm>
          <a:prstGeom prst="roundRect">
            <a:avLst/>
          </a:prstGeom>
          <a:noFill/>
          <a:ln>
            <a:solidFill>
              <a:srgbClr val="600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691859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 Description automatically generated">
            <a:extLst>
              <a:ext uri="{FF2B5EF4-FFF2-40B4-BE49-F238E27FC236}">
                <a16:creationId xmlns:a16="http://schemas.microsoft.com/office/drawing/2014/main" id="{392A9669-1C60-5C43-F464-29B2D62E1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325" y="1099818"/>
            <a:ext cx="6281353" cy="2688932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0" name="Google Shape;132;p23">
            <a:extLst>
              <a:ext uri="{FF2B5EF4-FFF2-40B4-BE49-F238E27FC236}">
                <a16:creationId xmlns:a16="http://schemas.microsoft.com/office/drawing/2014/main" id="{FED2DF60-0361-1F43-E052-40B86128AC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Version 3: Create an account</a:t>
            </a:r>
            <a:endParaRPr lang="en-US" dirty="0" err="1">
              <a:latin typeface="Heebo"/>
            </a:endParaRPr>
          </a:p>
        </p:txBody>
      </p:sp>
      <p:pic>
        <p:nvPicPr>
          <p:cNvPr id="3" name="Picture 2" descr="A screenshot of a computer screen  Description automatically generated">
            <a:extLst>
              <a:ext uri="{FF2B5EF4-FFF2-40B4-BE49-F238E27FC236}">
                <a16:creationId xmlns:a16="http://schemas.microsoft.com/office/drawing/2014/main" id="{A248037C-A2A3-5973-5DA2-BD16E4B7D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622" y="3897367"/>
            <a:ext cx="4623487" cy="220471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5" name="Picture 4" descr="A screenshot of a computer screen  Description automatically generated">
            <a:extLst>
              <a:ext uri="{FF2B5EF4-FFF2-40B4-BE49-F238E27FC236}">
                <a16:creationId xmlns:a16="http://schemas.microsoft.com/office/drawing/2014/main" id="{C9FD7BE3-4BA7-DEB5-EE0B-3C9A9DE13F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77" y="3897367"/>
            <a:ext cx="4150604" cy="2872947"/>
          </a:xfrm>
          <a:prstGeom prst="rect">
            <a:avLst/>
          </a:prstGeom>
          <a:ln>
            <a:solidFill>
              <a:schemeClr val="tx2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367F94-BBFF-D36B-C740-B8021F7F9324}"/>
              </a:ext>
            </a:extLst>
          </p:cNvPr>
          <p:cNvCxnSpPr>
            <a:cxnSpLocks/>
          </p:cNvCxnSpPr>
          <p:nvPr/>
        </p:nvCxnSpPr>
        <p:spPr>
          <a:xfrm>
            <a:off x="8251656" y="2944666"/>
            <a:ext cx="856485" cy="1134276"/>
          </a:xfrm>
          <a:prstGeom prst="straightConnector1">
            <a:avLst/>
          </a:prstGeom>
          <a:ln w="57150">
            <a:solidFill>
              <a:srgbClr val="600D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B31790-4B9D-71A5-FBA7-3CAE02E062B3}"/>
              </a:ext>
            </a:extLst>
          </p:cNvPr>
          <p:cNvCxnSpPr>
            <a:cxnSpLocks/>
          </p:cNvCxnSpPr>
          <p:nvPr/>
        </p:nvCxnSpPr>
        <p:spPr>
          <a:xfrm flipH="1">
            <a:off x="3236259" y="2960634"/>
            <a:ext cx="648819" cy="1046591"/>
          </a:xfrm>
          <a:prstGeom prst="straightConnector1">
            <a:avLst/>
          </a:prstGeom>
          <a:ln w="57150">
            <a:solidFill>
              <a:srgbClr val="600D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3858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115A5CF3-F439-D8B5-D5E3-8A1AA50E9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8DDECEF1-4612-68C8-A8F0-FF4A4BBFD6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89171" y="2867800"/>
            <a:ext cx="5593772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6600" dirty="0"/>
              <a:t>SLIDE GRAVEYARD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17389875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/>
              <a:t>We have plenty of data that’s readily available</a:t>
            </a:r>
            <a:endParaRPr b="1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A64AAF-0A4F-6572-98D7-26519439D422}"/>
              </a:ext>
            </a:extLst>
          </p:cNvPr>
          <p:cNvGrpSpPr/>
          <p:nvPr/>
        </p:nvGrpSpPr>
        <p:grpSpPr>
          <a:xfrm>
            <a:off x="686051" y="3124562"/>
            <a:ext cx="10922111" cy="830998"/>
            <a:chOff x="796599" y="3657385"/>
            <a:chExt cx="10922111" cy="83099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BA58AD6-E41C-76D0-8AF7-93ACBBB7550B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008581"/>
              <a:ext cx="8619548" cy="0"/>
            </a:xfrm>
            <a:prstGeom prst="straightConnector1">
              <a:avLst/>
            </a:prstGeom>
            <a:ln w="76200">
              <a:solidFill>
                <a:srgbClr val="600DB4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795C31-4F9D-D0AC-C9F1-1571E012F546}"/>
                </a:ext>
              </a:extLst>
            </p:cNvPr>
            <p:cNvSpPr txBox="1"/>
            <p:nvPr/>
          </p:nvSpPr>
          <p:spPr>
            <a:xfrm>
              <a:off x="796599" y="3657386"/>
              <a:ext cx="12607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600DB4"/>
                  </a:solidFill>
                </a:rPr>
                <a:t>Lowest effort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AAB2D05-D572-EFB4-6818-AE44720807B7}"/>
                </a:ext>
              </a:extLst>
            </p:cNvPr>
            <p:cNvSpPr txBox="1"/>
            <p:nvPr/>
          </p:nvSpPr>
          <p:spPr>
            <a:xfrm>
              <a:off x="10457948" y="3657385"/>
              <a:ext cx="12607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600DB4"/>
                  </a:solidFill>
                </a:rPr>
                <a:t>Highest effort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2230E-FC57-334C-30A6-3562571457BC}"/>
              </a:ext>
            </a:extLst>
          </p:cNvPr>
          <p:cNvGrpSpPr/>
          <p:nvPr/>
        </p:nvGrpSpPr>
        <p:grpSpPr>
          <a:xfrm>
            <a:off x="2106966" y="2310008"/>
            <a:ext cx="1780383" cy="937266"/>
            <a:chOff x="2153314" y="2312176"/>
            <a:chExt cx="1780383" cy="93726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5C2D03-D087-77F9-33DE-6F12D189758C}"/>
                </a:ext>
              </a:extLst>
            </p:cNvPr>
            <p:cNvSpPr txBox="1"/>
            <p:nvPr/>
          </p:nvSpPr>
          <p:spPr>
            <a:xfrm>
              <a:off x="2153314" y="2880110"/>
              <a:ext cx="1780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hlinkClick r:id="rId3"/>
                </a:rPr>
                <a:t>Social Care</a:t>
              </a:r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D3E3F29-E9B5-DC47-3413-04C2EA1EE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74841" y="2312176"/>
              <a:ext cx="537328" cy="537328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3DBE1BA-F63E-20A2-E9B0-E23E38F73234}"/>
              </a:ext>
            </a:extLst>
          </p:cNvPr>
          <p:cNvGrpSpPr/>
          <p:nvPr/>
        </p:nvGrpSpPr>
        <p:grpSpPr>
          <a:xfrm>
            <a:off x="7938183" y="3612238"/>
            <a:ext cx="2709232" cy="934617"/>
            <a:chOff x="7086329" y="3612238"/>
            <a:chExt cx="2709232" cy="93461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FE2789-F8E1-F4B7-7BBC-B42A2B63D383}"/>
                </a:ext>
              </a:extLst>
            </p:cNvPr>
            <p:cNvSpPr txBox="1"/>
            <p:nvPr/>
          </p:nvSpPr>
          <p:spPr>
            <a:xfrm>
              <a:off x="7086329" y="4177523"/>
              <a:ext cx="2709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Social networks &amp; forums</a:t>
              </a: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A506B18D-F10A-FC2D-7D6F-0CC33EEA8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40033" y="3612238"/>
              <a:ext cx="537328" cy="537328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15AA94E-9AA5-6D80-E543-508639C37E36}"/>
              </a:ext>
            </a:extLst>
          </p:cNvPr>
          <p:cNvGrpSpPr/>
          <p:nvPr/>
        </p:nvGrpSpPr>
        <p:grpSpPr>
          <a:xfrm>
            <a:off x="4435016" y="2310008"/>
            <a:ext cx="2709232" cy="943555"/>
            <a:chOff x="4266371" y="2310008"/>
            <a:chExt cx="2709232" cy="94355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262570-5409-89A4-C959-4F1119A90CB7}"/>
                </a:ext>
              </a:extLst>
            </p:cNvPr>
            <p:cNvSpPr txBox="1"/>
            <p:nvPr/>
          </p:nvSpPr>
          <p:spPr>
            <a:xfrm>
              <a:off x="4266371" y="2884231"/>
              <a:ext cx="2709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Google Search Console</a:t>
              </a:r>
            </a:p>
          </p:txBody>
        </p:sp>
        <p:pic>
          <p:nvPicPr>
            <p:cNvPr id="25" name="Picture 24" descr="A black background with a black square  Description automatically generated with medium confidence">
              <a:extLst>
                <a:ext uri="{FF2B5EF4-FFF2-40B4-BE49-F238E27FC236}">
                  <a16:creationId xmlns:a16="http://schemas.microsoft.com/office/drawing/2014/main" id="{270B2BE7-7817-C70D-303E-E167EE21B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5870" y="2310008"/>
              <a:ext cx="530234" cy="539496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F84EE7F-39BD-9231-9252-E336EB4C0CAC}"/>
              </a:ext>
            </a:extLst>
          </p:cNvPr>
          <p:cNvGrpSpPr/>
          <p:nvPr/>
        </p:nvGrpSpPr>
        <p:grpSpPr>
          <a:xfrm>
            <a:off x="3921348" y="3612238"/>
            <a:ext cx="1701391" cy="946869"/>
            <a:chOff x="2190229" y="3610070"/>
            <a:chExt cx="1701391" cy="94686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D75844C-1AFC-B3B6-C562-339B9AA83C51}"/>
                </a:ext>
              </a:extLst>
            </p:cNvPr>
            <p:cNvSpPr txBox="1"/>
            <p:nvPr/>
          </p:nvSpPr>
          <p:spPr>
            <a:xfrm>
              <a:off x="2190229" y="4187607"/>
              <a:ext cx="1701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Google Trends</a:t>
              </a:r>
            </a:p>
          </p:txBody>
        </p:sp>
        <p:pic>
          <p:nvPicPr>
            <p:cNvPr id="26" name="Picture 25" descr="A black background with a black square  Description automatically generated with medium confidence">
              <a:extLst>
                <a:ext uri="{FF2B5EF4-FFF2-40B4-BE49-F238E27FC236}">
                  <a16:creationId xmlns:a16="http://schemas.microsoft.com/office/drawing/2014/main" id="{A70117F4-1AE5-CCAB-1853-4BB1A535B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2521" y="3610070"/>
              <a:ext cx="530234" cy="53949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12CD73-13C7-073D-C1EC-CA99BBCAB836}"/>
              </a:ext>
            </a:extLst>
          </p:cNvPr>
          <p:cNvGrpSpPr/>
          <p:nvPr/>
        </p:nvGrpSpPr>
        <p:grpSpPr>
          <a:xfrm>
            <a:off x="5867555" y="3546412"/>
            <a:ext cx="1780383" cy="1010527"/>
            <a:chOff x="4730795" y="3546412"/>
            <a:chExt cx="1780383" cy="101052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46264D-97F2-B802-6648-202373CA0B24}"/>
                </a:ext>
              </a:extLst>
            </p:cNvPr>
            <p:cNvSpPr txBox="1"/>
            <p:nvPr/>
          </p:nvSpPr>
          <p:spPr>
            <a:xfrm>
              <a:off x="4730795" y="4187607"/>
              <a:ext cx="1780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Adobe Analytics</a:t>
              </a:r>
            </a:p>
          </p:txBody>
        </p:sp>
        <p:pic>
          <p:nvPicPr>
            <p:cNvPr id="31" name="Picture 30" descr="A black background with a black square  Description automatically generated with medium confidence">
              <a:extLst>
                <a:ext uri="{FF2B5EF4-FFF2-40B4-BE49-F238E27FC236}">
                  <a16:creationId xmlns:a16="http://schemas.microsoft.com/office/drawing/2014/main" id="{5BD53544-5115-387F-82A5-C589E1CF6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8610" y="3546412"/>
              <a:ext cx="539496" cy="616567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D6BF1D-2BA8-38C8-B996-F341975BC6AF}"/>
              </a:ext>
            </a:extLst>
          </p:cNvPr>
          <p:cNvGrpSpPr/>
          <p:nvPr/>
        </p:nvGrpSpPr>
        <p:grpSpPr>
          <a:xfrm>
            <a:off x="6958827" y="2098654"/>
            <a:ext cx="2709232" cy="1264895"/>
            <a:chOff x="7086329" y="2098654"/>
            <a:chExt cx="2709232" cy="126489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D8F3EA0-E992-00FF-1A99-3B26A79A92E9}"/>
                </a:ext>
              </a:extLst>
            </p:cNvPr>
            <p:cNvSpPr txBox="1"/>
            <p:nvPr/>
          </p:nvSpPr>
          <p:spPr>
            <a:xfrm>
              <a:off x="7086329" y="2994217"/>
              <a:ext cx="2709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Task success survey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8465150-E28A-D4EA-84DE-BEDD6EAB910B}"/>
                </a:ext>
              </a:extLst>
            </p:cNvPr>
            <p:cNvSpPr txBox="1"/>
            <p:nvPr/>
          </p:nvSpPr>
          <p:spPr>
            <a:xfrm>
              <a:off x="7086329" y="2626783"/>
              <a:ext cx="2709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Page feedback tool</a:t>
              </a:r>
            </a:p>
          </p:txBody>
        </p:sp>
        <p:pic>
          <p:nvPicPr>
            <p:cNvPr id="33" name="Picture 32" descr="A black background with a black square  Description automatically generated with medium confidence">
              <a:extLst>
                <a:ext uri="{FF2B5EF4-FFF2-40B4-BE49-F238E27FC236}">
                  <a16:creationId xmlns:a16="http://schemas.microsoft.com/office/drawing/2014/main" id="{FA5EC78C-D738-5922-FBC2-1F32AAD7C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0033" y="2098654"/>
              <a:ext cx="539496" cy="53949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8ACE71-E932-EBA1-0F3A-85972D71B085}"/>
              </a:ext>
            </a:extLst>
          </p:cNvPr>
          <p:cNvGrpSpPr/>
          <p:nvPr/>
        </p:nvGrpSpPr>
        <p:grpSpPr>
          <a:xfrm>
            <a:off x="2097855" y="3612238"/>
            <a:ext cx="1701391" cy="946869"/>
            <a:chOff x="2190229" y="3610070"/>
            <a:chExt cx="1701391" cy="94686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77339DA-E9F2-1629-DA9D-9A83BB5AEBA7}"/>
                </a:ext>
              </a:extLst>
            </p:cNvPr>
            <p:cNvSpPr txBox="1"/>
            <p:nvPr/>
          </p:nvSpPr>
          <p:spPr>
            <a:xfrm>
              <a:off x="2190229" y="4187607"/>
              <a:ext cx="1701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POR</a:t>
              </a:r>
            </a:p>
          </p:txBody>
        </p:sp>
        <p:pic>
          <p:nvPicPr>
            <p:cNvPr id="27" name="Picture 26" descr="A black background with a black square  Description automatically generated with medium confidence">
              <a:extLst>
                <a:ext uri="{FF2B5EF4-FFF2-40B4-BE49-F238E27FC236}">
                  <a16:creationId xmlns:a16="http://schemas.microsoft.com/office/drawing/2014/main" id="{77DA9271-67C3-81A6-84CD-205929782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2521" y="3610070"/>
              <a:ext cx="530234" cy="5394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89609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2DC1AF9B-D7FE-6C2A-D1F1-83227185250D}"/>
              </a:ext>
            </a:extLst>
          </p:cNvPr>
          <p:cNvSpPr txBox="1">
            <a:spLocks/>
          </p:cNvSpPr>
          <p:nvPr/>
        </p:nvSpPr>
        <p:spPr>
          <a:xfrm>
            <a:off x="415600" y="1452785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2500" lnSpcReduction="10000"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/>
              <a:t>Task success survey (TSS) &amp; Page feedback tool (PFT)</a:t>
            </a:r>
          </a:p>
        </p:txBody>
      </p:sp>
      <p:sp>
        <p:nvSpPr>
          <p:cNvPr id="7" name="Google Shape;156;p27"/>
          <p:cNvSpPr txBox="1">
            <a:spLocks noGrp="1"/>
          </p:cNvSpPr>
          <p:nvPr>
            <p:ph type="title" idx="2"/>
          </p:nvPr>
        </p:nvSpPr>
        <p:spPr>
          <a:xfrm>
            <a:off x="415925" y="3832225"/>
            <a:ext cx="5476875" cy="5238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lnSpc>
                <a:spcPct val="114000"/>
              </a:lnSpc>
              <a:buSzPts val="990"/>
            </a:pPr>
            <a:r>
              <a:rPr lang="en-CA" sz="1800"/>
              <a:t>Why users couldn’t complete tasks and what information they couldn’t find</a:t>
            </a:r>
          </a:p>
        </p:txBody>
      </p:sp>
    </p:spTree>
    <p:extLst>
      <p:ext uri="{BB962C8B-B14F-4D97-AF65-F5344CB8AC3E}">
        <p14:creationId xmlns:p14="http://schemas.microsoft.com/office/powerpoint/2010/main" val="3274991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A292C9EA99CC4DB040A14F7EB7CAAE" ma:contentTypeVersion="13" ma:contentTypeDescription="Create a new document." ma:contentTypeScope="" ma:versionID="afc2d48892ad9d85173ee4238de4740b">
  <xsd:schema xmlns:xsd="http://www.w3.org/2001/XMLSchema" xmlns:xs="http://www.w3.org/2001/XMLSchema" xmlns:p="http://schemas.microsoft.com/office/2006/metadata/properties" xmlns:ns2="3a515c89-0c3e-4060-8eba-4c2eeb3cc3ab" xmlns:ns3="d0f9f239-cc39-4af7-9648-3bbd68e9fcc0" targetNamespace="http://schemas.microsoft.com/office/2006/metadata/properties" ma:root="true" ma:fieldsID="4a17989cb746de587726ad5d22c784a7" ns2:_="" ns3:_="">
    <xsd:import namespace="3a515c89-0c3e-4060-8eba-4c2eeb3cc3ab"/>
    <xsd:import namespace="d0f9f239-cc39-4af7-9648-3bbd68e9fc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515c89-0c3e-4060-8eba-4c2eeb3cc3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8fc7e3e-e2e3-4810-9525-338c41887b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f9f239-cc39-4af7-9648-3bbd68e9fcc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a515c89-0c3e-4060-8eba-4c2eeb3cc3a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F285C08-2E9E-449F-90E5-654E39C67D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515c89-0c3e-4060-8eba-4c2eeb3cc3ab"/>
    <ds:schemaRef ds:uri="d0f9f239-cc39-4af7-9648-3bbd68e9fc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6D02C5-D8B1-4508-BF5E-524234FEFC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B6EDD6-43F7-44B6-A35C-C33CEA73FBCA}">
  <ds:schemaRefs>
    <ds:schemaRef ds:uri="http://purl.org/dc/terms/"/>
    <ds:schemaRef ds:uri="3a515c89-0c3e-4060-8eba-4c2eeb3cc3ab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d0f9f239-cc39-4af7-9648-3bbd68e9fcc0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23781</TotalTime>
  <Words>4306</Words>
  <Application>Microsoft Office PowerPoint</Application>
  <PresentationFormat>Widescreen</PresentationFormat>
  <Paragraphs>553</Paragraphs>
  <Slides>65</Slides>
  <Notes>60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6" baseType="lpstr">
      <vt:lpstr>office theme</vt:lpstr>
      <vt:lpstr>Monitoring design changes</vt:lpstr>
      <vt:lpstr>Continuous improvement cycle</vt:lpstr>
      <vt:lpstr>Overview of rollout; monitoring; reacting; reporting</vt:lpstr>
      <vt:lpstr>Five key aspects: Risk, rollout, monitor, react, report</vt:lpstr>
      <vt:lpstr>How big is this design change? What are the risks?</vt:lpstr>
      <vt:lpstr>Impact: What will this change for users? What risks are present?</vt:lpstr>
      <vt:lpstr>“Size” of design isn’t the same as impact/risk</vt:lpstr>
      <vt:lpstr>Impact/Risks determine the rest of your monitoring plan</vt:lpstr>
      <vt:lpstr>How are we going to launch this design?</vt:lpstr>
      <vt:lpstr>Rollout: How you’re going to launch a new design</vt:lpstr>
      <vt:lpstr>As you design: Explicit rollout plan</vt:lpstr>
      <vt:lpstr>Pre-launch: Check everything</vt:lpstr>
      <vt:lpstr>Launch according to rollout plan</vt:lpstr>
      <vt:lpstr>What data will we check? How frequently?</vt:lpstr>
      <vt:lpstr>As you design: Determine KPIs and data sources</vt:lpstr>
      <vt:lpstr>Monitor: How you’ll measure performance once live</vt:lpstr>
      <vt:lpstr>Launch &amp; monitor</vt:lpstr>
      <vt:lpstr>Monitoring data suggests a problem – what do we do?</vt:lpstr>
      <vt:lpstr>React: What you’ll do based on the monitor data</vt:lpstr>
      <vt:lpstr>React: Detecting an issue &amp; assessing risk</vt:lpstr>
      <vt:lpstr>React: Tweak or rollback</vt:lpstr>
      <vt:lpstr>Tweak if needed &amp; verbal report</vt:lpstr>
      <vt:lpstr>After tweaks, reset the monitoring clock</vt:lpstr>
      <vt:lpstr>Who are we keeping in the loop, and how?</vt:lpstr>
      <vt:lpstr>Report: Who you’ll tell about the monitoring</vt:lpstr>
      <vt:lpstr>Different needs for different designs</vt:lpstr>
      <vt:lpstr>As you design: Determine KPIs and data sources</vt:lpstr>
      <vt:lpstr>As you design: Tailored data sources</vt:lpstr>
      <vt:lpstr>As you design: Monitoring plan</vt:lpstr>
      <vt:lpstr>Launch &amp; monitor</vt:lpstr>
      <vt:lpstr>Tweak if needed</vt:lpstr>
      <vt:lpstr>Email reporting &amp; end of monitoring</vt:lpstr>
      <vt:lpstr>As you design: Tailored data sources &amp; monitoring plan</vt:lpstr>
      <vt:lpstr>As you design: Plan how you’ll React</vt:lpstr>
      <vt:lpstr>Monitoring</vt:lpstr>
      <vt:lpstr>Reporting &amp; end of monitoring</vt:lpstr>
      <vt:lpstr>Conclusion</vt:lpstr>
      <vt:lpstr>blablaa</vt:lpstr>
      <vt:lpstr>More resources + links</vt:lpstr>
      <vt:lpstr>Thank you!</vt:lpstr>
      <vt:lpstr>Examples of monitoring</vt:lpstr>
      <vt:lpstr>Example of large design rollout &amp; monitoring</vt:lpstr>
      <vt:lpstr>Example of large design rollout &amp; monitoring</vt:lpstr>
      <vt:lpstr>Program Finder monitoring</vt:lpstr>
      <vt:lpstr>Program finder</vt:lpstr>
      <vt:lpstr>Data sources for monitoring</vt:lpstr>
      <vt:lpstr>Adobe Analytics dashboard</vt:lpstr>
      <vt:lpstr>Adobe Analytics dashboard</vt:lpstr>
      <vt:lpstr>Client feedback: Page feedback tool &amp; SUPR-Q survey</vt:lpstr>
      <vt:lpstr>Changes made to Program Finder</vt:lpstr>
      <vt:lpstr>Streamlining questions in Work branch</vt:lpstr>
      <vt:lpstr>Merging results</vt:lpstr>
      <vt:lpstr>Account Chooser</vt:lpstr>
      <vt:lpstr>Account chooser</vt:lpstr>
      <vt:lpstr>Data sources for monitoring</vt:lpstr>
      <vt:lpstr>Adobe Analytics dashboard</vt:lpstr>
      <vt:lpstr>Adobe Analytics dashboard</vt:lpstr>
      <vt:lpstr>Client feedback: Page feedback tool </vt:lpstr>
      <vt:lpstr>Version 2: Sign-in language</vt:lpstr>
      <vt:lpstr>Version 2: Most popular programs</vt:lpstr>
      <vt:lpstr>Version 2: GCKey association with Secure account</vt:lpstr>
      <vt:lpstr>Version 3: Create an account</vt:lpstr>
      <vt:lpstr>SLIDE GRAVEYARD</vt:lpstr>
      <vt:lpstr>We have plenty of data that’s readily available</vt:lpstr>
      <vt:lpstr>Why users couldn’t complete tasks and what information they couldn’t find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research and SEO</dc:title>
  <dc:creator>Hutt, Eric (IRCC/IRCC) (he, him | il, lui)</dc:creator>
  <cp:lastModifiedBy>Hutt, Eric (IRCC/IRCC) (he, him | il, lui)</cp:lastModifiedBy>
  <cp:revision>69</cp:revision>
  <dcterms:created xsi:type="dcterms:W3CDTF">2025-02-19T18:48:54Z</dcterms:created>
  <dcterms:modified xsi:type="dcterms:W3CDTF">2026-03-10T14:22:28Z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0x010100D7A292C9EA99CC4DB040A14F7EB7CAAE</vt:lpwstr>
  </property>
  <property fmtid="{D5CDD505-2E9C-101B-9397-08002B2CF9AE}" pid="3" name="MediaServiceImageTags">
    <vt:lpwstr/>
  </property>
</Properties>
</file>