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23_C56BA657.xml" ContentType="application/vnd.ms-powerpoint.comment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8" r:id="rId4"/>
  </p:sldMasterIdLst>
  <p:notesMasterIdLst>
    <p:notesMasterId r:id="rId13"/>
  </p:notesMasterIdLst>
  <p:sldIdLst>
    <p:sldId id="256" r:id="rId5"/>
    <p:sldId id="282" r:id="rId6"/>
    <p:sldId id="276" r:id="rId7"/>
    <p:sldId id="274" r:id="rId8"/>
    <p:sldId id="283" r:id="rId9"/>
    <p:sldId id="296" r:id="rId10"/>
    <p:sldId id="291" r:id="rId11"/>
    <p:sldId id="280" r:id="rId12"/>
  </p:sldIdLst>
  <p:sldSz cx="9144000" cy="5143500" type="screen16x9"/>
  <p:notesSz cx="6858000" cy="9144000"/>
  <p:embeddedFontLst>
    <p:embeddedFont>
      <p:font typeface="Heebo" pitchFamily="2" charset="-79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F3DC05-2994-6CC3-24AE-C3D36C233334}" name="Anderson, Valerie (IRCC/IRCC)" initials="AV" userId="S::valerie.anderson@cic.gc.ca::be8ce9a5-f02e-48ed-946e-d876aa57caff" providerId="AD"/>
  <p188:author id="{730D840D-E88A-E958-A2D4-11620B86F379}" name="Nadeau, Anne (IRCC/IRCC)" initials="NA" userId="S::anne.nadeau@cic.gc.ca::ada67c01-aadb-4240-a688-bb1e4bd3a668" providerId="AD"/>
  <p188:author id="{9F20C65B-0C75-A1ED-CDF5-A679AC75152A}" name="Pepin, David (IRCC/IRCC)" initials="PD" userId="S::david.pepin@cic.gc.ca::ffcb2b90-7795-4b44-aa5c-64a5faacd812" providerId="AD"/>
  <p188:author id="{45BA40AA-580F-2A72-2F55-484E82DEBC69}" name="Santo, Yael (IRCC/IRCC) (she, her | elle, la)" initials="YS" userId="S::Yael.Santo@cic.gc.ca::3ad7bc69-25ce-425f-9b3d-00426e5f3068" providerId="AD"/>
  <p188:author id="{E42AC4E2-D54E-B3CE-0253-89A65FD7AAC0}" name="Hutt, Eric (IRCC/IRCC) (he, him | il, lui)" initials="EH" userId="S::Eric.Hutt@cic.gc.ca::2833d381-11a7-4148-b00d-ae0299c90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5F2"/>
    <a:srgbClr val="600DB4"/>
    <a:srgbClr val="FFFFFF"/>
    <a:srgbClr val="FF3D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comments/modernComment_123_C56BA6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B07F5D-8297-4E9F-BA1C-10FD90014152}" authorId="{65F3DC05-2994-6CC3-24AE-C3D36C233334}" created="2026-03-17T02:03:58.1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12166487" sldId="291"/>
      <ac:spMk id="2" creationId="{3886AA4A-AECB-3319-C52A-7CEFACDBF451}"/>
      <ac:txMk cp="252" len="66">
        <ac:context len="351" hash="11477510"/>
      </ac:txMk>
    </ac:txMkLst>
    <p188:pos x="6858000" y="1950243"/>
    <p188:replyLst>
      <p188:reply id="{291349B7-CC1A-4DF3-8F51-3E4162B5E331}" authorId="{9F20C65B-0C75-A1ED-CDF5-A679AC75152A}" created="2026-03-17T13:18:05.991">
        <p188:txBody>
          <a:bodyPr/>
          <a:lstStyle/>
          <a:p>
            <a:r>
              <a:rPr lang="en-US"/>
              <a:t>I put something on slide 8</a:t>
            </a:r>
          </a:p>
        </p188:txBody>
      </p188:reply>
    </p188:replyLst>
    <p188:txBody>
      <a:bodyPr/>
      <a:lstStyle/>
      <a:p>
        <a:r>
          <a:rPr lang="en-US"/>
          <a:t>I would argue (maybe not the right place here though) also that the workarounds can have a negative impact on public's perception of Web and its ease of use/quality of information given they don't know distinguish between public facing site and other spaces.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B8E972F2-131E-A9CF-2886-F7825749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D5925E38-08AE-A9DD-5FD8-A061D9D45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E50F6020-674B-AB6A-F075-0A2C71032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258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0C503228-46B0-7A4B-42A7-7E2F6306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8E26A95D-E042-0C07-4FD9-50B168A95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E60E208B-7E5C-47B0-3419-7C96DCFE0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005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9018E919-1172-C92A-D2D1-D27F3741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EDA30E6A-B2B9-4691-4E56-F30EC50D0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F655BD48-8E44-2973-8020-240FF60C2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14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248B3517-81ED-98BD-FF54-6D3AF950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25C2F7C4-705B-9F97-8978-D458BC038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3B63E764-9E76-EC4D-86E0-CD3915716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826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7E4AD4F9-D53D-A9A1-435C-F8A15B79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A6B58B15-CA29-A51C-8528-82A99242D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672CE7B1-377C-3A20-9E91-B0B118C32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509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6667CB22-1126-B648-45C5-6DA9587E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>
            <a:extLst>
              <a:ext uri="{FF2B5EF4-FFF2-40B4-BE49-F238E27FC236}">
                <a16:creationId xmlns:a16="http://schemas.microsoft.com/office/drawing/2014/main" id="{8522DAB0-DA41-9E97-D6D7-93A9800B1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>
            <a:extLst>
              <a:ext uri="{FF2B5EF4-FFF2-40B4-BE49-F238E27FC236}">
                <a16:creationId xmlns:a16="http://schemas.microsoft.com/office/drawing/2014/main" id="{3F0E8698-F37E-EB2E-C9AC-16639842F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499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099DBB-BF4E-087E-3D3C-9CE68B2E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d1251ef52_0_12:notes">
            <a:extLst>
              <a:ext uri="{FF2B5EF4-FFF2-40B4-BE49-F238E27FC236}">
                <a16:creationId xmlns:a16="http://schemas.microsoft.com/office/drawing/2014/main" id="{B5711EF3-3343-D3E0-57D6-771EB35BB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d1251ef52_0_12:notes">
            <a:extLst>
              <a:ext uri="{FF2B5EF4-FFF2-40B4-BE49-F238E27FC236}">
                <a16:creationId xmlns:a16="http://schemas.microsoft.com/office/drawing/2014/main" id="{DD5F4B5A-EF90-25E5-9714-2CBCA75A0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12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 title layout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1" y="1372650"/>
            <a:ext cx="78669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325" y="2165250"/>
            <a:ext cx="85206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50325" y="2713650"/>
            <a:ext cx="85206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4275875" y="676400"/>
            <a:ext cx="6030651" cy="3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04" y="3440200"/>
            <a:ext cx="1234211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3575" y="4541100"/>
            <a:ext cx="1007851" cy="3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050" y="4401150"/>
            <a:ext cx="3049825" cy="5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 title layout- french">
  <p:cSld name="TITLE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311701" y="1372650"/>
            <a:ext cx="78669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3200"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50325" y="2165250"/>
            <a:ext cx="85206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000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350325" y="2713650"/>
            <a:ext cx="85206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1600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4275875" y="676400"/>
            <a:ext cx="6030651" cy="3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575" y="4541100"/>
            <a:ext cx="1007851" cy="3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050" y="4401150"/>
            <a:ext cx="3049825" cy="53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025" y="3440200"/>
            <a:ext cx="197467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centralized text">
  <p:cSld name="SECTION_HEADER_1">
    <p:bg>
      <p:bgPr>
        <a:solidFill>
          <a:srgbClr val="E9E5F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486551" y="33415"/>
            <a:ext cx="4931441" cy="5711568"/>
            <a:chOff x="4832725" y="978975"/>
            <a:chExt cx="3578175" cy="4144524"/>
          </a:xfrm>
        </p:grpSpPr>
        <p:sp>
          <p:nvSpPr>
            <p:cNvPr id="34" name="Google Shape;34;p5"/>
            <p:cNvSpPr/>
            <p:nvPr/>
          </p:nvSpPr>
          <p:spPr>
            <a:xfrm>
              <a:off x="4832725" y="978975"/>
              <a:ext cx="2680500" cy="268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166800" y="1313050"/>
              <a:ext cx="2012400" cy="2012400"/>
            </a:xfrm>
            <a:prstGeom prst="ellipse">
              <a:avLst/>
            </a:prstGeom>
            <a:solidFill>
              <a:srgbClr val="E9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-2288092">
              <a:off x="6977620" y="3455779"/>
              <a:ext cx="388655" cy="367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 rot="-2236353">
              <a:off x="7495263" y="3778223"/>
              <a:ext cx="580574" cy="130245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11700" y="198452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3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2"/>
          </p:nvPr>
        </p:nvSpPr>
        <p:spPr>
          <a:xfrm>
            <a:off x="311700" y="2737775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Title and body" type="tx" preserve="1">
  <p:cSld name="1_WURD-Title and body-F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311700" y="968025"/>
            <a:ext cx="85206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25" y="0"/>
            <a:ext cx="9144000" cy="743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11700" y="17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3D1D96-B671-FB73-1C29-C3B4FCD35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0150" y="4619055"/>
            <a:ext cx="1272150" cy="20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4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Title and body" type="tx" preserve="1">
  <p:cSld name="1_WURD-Title and body research finding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311700" y="968025"/>
            <a:ext cx="85206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150" y="4615400"/>
            <a:ext cx="1272150" cy="2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25" y="0"/>
            <a:ext cx="9144000" cy="743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11700" y="17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grpSp>
        <p:nvGrpSpPr>
          <p:cNvPr id="2" name="Google Shape;108;p19">
            <a:extLst>
              <a:ext uri="{FF2B5EF4-FFF2-40B4-BE49-F238E27FC236}">
                <a16:creationId xmlns:a16="http://schemas.microsoft.com/office/drawing/2014/main" id="{ADEC4062-E781-2583-76FC-0711FEF3F540}"/>
              </a:ext>
            </a:extLst>
          </p:cNvPr>
          <p:cNvGrpSpPr/>
          <p:nvPr userDrawn="1"/>
        </p:nvGrpSpPr>
        <p:grpSpPr>
          <a:xfrm>
            <a:off x="8549477" y="34342"/>
            <a:ext cx="597381" cy="755533"/>
            <a:chOff x="4832725" y="978975"/>
            <a:chExt cx="3243112" cy="4101700"/>
          </a:xfrm>
        </p:grpSpPr>
        <p:sp>
          <p:nvSpPr>
            <p:cNvPr id="3" name="Google Shape;109;p19">
              <a:extLst>
                <a:ext uri="{FF2B5EF4-FFF2-40B4-BE49-F238E27FC236}">
                  <a16:creationId xmlns:a16="http://schemas.microsoft.com/office/drawing/2014/main" id="{7396D372-6CE5-917C-187A-A22894CC7B12}"/>
                </a:ext>
              </a:extLst>
            </p:cNvPr>
            <p:cNvSpPr/>
            <p:nvPr userDrawn="1"/>
          </p:nvSpPr>
          <p:spPr>
            <a:xfrm>
              <a:off x="4832725" y="978975"/>
              <a:ext cx="2680500" cy="2680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0;p19">
              <a:extLst>
                <a:ext uri="{FF2B5EF4-FFF2-40B4-BE49-F238E27FC236}">
                  <a16:creationId xmlns:a16="http://schemas.microsoft.com/office/drawing/2014/main" id="{704035AD-15B2-A24F-2C3D-AB7AE0376BE8}"/>
                </a:ext>
              </a:extLst>
            </p:cNvPr>
            <p:cNvSpPr/>
            <p:nvPr userDrawn="1"/>
          </p:nvSpPr>
          <p:spPr>
            <a:xfrm>
              <a:off x="5166800" y="1313050"/>
              <a:ext cx="2012400" cy="2012400"/>
            </a:xfrm>
            <a:prstGeom prst="ellipse">
              <a:avLst/>
            </a:prstGeom>
            <a:solidFill>
              <a:srgbClr val="E9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1;p19">
              <a:extLst>
                <a:ext uri="{FF2B5EF4-FFF2-40B4-BE49-F238E27FC236}">
                  <a16:creationId xmlns:a16="http://schemas.microsoft.com/office/drawing/2014/main" id="{B713CB56-8C74-8DF9-AF94-0D44A283AFD7}"/>
                </a:ext>
              </a:extLst>
            </p:cNvPr>
            <p:cNvSpPr/>
            <p:nvPr userDrawn="1"/>
          </p:nvSpPr>
          <p:spPr>
            <a:xfrm rot="-2288092">
              <a:off x="6977620" y="3455779"/>
              <a:ext cx="388655" cy="3671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2;p19">
              <a:extLst>
                <a:ext uri="{FF2B5EF4-FFF2-40B4-BE49-F238E27FC236}">
                  <a16:creationId xmlns:a16="http://schemas.microsoft.com/office/drawing/2014/main" id="{DEFCBCEB-6447-4787-4306-8A84455FB9A1}"/>
                </a:ext>
              </a:extLst>
            </p:cNvPr>
            <p:cNvSpPr/>
            <p:nvPr userDrawn="1"/>
          </p:nvSpPr>
          <p:spPr>
            <a:xfrm rot="-2236353">
              <a:off x="7495263" y="3778223"/>
              <a:ext cx="580574" cy="130245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0627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Title and body" type="tx" preserve="1">
  <p:cSld name="1_WURD-Title and body recommendatio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311700" y="968025"/>
            <a:ext cx="85206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150" y="4615400"/>
            <a:ext cx="1272150" cy="2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25" y="0"/>
            <a:ext cx="9144000" cy="743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11700" y="17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24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grpSp>
        <p:nvGrpSpPr>
          <p:cNvPr id="2" name="Google Shape;184;p22">
            <a:extLst>
              <a:ext uri="{FF2B5EF4-FFF2-40B4-BE49-F238E27FC236}">
                <a16:creationId xmlns:a16="http://schemas.microsoft.com/office/drawing/2014/main" id="{D3AB9596-22F6-8ACD-CA50-4D69BC496EFE}"/>
              </a:ext>
            </a:extLst>
          </p:cNvPr>
          <p:cNvGrpSpPr/>
          <p:nvPr userDrawn="1"/>
        </p:nvGrpSpPr>
        <p:grpSpPr>
          <a:xfrm>
            <a:off x="8233443" y="-129228"/>
            <a:ext cx="940378" cy="874272"/>
            <a:chOff x="8390672" y="126022"/>
            <a:chExt cx="665848" cy="619042"/>
          </a:xfrm>
        </p:grpSpPr>
        <p:grpSp>
          <p:nvGrpSpPr>
            <p:cNvPr id="3" name="Google Shape;185;p22">
              <a:extLst>
                <a:ext uri="{FF2B5EF4-FFF2-40B4-BE49-F238E27FC236}">
                  <a16:creationId xmlns:a16="http://schemas.microsoft.com/office/drawing/2014/main" id="{1CDAF874-82CC-5000-7A20-1400E4F65E50}"/>
                </a:ext>
              </a:extLst>
            </p:cNvPr>
            <p:cNvGrpSpPr/>
            <p:nvPr/>
          </p:nvGrpSpPr>
          <p:grpSpPr>
            <a:xfrm>
              <a:off x="8390672" y="126022"/>
              <a:ext cx="665848" cy="619042"/>
              <a:chOff x="8390672" y="126022"/>
              <a:chExt cx="665848" cy="619042"/>
            </a:xfrm>
          </p:grpSpPr>
          <p:pic>
            <p:nvPicPr>
              <p:cNvPr id="7" name="Google Shape;186;p22">
                <a:extLst>
                  <a:ext uri="{FF2B5EF4-FFF2-40B4-BE49-F238E27FC236}">
                    <a16:creationId xmlns:a16="http://schemas.microsoft.com/office/drawing/2014/main" id="{5763F010-F12D-A71E-830C-9DAF6AB75D74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8390672" y="126022"/>
                <a:ext cx="665848" cy="6190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187;p22">
                <a:extLst>
                  <a:ext uri="{FF2B5EF4-FFF2-40B4-BE49-F238E27FC236}">
                    <a16:creationId xmlns:a16="http://schemas.microsoft.com/office/drawing/2014/main" id="{E7623E7D-CD7B-A7B8-1654-873492552DD9}"/>
                  </a:ext>
                </a:extLst>
              </p:cNvPr>
              <p:cNvSpPr/>
              <p:nvPr/>
            </p:nvSpPr>
            <p:spPr>
              <a:xfrm>
                <a:off x="8510700" y="126025"/>
                <a:ext cx="402000" cy="402000"/>
              </a:xfrm>
              <a:prstGeom prst="ellipse">
                <a:avLst/>
              </a:prstGeom>
              <a:solidFill>
                <a:srgbClr val="E9E5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188;p22">
              <a:extLst>
                <a:ext uri="{FF2B5EF4-FFF2-40B4-BE49-F238E27FC236}">
                  <a16:creationId xmlns:a16="http://schemas.microsoft.com/office/drawing/2014/main" id="{A60F359D-916B-C3CA-9537-2D3E1A107811}"/>
                </a:ext>
              </a:extLst>
            </p:cNvPr>
            <p:cNvGrpSpPr/>
            <p:nvPr/>
          </p:nvGrpSpPr>
          <p:grpSpPr>
            <a:xfrm>
              <a:off x="8561527" y="215918"/>
              <a:ext cx="324137" cy="324137"/>
              <a:chOff x="8311884" y="252364"/>
              <a:chExt cx="324169" cy="324169"/>
            </a:xfrm>
          </p:grpSpPr>
          <p:sp>
            <p:nvSpPr>
              <p:cNvPr id="5" name="Google Shape;189;p22">
                <a:extLst>
                  <a:ext uri="{FF2B5EF4-FFF2-40B4-BE49-F238E27FC236}">
                    <a16:creationId xmlns:a16="http://schemas.microsoft.com/office/drawing/2014/main" id="{15E8AEA5-54EE-4157-3BA7-0813C8A9C933}"/>
                  </a:ext>
                </a:extLst>
              </p:cNvPr>
              <p:cNvSpPr/>
              <p:nvPr/>
            </p:nvSpPr>
            <p:spPr>
              <a:xfrm>
                <a:off x="8354728" y="282410"/>
                <a:ext cx="233100" cy="233100"/>
              </a:xfrm>
              <a:prstGeom prst="ellipse">
                <a:avLst/>
              </a:prstGeom>
              <a:solidFill>
                <a:srgbClr val="E9E5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" name="Google Shape;190;p22">
                <a:extLst>
                  <a:ext uri="{FF2B5EF4-FFF2-40B4-BE49-F238E27FC236}">
                    <a16:creationId xmlns:a16="http://schemas.microsoft.com/office/drawing/2014/main" id="{8B707475-8F2F-DC86-6B01-9941790A47CE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311884" y="252364"/>
                <a:ext cx="324169" cy="3241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56863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9625" y="1359975"/>
            <a:ext cx="3855651" cy="24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200"/>
              <a:buFont typeface="Lexend ExtraBold"/>
              <a:buNone/>
              <a:defRPr sz="3200">
                <a:solidFill>
                  <a:srgbClr val="350267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SemiBold"/>
              <a:buNone/>
              <a:defRPr sz="2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●"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○"/>
              <a:defRPr sz="1600">
                <a:latin typeface="Heebo"/>
                <a:ea typeface="Heebo"/>
                <a:cs typeface="Heebo"/>
                <a:sym typeface="Heebo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■"/>
              <a:defRPr sz="1600">
                <a:latin typeface="Heebo"/>
                <a:ea typeface="Heebo"/>
                <a:cs typeface="Heebo"/>
                <a:sym typeface="Heebo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●"/>
              <a:defRPr sz="1600">
                <a:latin typeface="Heebo"/>
                <a:ea typeface="Heebo"/>
                <a:cs typeface="Heebo"/>
                <a:sym typeface="Heebo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○"/>
              <a:defRPr sz="1600">
                <a:latin typeface="Heebo"/>
                <a:ea typeface="Heebo"/>
                <a:cs typeface="Heebo"/>
                <a:sym typeface="Heebo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■"/>
              <a:defRPr sz="1600">
                <a:latin typeface="Heebo"/>
                <a:ea typeface="Heebo"/>
                <a:cs typeface="Heebo"/>
                <a:sym typeface="Heebo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●"/>
              <a:defRPr sz="1600">
                <a:latin typeface="Heebo"/>
                <a:ea typeface="Heebo"/>
                <a:cs typeface="Heebo"/>
                <a:sym typeface="Heebo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○"/>
              <a:defRPr sz="1600">
                <a:latin typeface="Heebo"/>
                <a:ea typeface="Heebo"/>
                <a:cs typeface="Heebo"/>
                <a:sym typeface="Heebo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Font typeface="Heebo"/>
              <a:buChar char="■"/>
              <a:defRPr sz="1600"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71" r:id="rId4"/>
    <p:sldLayoutId id="2147483670" r:id="rId5"/>
    <p:sldLayoutId id="214748366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C56BA65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dirty="0"/>
              <a:t>[project/page/product name]</a:t>
            </a:r>
            <a:endParaRPr lang="en"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" dirty="0"/>
              <a:t>Usability test results and recommendations</a:t>
            </a:r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" dirty="0"/>
              <a:t>Month Year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7089A62D-8552-9137-0D68-4DAFA878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B17F40BB-78E6-DA59-ED79-FA919F105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Executive Summary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709FC3A-32CA-C38E-7852-78DDDB3C3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032825"/>
            <a:ext cx="5431875" cy="3889219"/>
          </a:xfrm>
        </p:spPr>
        <p:txBody>
          <a:bodyPr>
            <a:normAutofit fontScale="92500" lnSpcReduction="20000"/>
          </a:bodyPr>
          <a:lstStyle/>
          <a:p>
            <a:pPr marL="127000" indent="0">
              <a:buNone/>
            </a:pPr>
            <a:r>
              <a:rPr lang="en-US" b="1" dirty="0"/>
              <a:t>Scope: </a:t>
            </a:r>
            <a:r>
              <a:rPr lang="en-US" dirty="0"/>
              <a:t>We tested (Product or page), focusing on (tasks, journey)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Methods: </a:t>
            </a:r>
            <a:r>
              <a:rPr lang="en-US" dirty="0"/>
              <a:t>Unmoderated formative testing with XX participants. We tested X tasks representing typical client actions.</a:t>
            </a:r>
          </a:p>
          <a:p>
            <a:endParaRPr lang="en-US" dirty="0"/>
          </a:p>
          <a:p>
            <a:pPr marL="127000" indent="0">
              <a:buNone/>
            </a:pPr>
            <a:r>
              <a:rPr lang="en-US" b="1" dirty="0"/>
              <a:t>Key findings: </a:t>
            </a:r>
          </a:p>
          <a:p>
            <a:r>
              <a:rPr lang="en-US" dirty="0"/>
              <a:t>Highlight or issue</a:t>
            </a:r>
          </a:p>
          <a:p>
            <a:r>
              <a:rPr lang="en-US" dirty="0" err="1"/>
              <a:t>Highight</a:t>
            </a:r>
            <a:r>
              <a:rPr lang="en-US" dirty="0"/>
              <a:t> or issue</a:t>
            </a:r>
          </a:p>
          <a:p>
            <a:r>
              <a:rPr lang="en-US" dirty="0"/>
              <a:t>Highlight or issue </a:t>
            </a:r>
          </a:p>
          <a:p>
            <a:endParaRPr lang="en-US" dirty="0"/>
          </a:p>
          <a:p>
            <a:pPr marL="127000" indent="0">
              <a:buNone/>
            </a:pPr>
            <a:r>
              <a:rPr lang="en-US" b="1" dirty="0"/>
              <a:t>Main recommendations:</a:t>
            </a:r>
          </a:p>
          <a:p>
            <a:r>
              <a:rPr lang="en-US" dirty="0" err="1"/>
              <a:t>Recc</a:t>
            </a:r>
            <a:r>
              <a:rPr lang="en-US" dirty="0"/>
              <a:t> 1</a:t>
            </a:r>
          </a:p>
          <a:p>
            <a:r>
              <a:rPr lang="en-US" dirty="0" err="1"/>
              <a:t>Recc</a:t>
            </a:r>
            <a:r>
              <a:rPr lang="en-US" dirty="0"/>
              <a:t> 2</a:t>
            </a:r>
          </a:p>
          <a:p>
            <a:r>
              <a:rPr lang="en-US" dirty="0" err="1"/>
              <a:t>Recc</a:t>
            </a:r>
            <a:r>
              <a:rPr lang="en-US" dirty="0"/>
              <a:t> 3</a:t>
            </a:r>
          </a:p>
          <a:p>
            <a:pPr marL="127000" indent="0">
              <a:buNone/>
            </a:pPr>
            <a:endParaRPr lang="en-US" b="1" dirty="0"/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3EF0C-98D0-A327-23D1-1CD7C7CA19CD}"/>
              </a:ext>
            </a:extLst>
          </p:cNvPr>
          <p:cNvSpPr/>
          <p:nvPr/>
        </p:nvSpPr>
        <p:spPr>
          <a:xfrm>
            <a:off x="6086475" y="1335881"/>
            <a:ext cx="2745825" cy="2928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of product/page tested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2146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102F038E-C7DD-99A4-C6FE-F7E767DF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F07F0BE2-8065-2500-E287-A1BBF24BAF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Methods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0E92470-5F98-7EE0-C0E5-47B696A26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0" y="928533"/>
            <a:ext cx="1514100" cy="1231656"/>
          </a:xfrm>
          <a:ln w="57150">
            <a:solidFill>
              <a:srgbClr val="7030A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3600" dirty="0"/>
              <a:t>XX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1200" dirty="0"/>
              <a:t>participants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E06A1-7FB7-6318-C497-F06A90BDD933}"/>
              </a:ext>
            </a:extLst>
          </p:cNvPr>
          <p:cNvGrpSpPr/>
          <p:nvPr/>
        </p:nvGrpSpPr>
        <p:grpSpPr>
          <a:xfrm>
            <a:off x="429900" y="1032436"/>
            <a:ext cx="1514100" cy="3746733"/>
            <a:chOff x="429900" y="1032436"/>
            <a:chExt cx="1514100" cy="37467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771233F-706F-A729-EAB7-D8E9E6A61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</a:blip>
            <a:stretch>
              <a:fillRect/>
            </a:stretch>
          </p:blipFill>
          <p:spPr>
            <a:xfrm>
              <a:off x="584288" y="1032436"/>
              <a:ext cx="342412" cy="249580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A1673EF-C6CE-B9ED-C152-78CC2D24546F}"/>
                </a:ext>
              </a:extLst>
            </p:cNvPr>
            <p:cNvGrpSpPr/>
            <p:nvPr/>
          </p:nvGrpSpPr>
          <p:grpSpPr>
            <a:xfrm>
              <a:off x="429900" y="3741144"/>
              <a:ext cx="1514100" cy="1038025"/>
              <a:chOff x="2155800" y="984800"/>
              <a:chExt cx="1514100" cy="1038025"/>
            </a:xfrm>
          </p:grpSpPr>
          <p:sp>
            <p:nvSpPr>
              <p:cNvPr id="12" name="Text Placeholder 2">
                <a:extLst>
                  <a:ext uri="{FF2B5EF4-FFF2-40B4-BE49-F238E27FC236}">
                    <a16:creationId xmlns:a16="http://schemas.microsoft.com/office/drawing/2014/main" id="{1492ED3C-A286-E6E8-4491-7DAC6D580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5800" y="984800"/>
                <a:ext cx="1514100" cy="1038025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1pPr>
                <a:lvl2pPr marL="914400" marR="0" lvl="1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2pPr>
                <a:lvl3pPr marL="1371600" marR="0" lvl="2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3pPr>
                <a:lvl4pPr marL="1828800" marR="0" lvl="3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4pPr>
                <a:lvl5pPr marL="2286000" marR="0" lvl="4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5pPr>
                <a:lvl6pPr marL="2743200" marR="0" lvl="5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6pPr>
                <a:lvl7pPr marL="3200400" marR="0" lvl="6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7pPr>
                <a:lvl8pPr marL="3657600" marR="0" lvl="7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8pPr>
                <a:lvl9pPr marL="4114800" marR="0" lvl="8" indent="-330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eb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Heebo"/>
                    <a:ea typeface="Heebo"/>
                    <a:cs typeface="Heebo"/>
                    <a:sym typeface="Heebo"/>
                  </a:defRPr>
                </a:lvl9pPr>
              </a:lstStyle>
              <a:p>
                <a:pPr marL="0" indent="0">
                  <a:buFont typeface="Heebo"/>
                  <a:buNone/>
                </a:pPr>
                <a:br>
                  <a:rPr lang="en-US" sz="1200" dirty="0"/>
                </a:br>
                <a:br>
                  <a:rPr lang="en-US" sz="1200" dirty="0"/>
                </a:br>
                <a:r>
                  <a:rPr lang="en-US" sz="1200" dirty="0"/>
                  <a:t>Unmoderated testing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2090E97-646B-4926-7C2E-7431C16C9E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grayscl/>
              </a:blip>
              <a:stretch>
                <a:fillRect/>
              </a:stretch>
            </p:blipFill>
            <p:spPr>
              <a:xfrm>
                <a:off x="2239404" y="1088702"/>
                <a:ext cx="227640" cy="249581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C4FCAF-8A2F-DEFF-4C34-3DB49C59BC7A}"/>
              </a:ext>
            </a:extLst>
          </p:cNvPr>
          <p:cNvGrpSpPr/>
          <p:nvPr/>
        </p:nvGrpSpPr>
        <p:grpSpPr>
          <a:xfrm>
            <a:off x="429900" y="2346453"/>
            <a:ext cx="1514100" cy="1231656"/>
            <a:chOff x="429900" y="2544835"/>
            <a:chExt cx="1514100" cy="1231656"/>
          </a:xfrm>
        </p:grpSpPr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DF28E3DA-2E6E-C6E8-68A4-4D9457212181}"/>
                </a:ext>
              </a:extLst>
            </p:cNvPr>
            <p:cNvSpPr txBox="1">
              <a:spLocks/>
            </p:cNvSpPr>
            <p:nvPr/>
          </p:nvSpPr>
          <p:spPr>
            <a:xfrm>
              <a:off x="429900" y="2544835"/>
              <a:ext cx="1514100" cy="1231656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●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1pPr>
              <a:lvl2pPr marL="914400" marR="0" lvl="1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○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2pPr>
              <a:lvl3pPr marL="1371600" marR="0" lvl="2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■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3pPr>
              <a:lvl4pPr marL="1828800" marR="0" lvl="3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●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4pPr>
              <a:lvl5pPr marL="2286000" marR="0" lvl="4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○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5pPr>
              <a:lvl6pPr marL="2743200" marR="0" lvl="5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■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6pPr>
              <a:lvl7pPr marL="3200400" marR="0" lvl="6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●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7pPr>
              <a:lvl8pPr marL="3657600" marR="0" lvl="7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○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8pPr>
              <a:lvl9pPr marL="4114800" marR="0" lvl="8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ebo"/>
                <a:buChar char="■"/>
                <a:defRPr sz="1600" b="0" i="0" u="none" strike="noStrike" cap="none">
                  <a:solidFill>
                    <a:schemeClr val="dk1"/>
                  </a:solidFill>
                  <a:latin typeface="Heebo"/>
                  <a:ea typeface="Heebo"/>
                  <a:cs typeface="Heebo"/>
                  <a:sym typeface="Heebo"/>
                </a:defRPr>
              </a:lvl9pPr>
            </a:lstStyle>
            <a:p>
              <a:pPr marL="0" indent="0">
                <a:buFont typeface="Heebo"/>
                <a:buNone/>
              </a:pPr>
              <a:endParaRPr lang="en-US" sz="1400" dirty="0"/>
            </a:p>
            <a:p>
              <a:pPr marL="0" indent="0">
                <a:buFont typeface="Heebo"/>
                <a:buNone/>
              </a:pPr>
              <a:r>
                <a:rPr lang="en-US" sz="3600" dirty="0"/>
                <a:t>XX</a:t>
              </a:r>
              <a:br>
                <a:rPr lang="en-US" sz="3600" dirty="0"/>
              </a:br>
              <a:r>
                <a:rPr lang="en-US" sz="1200" dirty="0"/>
                <a:t>tasks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6046F4-348C-49DB-29A4-B688495B6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tretch>
              <a:fillRect/>
            </a:stretch>
          </p:blipFill>
          <p:spPr>
            <a:xfrm>
              <a:off x="508129" y="2678508"/>
              <a:ext cx="247365" cy="238299"/>
            </a:xfrm>
            <a:prstGeom prst="rect">
              <a:avLst/>
            </a:prstGeom>
          </p:spPr>
        </p:pic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A6B9270-A7E0-A2A2-5C81-137A2437AB25}"/>
              </a:ext>
            </a:extLst>
          </p:cNvPr>
          <p:cNvSpPr txBox="1">
            <a:spLocks/>
          </p:cNvSpPr>
          <p:nvPr/>
        </p:nvSpPr>
        <p:spPr>
          <a:xfrm>
            <a:off x="2098388" y="2480126"/>
            <a:ext cx="6121646" cy="123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469900" indent="-342900">
              <a:buFont typeface="+mj-lt"/>
              <a:buAutoNum type="arabicPeriod"/>
            </a:pPr>
            <a:r>
              <a:rPr lang="en-US" dirty="0"/>
              <a:t>Find portal landing page</a:t>
            </a:r>
          </a:p>
          <a:p>
            <a:pPr marL="469900" indent="-342900">
              <a:buFont typeface="+mj-lt"/>
              <a:buAutoNum type="arabicPeriod"/>
            </a:pPr>
            <a:r>
              <a:rPr lang="en-US" dirty="0"/>
              <a:t>Create account</a:t>
            </a:r>
          </a:p>
          <a:p>
            <a:pPr marL="469900" indent="-342900">
              <a:buFont typeface="+mj-lt"/>
              <a:buAutoNum type="arabicPeriod"/>
            </a:pPr>
            <a:r>
              <a:rPr lang="en-US" dirty="0"/>
              <a:t>Log in</a:t>
            </a:r>
            <a:br>
              <a:rPr lang="en-US" dirty="0"/>
            </a:br>
            <a:endParaRPr lang="en-US" dirty="0"/>
          </a:p>
          <a:p>
            <a:pPr marL="469900" indent="-342900">
              <a:buFont typeface="+mj-lt"/>
              <a:buAutoNum type="arabicPeriod"/>
            </a:pPr>
            <a:r>
              <a:rPr lang="en-US" dirty="0"/>
              <a:t>Start new application</a:t>
            </a:r>
          </a:p>
          <a:p>
            <a:pPr marL="469900" indent="-342900">
              <a:buFont typeface="+mj-lt"/>
              <a:buAutoNum type="arabicPeriod"/>
            </a:pPr>
            <a:r>
              <a:rPr lang="en-US" dirty="0"/>
              <a:t>Save application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437B7D-BEC3-1DF0-9902-84136CA4D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03596"/>
              </p:ext>
            </p:extLst>
          </p:nvPr>
        </p:nvGraphicFramePr>
        <p:xfrm>
          <a:off x="2259806" y="911176"/>
          <a:ext cx="6095999" cy="91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7071078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4501953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9379227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5675013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353198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4235055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67354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Gender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Citizenship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Device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Other 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88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En</a:t>
                      </a:r>
                      <a:br>
                        <a:rPr lang="en-US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French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19-65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M</a:t>
                      </a:r>
                      <a:br>
                        <a:rPr lang="en-US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W</a:t>
                      </a: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Other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Non-Canadians only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mobile</a:t>
                      </a: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desktop</a:t>
                      </a: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 tablet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(other demographics)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(other demographics)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03293"/>
                  </a:ext>
                </a:extLst>
              </a:tr>
            </a:tbl>
          </a:graphicData>
        </a:graphic>
      </p:graphicFrame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B12F313-5777-B058-A246-176DDEA8C988}"/>
              </a:ext>
            </a:extLst>
          </p:cNvPr>
          <p:cNvSpPr txBox="1">
            <a:spLocks/>
          </p:cNvSpPr>
          <p:nvPr/>
        </p:nvSpPr>
        <p:spPr>
          <a:xfrm>
            <a:off x="2098388" y="3744761"/>
            <a:ext cx="6121646" cy="123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endParaRPr lang="en-US" dirty="0"/>
          </a:p>
          <a:p>
            <a:pPr marL="127000" indent="0">
              <a:buFont typeface="Heebo"/>
              <a:buNone/>
            </a:pP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6387A17-2767-C88D-CACC-DD6673331D18}"/>
              </a:ext>
            </a:extLst>
          </p:cNvPr>
          <p:cNvSpPr txBox="1">
            <a:spLocks/>
          </p:cNvSpPr>
          <p:nvPr/>
        </p:nvSpPr>
        <p:spPr>
          <a:xfrm>
            <a:off x="2098388" y="3744761"/>
            <a:ext cx="6121646" cy="123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 dirty="0"/>
              <a:t>Formative testing</a:t>
            </a:r>
          </a:p>
          <a:p>
            <a:r>
              <a:rPr lang="en-US" dirty="0"/>
              <a:t>Goal: Identify usability issues</a:t>
            </a:r>
          </a:p>
        </p:txBody>
      </p:sp>
    </p:spTree>
    <p:extLst>
      <p:ext uri="{BB962C8B-B14F-4D97-AF65-F5344CB8AC3E}">
        <p14:creationId xmlns:p14="http://schemas.microsoft.com/office/powerpoint/2010/main" val="547006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F0550142-0018-C514-634B-A781B9FF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12577A6F-822F-8576-8AF2-70D64ACA2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Overall results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2A9113-46F4-EFBB-B447-81F7CB3BC1DB}"/>
              </a:ext>
            </a:extLst>
          </p:cNvPr>
          <p:cNvSpPr txBox="1">
            <a:spLocks/>
          </p:cNvSpPr>
          <p:nvPr/>
        </p:nvSpPr>
        <p:spPr>
          <a:xfrm>
            <a:off x="6638832" y="3622674"/>
            <a:ext cx="2193467" cy="1193013"/>
          </a:xfrm>
          <a:prstGeom prst="rect">
            <a:avLst/>
          </a:prstGeom>
          <a:solidFill>
            <a:srgbClr val="E9E5F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r>
              <a:rPr lang="en-US" sz="3600" dirty="0">
                <a:solidFill>
                  <a:srgbClr val="600DB4"/>
                </a:solidFill>
              </a:rPr>
              <a:t>XX</a:t>
            </a:r>
          </a:p>
          <a:p>
            <a:pPr marL="127000" indent="0">
              <a:buFont typeface="Heebo"/>
              <a:buNone/>
            </a:pPr>
            <a:r>
              <a:rPr lang="en-US" sz="1000" dirty="0"/>
              <a:t>Other metric</a:t>
            </a:r>
            <a:endParaRPr lang="en-US" sz="1000" b="1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D7509F1-91E8-898C-659C-BB3E79D3B4C9}"/>
              </a:ext>
            </a:extLst>
          </p:cNvPr>
          <p:cNvSpPr txBox="1">
            <a:spLocks/>
          </p:cNvSpPr>
          <p:nvPr/>
        </p:nvSpPr>
        <p:spPr>
          <a:xfrm>
            <a:off x="6638830" y="2265245"/>
            <a:ext cx="2193469" cy="1193013"/>
          </a:xfrm>
          <a:prstGeom prst="rect">
            <a:avLst/>
          </a:prstGeom>
          <a:solidFill>
            <a:srgbClr val="E9E5F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r>
              <a:rPr lang="en-US" sz="3600" dirty="0">
                <a:solidFill>
                  <a:srgbClr val="600DB4"/>
                </a:solidFill>
              </a:rPr>
              <a:t>XX</a:t>
            </a:r>
          </a:p>
          <a:p>
            <a:pPr marL="127000" indent="0">
              <a:buFont typeface="Heebo"/>
              <a:buNone/>
            </a:pPr>
            <a:r>
              <a:rPr lang="en-US" sz="1000" dirty="0"/>
              <a:t>Participants who did (insert key </a:t>
            </a:r>
            <a:r>
              <a:rPr lang="en-US" sz="1000" dirty="0" err="1"/>
              <a:t>behaviour</a:t>
            </a:r>
            <a:r>
              <a:rPr lang="en-US" sz="1000" dirty="0"/>
              <a:t> here)</a:t>
            </a:r>
            <a:endParaRPr lang="en-US" sz="1000" b="1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6109C94-7518-89DB-316A-31C29D332A88}"/>
              </a:ext>
            </a:extLst>
          </p:cNvPr>
          <p:cNvSpPr txBox="1">
            <a:spLocks/>
          </p:cNvSpPr>
          <p:nvPr/>
        </p:nvSpPr>
        <p:spPr>
          <a:xfrm>
            <a:off x="6638829" y="907816"/>
            <a:ext cx="2193469" cy="1193013"/>
          </a:xfrm>
          <a:prstGeom prst="rect">
            <a:avLst/>
          </a:prstGeom>
          <a:solidFill>
            <a:srgbClr val="E9E5F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r>
              <a:rPr lang="en-US" sz="3600" dirty="0">
                <a:solidFill>
                  <a:srgbClr val="600DB4"/>
                </a:solidFill>
              </a:rPr>
              <a:t>XX%</a:t>
            </a:r>
          </a:p>
          <a:p>
            <a:pPr marL="127000" indent="0">
              <a:buFont typeface="Heebo"/>
              <a:buNone/>
            </a:pPr>
            <a:r>
              <a:rPr lang="en-US" sz="1000" dirty="0"/>
              <a:t>Overall task success</a:t>
            </a:r>
            <a:endParaRPr lang="en-US" sz="1000" b="1" dirty="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82CE73C5-BFF3-5097-345F-686D7CB66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032825"/>
            <a:ext cx="5710481" cy="3508695"/>
          </a:xfrm>
        </p:spPr>
        <p:txBody>
          <a:bodyPr>
            <a:normAutofit/>
          </a:bodyPr>
          <a:lstStyle/>
          <a:p>
            <a:r>
              <a:rPr lang="en-US" b="1" dirty="0"/>
              <a:t>Summary: </a:t>
            </a:r>
          </a:p>
          <a:p>
            <a:endParaRPr lang="en-US" b="1" dirty="0"/>
          </a:p>
          <a:p>
            <a:r>
              <a:rPr lang="en-US" b="1" dirty="0"/>
              <a:t>Highlight</a:t>
            </a:r>
            <a:r>
              <a:rPr lang="en-US" dirty="0"/>
              <a:t>: (talk about what worked well; good user feedback; things to continue)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Key issue(s): </a:t>
            </a:r>
            <a:r>
              <a:rPr lang="en-US" dirty="0"/>
              <a:t>(talk about where things went wrong, what needs attention or improvement)</a:t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9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F5A016BA-12BD-1712-AE31-2D6E8E5E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EE4674F8-C558-6DB5-8E07-968A83779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Highlight or Issue slide (duplicate as many times as needed)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66A8C7-C042-677D-1712-77162AFB76E5}"/>
              </a:ext>
            </a:extLst>
          </p:cNvPr>
          <p:cNvSpPr txBox="1">
            <a:spLocks/>
          </p:cNvSpPr>
          <p:nvPr/>
        </p:nvSpPr>
        <p:spPr>
          <a:xfrm>
            <a:off x="385792" y="1006678"/>
            <a:ext cx="4663500" cy="1149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r>
              <a:rPr lang="en-US" sz="1700" b="1" dirty="0"/>
              <a:t>Highlight or Issue</a:t>
            </a:r>
          </a:p>
          <a:p>
            <a:pPr marL="127000" indent="0">
              <a:buNone/>
            </a:pPr>
            <a:r>
              <a:rPr lang="en-US" sz="1300" dirty="0"/>
              <a:t>Text describing highlight or issue, e.g. ‘During the Create an Account task, 5 participants struggled to find the Sign Up button. This is likely due to (design issue)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C9D10-FC5B-B3D3-EBB1-385D3E3DA7F9}"/>
              </a:ext>
            </a:extLst>
          </p:cNvPr>
          <p:cNvSpPr/>
          <p:nvPr/>
        </p:nvSpPr>
        <p:spPr>
          <a:xfrm>
            <a:off x="5543550" y="1314450"/>
            <a:ext cx="3288750" cy="3078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Screenshot of highlight or issue</a:t>
            </a:r>
            <a:endParaRPr lang="en-CA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356E4D-2E9A-022C-C62A-11D46AB9B9B3}"/>
              </a:ext>
            </a:extLst>
          </p:cNvPr>
          <p:cNvSpPr txBox="1">
            <a:spLocks/>
          </p:cNvSpPr>
          <p:nvPr/>
        </p:nvSpPr>
        <p:spPr>
          <a:xfrm>
            <a:off x="385792" y="2571750"/>
            <a:ext cx="4663500" cy="1328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Font typeface="Heebo"/>
              <a:buNone/>
            </a:pPr>
            <a:r>
              <a:rPr lang="en-US" sz="1700" b="1" dirty="0"/>
              <a:t>Recommendation</a:t>
            </a:r>
          </a:p>
          <a:p>
            <a:pPr marL="127000" indent="0">
              <a:buNone/>
            </a:pPr>
            <a:r>
              <a:rPr lang="en-US" sz="1300" dirty="0"/>
              <a:t>Text describing a fix to the design issue, e.g. ‘Making the Sign Up button bigger and placing it in the conventional top right corner of the screen will likely make it more findable’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4813EFE-C123-FC41-3E8F-E699D3B65C1A}"/>
              </a:ext>
            </a:extLst>
          </p:cNvPr>
          <p:cNvSpPr/>
          <p:nvPr/>
        </p:nvSpPr>
        <p:spPr>
          <a:xfrm>
            <a:off x="2846114" y="3816837"/>
            <a:ext cx="2450307" cy="1034806"/>
          </a:xfrm>
          <a:prstGeom prst="wedgeRoundRectCallout">
            <a:avLst>
              <a:gd name="adj1" fmla="val 75377"/>
              <a:gd name="adj2" fmla="val -40362"/>
              <a:gd name="adj3" fmla="val 16667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i="1" dirty="0">
                <a:solidFill>
                  <a:schemeClr val="tx1"/>
                </a:solidFill>
              </a:rPr>
              <a:t>P1: </a:t>
            </a:r>
            <a:r>
              <a:rPr lang="fr-CA" dirty="0" err="1">
                <a:solidFill>
                  <a:schemeClr val="tx1"/>
                </a:solidFill>
              </a:rPr>
              <a:t>quote</a:t>
            </a:r>
            <a:r>
              <a:rPr lang="fr-CA" dirty="0">
                <a:solidFill>
                  <a:schemeClr val="tx1"/>
                </a:solidFill>
              </a:rPr>
              <a:t> </a:t>
            </a:r>
            <a:r>
              <a:rPr lang="fr-CA" dirty="0" err="1">
                <a:solidFill>
                  <a:schemeClr val="tx1"/>
                </a:solidFill>
              </a:rPr>
              <a:t>quote</a:t>
            </a:r>
            <a:r>
              <a:rPr lang="fr-CA" dirty="0">
                <a:solidFill>
                  <a:schemeClr val="tx1"/>
                </a:solidFill>
              </a:rPr>
              <a:t> </a:t>
            </a:r>
            <a:r>
              <a:rPr lang="fr-CA" dirty="0" err="1">
                <a:solidFill>
                  <a:schemeClr val="tx1"/>
                </a:solidFill>
              </a:rPr>
              <a:t>quote</a:t>
            </a:r>
            <a:endParaRPr lang="en-CA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5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78608623-0041-4C99-835B-3AA9833E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16192849-196C-A1E6-F0FE-78A74BC2F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2000" dirty="0"/>
              <a:t>Example of a more visual slide for explaining a more complex issue</a:t>
            </a:r>
            <a:endParaRPr lang="en-US" sz="20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DA14A95-06BA-7710-9E9B-A55E32C403C9}"/>
              </a:ext>
            </a:extLst>
          </p:cNvPr>
          <p:cNvSpPr txBox="1">
            <a:spLocks/>
          </p:cNvSpPr>
          <p:nvPr/>
        </p:nvSpPr>
        <p:spPr>
          <a:xfrm>
            <a:off x="311700" y="851359"/>
            <a:ext cx="8457300" cy="57270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Brief description of issue and impact on users</a:t>
            </a:r>
            <a:endParaRPr lang="en-US" sz="12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76E6CA-FDEF-0B9F-96B1-77E0D754DC03}"/>
              </a:ext>
            </a:extLst>
          </p:cNvPr>
          <p:cNvSpPr txBox="1">
            <a:spLocks/>
          </p:cNvSpPr>
          <p:nvPr/>
        </p:nvSpPr>
        <p:spPr>
          <a:xfrm>
            <a:off x="374100" y="3950142"/>
            <a:ext cx="6458700" cy="683997"/>
          </a:xfrm>
          <a:prstGeom prst="rect">
            <a:avLst/>
          </a:prstGeom>
          <a:solidFill>
            <a:srgbClr val="E9E5F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lnSpc>
                <a:spcPct val="114999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Recommendation: </a:t>
            </a: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4BDC04-8F2E-EB7C-0F4C-8E63F18AC56C}"/>
              </a:ext>
            </a:extLst>
          </p:cNvPr>
          <p:cNvGrpSpPr/>
          <p:nvPr/>
        </p:nvGrpSpPr>
        <p:grpSpPr>
          <a:xfrm>
            <a:off x="374100" y="1540319"/>
            <a:ext cx="4681457" cy="2211824"/>
            <a:chOff x="3894700" y="1128977"/>
            <a:chExt cx="4681457" cy="22118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9B2D9DE-AD1F-A26C-D493-C7917D7FDB01}"/>
                </a:ext>
              </a:extLst>
            </p:cNvPr>
            <p:cNvGrpSpPr/>
            <p:nvPr/>
          </p:nvGrpSpPr>
          <p:grpSpPr>
            <a:xfrm>
              <a:off x="3894700" y="1375199"/>
              <a:ext cx="4681457" cy="1965602"/>
              <a:chOff x="3442839" y="1072799"/>
              <a:chExt cx="5195900" cy="218160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8A9F1CC-BA01-390B-9E20-38DA4AD7F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2839" y="1072799"/>
                <a:ext cx="2979516" cy="218160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C7448D9-F6C9-1B96-CAFA-4B2D13C50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1977" y="1466153"/>
                <a:ext cx="2506762" cy="139489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5FD3FB9-7415-0FC6-66CC-26A8D57DE7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22400" y="2462400"/>
                <a:ext cx="1656000" cy="61920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0B99F6-0354-96B2-EB8A-F4E275C83139}"/>
                </a:ext>
              </a:extLst>
            </p:cNvPr>
            <p:cNvSpPr txBox="1"/>
            <p:nvPr/>
          </p:nvSpPr>
          <p:spPr>
            <a:xfrm>
              <a:off x="3894700" y="1128977"/>
              <a:ext cx="46814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00" b="1" dirty="0">
                  <a:latin typeface="Heebo" pitchFamily="2" charset="-79"/>
                  <a:cs typeface="Heebo" pitchFamily="2" charset="-79"/>
                </a:rPr>
                <a:t>Title describing issue shown in screenshots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3954CB-DC1C-A4ED-AB6C-3A5FAE983801}"/>
              </a:ext>
            </a:extLst>
          </p:cNvPr>
          <p:cNvGrpSpPr/>
          <p:nvPr/>
        </p:nvGrpSpPr>
        <p:grpSpPr>
          <a:xfrm>
            <a:off x="5256000" y="1544836"/>
            <a:ext cx="3765600" cy="2856458"/>
            <a:chOff x="5256000" y="1420522"/>
            <a:chExt cx="3765600" cy="28564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47CA419-0ADB-5E2F-7431-106918B0215C}"/>
                </a:ext>
              </a:extLst>
            </p:cNvPr>
            <p:cNvGrpSpPr/>
            <p:nvPr/>
          </p:nvGrpSpPr>
          <p:grpSpPr>
            <a:xfrm>
              <a:off x="5256000" y="1822215"/>
              <a:ext cx="3765600" cy="2454765"/>
              <a:chOff x="5256000" y="1781510"/>
              <a:chExt cx="3765600" cy="245476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5079FC1-8050-3B93-8FBB-3AFBDD08B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6000" y="1781510"/>
                <a:ext cx="3340800" cy="147683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77705EC-9594-6B08-DE5C-B5E255674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7819"/>
              <a:stretch/>
            </p:blipFill>
            <p:spPr>
              <a:xfrm>
                <a:off x="6976800" y="2759440"/>
                <a:ext cx="2044800" cy="147683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9E64A10-F4A2-CE30-79CC-4BA961276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17600" y="3030978"/>
                <a:ext cx="259200" cy="108222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B96EF9-F3B9-25A0-55C6-CF6446298928}"/>
                </a:ext>
              </a:extLst>
            </p:cNvPr>
            <p:cNvSpPr txBox="1"/>
            <p:nvPr/>
          </p:nvSpPr>
          <p:spPr>
            <a:xfrm>
              <a:off x="5256000" y="1420522"/>
              <a:ext cx="3765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00" b="1" dirty="0">
                  <a:latin typeface="Heebo" pitchFamily="2" charset="-79"/>
                  <a:cs typeface="Heebo" pitchFamily="2" charset="-79"/>
                </a:rPr>
                <a:t>Title describing issue shown in screenshots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411066-3A04-5ADE-84B3-B6513A2C48AE}"/>
              </a:ext>
            </a:extLst>
          </p:cNvPr>
          <p:cNvCxnSpPr>
            <a:cxnSpLocks/>
          </p:cNvCxnSpPr>
          <p:nvPr/>
        </p:nvCxnSpPr>
        <p:spPr>
          <a:xfrm>
            <a:off x="1694543" y="1431259"/>
            <a:ext cx="575491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271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091CB994-5736-8824-645E-F60EFCBF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>
            <a:extLst>
              <a:ext uri="{FF2B5EF4-FFF2-40B4-BE49-F238E27FC236}">
                <a16:creationId xmlns:a16="http://schemas.microsoft.com/office/drawing/2014/main" id="{CCB92D58-FBE6-50AB-5FF1-B1DDA1115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dirty="0"/>
              <a:t>Summary of recommendations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886AA4A-AECB-3319-C52A-7CEFACDB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68025"/>
            <a:ext cx="4524619" cy="24591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Summarize top recommendation 1 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Summarize top recommendation 2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Summarize top recommendation 3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0B7B95-12BF-DFB2-F80F-530427972B12}"/>
              </a:ext>
            </a:extLst>
          </p:cNvPr>
          <p:cNvSpPr txBox="1">
            <a:spLocks/>
          </p:cNvSpPr>
          <p:nvPr/>
        </p:nvSpPr>
        <p:spPr>
          <a:xfrm>
            <a:off x="311700" y="3954511"/>
            <a:ext cx="4874663" cy="473699"/>
          </a:xfrm>
          <a:prstGeom prst="rect">
            <a:avLst/>
          </a:prstGeom>
          <a:solidFill>
            <a:srgbClr val="E9E5F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16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2700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Hopeful text about improving the design for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9605AE-137F-2EC9-CA64-AEF9167B946A}"/>
              </a:ext>
            </a:extLst>
          </p:cNvPr>
          <p:cNvSpPr/>
          <p:nvPr/>
        </p:nvSpPr>
        <p:spPr>
          <a:xfrm>
            <a:off x="5543550" y="1314450"/>
            <a:ext cx="3288750" cy="3078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Screenshot of highlight or issue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21664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2F3131-8A83-467B-1B33-45FE35E8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>
            <a:extLst>
              <a:ext uri="{FF2B5EF4-FFF2-40B4-BE49-F238E27FC236}">
                <a16:creationId xmlns:a16="http://schemas.microsoft.com/office/drawing/2014/main" id="{5306AF16-B84F-AF3E-FBDD-DB940D220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8452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Appendix</a:t>
            </a:r>
            <a:endParaRPr dirty="0"/>
          </a:p>
        </p:txBody>
      </p:sp>
      <p:sp>
        <p:nvSpPr>
          <p:cNvPr id="150" name="Google Shape;150;p26">
            <a:extLst>
              <a:ext uri="{FF2B5EF4-FFF2-40B4-BE49-F238E27FC236}">
                <a16:creationId xmlns:a16="http://schemas.microsoft.com/office/drawing/2014/main" id="{CD567EAD-27A0-273C-1E16-499FD74109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2737775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820"/>
          </a:p>
        </p:txBody>
      </p:sp>
    </p:spTree>
    <p:extLst>
      <p:ext uri="{BB962C8B-B14F-4D97-AF65-F5344CB8AC3E}">
        <p14:creationId xmlns:p14="http://schemas.microsoft.com/office/powerpoint/2010/main" val="1628480693"/>
      </p:ext>
    </p:extLst>
  </p:cSld>
  <p:clrMapOvr>
    <a:masterClrMapping/>
  </p:clrMapOvr>
</p:sld>
</file>

<file path=ppt/theme/theme1.xml><?xml version="1.0" encoding="utf-8"?>
<a:theme xmlns:a="http://schemas.openxmlformats.org/drawingml/2006/main" name="WURD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515c89-0c3e-4060-8eba-4c2eeb3cc3a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292C9EA99CC4DB040A14F7EB7CAAE" ma:contentTypeVersion="13" ma:contentTypeDescription="Create a new document." ma:contentTypeScope="" ma:versionID="afc2d48892ad9d85173ee4238de4740b">
  <xsd:schema xmlns:xsd="http://www.w3.org/2001/XMLSchema" xmlns:xs="http://www.w3.org/2001/XMLSchema" xmlns:p="http://schemas.microsoft.com/office/2006/metadata/properties" xmlns:ns2="3a515c89-0c3e-4060-8eba-4c2eeb3cc3ab" xmlns:ns3="d0f9f239-cc39-4af7-9648-3bbd68e9fcc0" targetNamespace="http://schemas.microsoft.com/office/2006/metadata/properties" ma:root="true" ma:fieldsID="4a17989cb746de587726ad5d22c784a7" ns2:_="" ns3:_="">
    <xsd:import namespace="3a515c89-0c3e-4060-8eba-4c2eeb3cc3ab"/>
    <xsd:import namespace="d0f9f239-cc39-4af7-9648-3bbd68e9f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515c89-0c3e-4060-8eba-4c2eeb3cc3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fc7e3e-e2e3-4810-9525-338c41887b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f9f239-cc39-4af7-9648-3bbd68e9f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B6CB1D-89B2-4638-AED9-813384800A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517D5A-3861-4943-93D5-5A0C1A5D5F64}">
  <ds:schemaRefs>
    <ds:schemaRef ds:uri="3a515c89-0c3e-4060-8eba-4c2eeb3cc3ab"/>
    <ds:schemaRef ds:uri="d0f9f239-cc39-4af7-9648-3bbd68e9fc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25AE4FA-B0C7-419E-90D8-CD8F99F9B45C}">
  <ds:schemaRefs>
    <ds:schemaRef ds:uri="3a515c89-0c3e-4060-8eba-4c2eeb3cc3ab"/>
    <ds:schemaRef ds:uri="d0f9f239-cc39-4af7-9648-3bbd68e9fc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4432</TotalTime>
  <Words>375</Words>
  <Application>Microsoft Office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Heebo</vt:lpstr>
      <vt:lpstr>Wingdings</vt:lpstr>
      <vt:lpstr>Arial</vt:lpstr>
      <vt:lpstr>Lexend</vt:lpstr>
      <vt:lpstr>Lexend ExtraBold</vt:lpstr>
      <vt:lpstr>Lexend SemiBold</vt:lpstr>
      <vt:lpstr>WURD theme</vt:lpstr>
      <vt:lpstr>[project/page/product name]</vt:lpstr>
      <vt:lpstr>Executive Summary</vt:lpstr>
      <vt:lpstr>Methods</vt:lpstr>
      <vt:lpstr>Overall results</vt:lpstr>
      <vt:lpstr>Highlight or Issue slide (duplicate as many times as needed)</vt:lpstr>
      <vt:lpstr>Example of a more visual slide for explaining a more complex issue</vt:lpstr>
      <vt:lpstr>Summary of recommendations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WURD reporting template</dc:title>
  <cp:lastModifiedBy>Hutt, Eric (IRCC/IRCC) (he, him | il, lui)</cp:lastModifiedBy>
  <cp:revision>5</cp:revision>
  <dcterms:modified xsi:type="dcterms:W3CDTF">2026-04-27T15:26:24Z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0x010100D7A292C9EA99CC4DB040A14F7EB7CAAE</vt:lpwstr>
  </property>
  <property fmtid="{D5CDD505-2E9C-101B-9397-08002B2CF9AE}" pid="3" name="MediaServiceImageTags">
    <vt:lpwstr/>
  </property>
</Properties>
</file>