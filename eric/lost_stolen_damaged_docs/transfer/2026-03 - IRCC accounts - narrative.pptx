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114_209AA912.xml" ContentType="application/vnd.ms-powerpoint.comments+xml"/>
  <Override PartName="/ppt/notesSlides/notesSlide3.xml" ContentType="application/vnd.openxmlformats-officedocument.presentationml.notesSlide+xml"/>
  <Override PartName="/ppt/comments/modernComment_11A_A2362F2C.xml" ContentType="application/vnd.ms-powerpoint.comments+xml"/>
  <Override PartName="/ppt/notesSlides/notesSlide4.xml" ContentType="application/vnd.openxmlformats-officedocument.presentationml.notesSlide+xml"/>
  <Override PartName="/ppt/comments/modernComment_112_C054FB2A.xml" ContentType="application/vnd.ms-powerpoint.comments+xml"/>
  <Override PartName="/ppt/notesSlides/notesSlide5.xml" ContentType="application/vnd.openxmlformats-officedocument.presentationml.notesSlide+xml"/>
  <Override PartName="/ppt/comments/modernComment_120_931D3035.xml" ContentType="application/vnd.ms-powerpoint.comments+xml"/>
  <Override PartName="/ppt/notesSlides/notesSlide6.xml" ContentType="application/vnd.openxmlformats-officedocument.presentationml.notesSlide+xml"/>
  <Override PartName="/ppt/comments/modernComment_11B_1F68BE8B.xml" ContentType="application/vnd.ms-powerpoint.comments+xml"/>
  <Override PartName="/ppt/notesSlides/notesSlide7.xml" ContentType="application/vnd.openxmlformats-officedocument.presentationml.notesSlide+xml"/>
  <Override PartName="/ppt/comments/modernComment_113_A3404FD4.xml" ContentType="application/vnd.ms-powerpoint.comment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25_F2EFC28.xml" ContentType="application/vnd.ms-powerpoint.comments+xml"/>
  <Override PartName="/ppt/notesSlides/notesSlide13.xml" ContentType="application/vnd.openxmlformats-officedocument.presentationml.notesSlide+xml"/>
  <Override PartName="/ppt/comments/modernComment_123_C56BA657.xml" ContentType="application/vnd.ms-powerpoint.comment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8" r:id="rId4"/>
  </p:sldMasterIdLst>
  <p:notesMasterIdLst>
    <p:notesMasterId r:id="rId38"/>
  </p:notesMasterIdLst>
  <p:sldIdLst>
    <p:sldId id="256" r:id="rId5"/>
    <p:sldId id="276" r:id="rId6"/>
    <p:sldId id="282" r:id="rId7"/>
    <p:sldId id="274" r:id="rId8"/>
    <p:sldId id="288" r:id="rId9"/>
    <p:sldId id="283" r:id="rId10"/>
    <p:sldId id="275" r:id="rId11"/>
    <p:sldId id="292" r:id="rId12"/>
    <p:sldId id="297" r:id="rId13"/>
    <p:sldId id="296" r:id="rId14"/>
    <p:sldId id="295" r:id="rId15"/>
    <p:sldId id="293" r:id="rId16"/>
    <p:sldId id="291" r:id="rId17"/>
    <p:sldId id="280" r:id="rId18"/>
    <p:sldId id="279" r:id="rId19"/>
    <p:sldId id="294" r:id="rId20"/>
    <p:sldId id="284" r:id="rId21"/>
    <p:sldId id="287" r:id="rId22"/>
    <p:sldId id="286" r:id="rId23"/>
    <p:sldId id="290" r:id="rId24"/>
    <p:sldId id="289" r:id="rId25"/>
    <p:sldId id="285" r:id="rId26"/>
    <p:sldId id="278" r:id="rId27"/>
    <p:sldId id="258" r:id="rId28"/>
    <p:sldId id="259" r:id="rId29"/>
    <p:sldId id="260" r:id="rId30"/>
    <p:sldId id="261" r:id="rId31"/>
    <p:sldId id="262" r:id="rId32"/>
    <p:sldId id="263" r:id="rId33"/>
    <p:sldId id="264" r:id="rId34"/>
    <p:sldId id="266" r:id="rId35"/>
    <p:sldId id="267" r:id="rId36"/>
    <p:sldId id="265" r:id="rId37"/>
  </p:sldIdLst>
  <p:sldSz cx="9144000" cy="5143500" type="screen16x9"/>
  <p:notesSz cx="6858000" cy="9144000"/>
  <p:embeddedFontLst>
    <p:embeddedFont>
      <p:font typeface="Heebo" pitchFamily="2" charset="-79"/>
      <p:regular r:id="rId39"/>
      <p:bold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F3DC05-2994-6CC3-24AE-C3D36C233334}" name="Anderson, Valerie (IRCC/IRCC)" initials="AV" userId="S::valerie.anderson@cic.gc.ca::be8ce9a5-f02e-48ed-946e-d876aa57caff" providerId="AD"/>
  <p188:author id="{730D840D-E88A-E958-A2D4-11620B86F379}" name="Nadeau, Anne (IRCC/IRCC)" initials="NA" userId="S::anne.nadeau@cic.gc.ca::ada67c01-aadb-4240-a688-bb1e4bd3a668" providerId="AD"/>
  <p188:author id="{9F20C65B-0C75-A1ED-CDF5-A679AC75152A}" name="Pepin, David (IRCC/IRCC)" initials="PD" userId="S::david.pepin@cic.gc.ca::ffcb2b90-7795-4b44-aa5c-64a5faacd812" providerId="AD"/>
  <p188:author id="{45BA40AA-580F-2A72-2F55-484E82DEBC69}" name="Santo, Yael (IRCC/IRCC) (she, her | elle, la)" initials="YS" userId="S::Yael.Santo@cic.gc.ca::3ad7bc69-25ce-425f-9b3d-00426e5f306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00DB4"/>
    <a:srgbClr val="FFFFFF"/>
    <a:srgbClr val="FF3DA1"/>
    <a:srgbClr val="E9E5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fntdata"/><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2.fntdata"/><Relationship Id="rId45"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presProps" Target="presProps.xml"/></Relationships>
</file>

<file path=ppt/comments/modernComment_11A_A2362F2C.xml><?xml version="1.0" encoding="utf-8"?>
<p188:cmLst xmlns:a="http://schemas.openxmlformats.org/drawingml/2006/main" xmlns:r="http://schemas.openxmlformats.org/officeDocument/2006/relationships" xmlns:p188="http://schemas.microsoft.com/office/powerpoint/2018/8/main">
  <p188:cm id="{4405D494-C9F0-4CBD-8B5A-1B3A30A9A0AE}" authorId="{730D840D-E88A-E958-A2D4-11620B86F379}" created="2026-03-17T19:05:23.088">
    <pc:sldMkLst xmlns:pc="http://schemas.microsoft.com/office/powerpoint/2013/main/command">
      <pc:docMk/>
      <pc:sldMk cId="2721460012" sldId="282"/>
    </pc:sldMkLst>
    <p188:replyLst>
      <p188:reply id="{1D7A914E-C534-4C3C-BEB6-D0D6A73662F1}" authorId="{9F20C65B-0C75-A1ED-CDF5-A679AC75152A}" created="2026-03-18T15:03:03.046">
        <p188:txBody>
          <a:bodyPr/>
          <a:lstStyle/>
          <a:p>
            <a:r>
              <a:rPr lang="en-US"/>
              <a:t>reworded the bullets a bit</a:t>
            </a:r>
          </a:p>
        </p188:txBody>
      </p188:reply>
    </p188:replyLst>
    <p188:txBody>
      <a:bodyPr/>
      <a:lstStyle/>
      <a:p>
        <a:r>
          <a:rPr lang="en-US"/>
          <a:t>For visiting, would you use up to the 3 different accounts? Or do you mean you have to choose between the 3 accounts?</a:t>
        </a:r>
      </a:p>
    </p188:txBody>
  </p188:cm>
</p188:cmLst>
</file>

<file path=ppt/comments/modernComment_11B_1F68BE8B.xml><?xml version="1.0" encoding="utf-8"?>
<p188:cmLst xmlns:a="http://schemas.openxmlformats.org/drawingml/2006/main" xmlns:r="http://schemas.openxmlformats.org/officeDocument/2006/relationships" xmlns:p188="http://schemas.microsoft.com/office/powerpoint/2018/8/main">
  <p188:cm id="{96342411-AE35-4544-9400-2D8079B45E5E}" authorId="{65F3DC05-2994-6CC3-24AE-C3D36C233334}" created="2026-03-17T01:55:00.312">
    <ac:txMkLst xmlns:ac="http://schemas.microsoft.com/office/drawing/2013/main/command">
      <pc:docMk xmlns:pc="http://schemas.microsoft.com/office/powerpoint/2013/main/command"/>
      <pc:sldMk xmlns:pc="http://schemas.microsoft.com/office/powerpoint/2013/main/command" cId="526958219" sldId="283"/>
      <ac:spMk id="132" creationId="{EE4674F8-C558-6DB5-8E07-968A83779D7F}"/>
      <ac:txMk cp="0" len="37">
        <ac:context len="46" hash="3388758482"/>
      </ac:txMk>
    </ac:txMkLst>
    <p188:pos x="4440709" y="262581"/>
    <p188:txBody>
      <a:bodyPr/>
      <a:lstStyle/>
      <a:p>
        <a:r>
          <a:rPr lang="en-US"/>
          <a:t>Maybe add the year it was introduced in the slide title </a:t>
        </a:r>
      </a:p>
    </p188:txBody>
    <p188:extLst>
      <p:ext xmlns:p="http://schemas.openxmlformats.org/presentationml/2006/main" uri="{57CB4572-C831-44C2-8A1C-0ADB6CCDFE69}">
        <p223:reactions xmlns:p223="http://schemas.microsoft.com/office/powerpoint/2022/03/main">
          <p223:rxn type="👍">
            <p223:instance time="2026-03-17T13:11:36.770" authorId="{9F20C65B-0C75-A1ED-CDF5-A679AC75152A}"/>
          </p223:rxn>
        </p223:reactions>
      </p:ext>
    </p188:extLst>
  </p188:cm>
  <p188:cm id="{6582A7C4-57AC-40C0-B768-C90A407A619B}" authorId="{65F3DC05-2994-6CC3-24AE-C3D36C233334}" created="2026-03-17T01:56:09.999">
    <ac:txMkLst xmlns:ac="http://schemas.microsoft.com/office/drawing/2013/main/command">
      <pc:docMk xmlns:pc="http://schemas.microsoft.com/office/powerpoint/2013/main/command"/>
      <pc:sldMk xmlns:pc="http://schemas.microsoft.com/office/powerpoint/2013/main/command" cId="526958219" sldId="283"/>
      <ac:spMk id="4" creationId="{5806DE35-63D0-54BC-D7E9-B48F97B2D79F}"/>
      <ac:txMk cp="0" len="19">
        <ac:context len="57" hash="572818310"/>
      </ac:txMk>
    </ac:txMkLst>
    <p188:pos x="2386398" y="278027"/>
    <p188:replyLst>
      <p188:reply id="{E23B9EE2-E64C-4D00-A549-72932388CEE9}" authorId="{9F20C65B-0C75-A1ED-CDF5-A679AC75152A}" created="2026-03-17T13:13:13.802">
        <p188:txBody>
          <a:bodyPr/>
          <a:lstStyle/>
          <a:p>
            <a:r>
              <a:rPr lang="en-US"/>
              <a:t>Not sure what you mean? I guess not all visits then go to a sign in pages, but a good 70% do.  Maybe we need to compare to visits to the sign pages (like: what % go through the wizard?)</a:t>
            </a:r>
          </a:p>
        </p188:txBody>
      </p188:reply>
    </p188:replyLst>
    <p188:txBody>
      <a:bodyPr/>
      <a:lstStyle/>
      <a:p>
        <a:r>
          <a:rPr lang="en-US"/>
          <a:t>For the visits I'd make sure it's clear its to the tool and not to the sign in pages or collective sign in experience</a:t>
        </a:r>
      </a:p>
    </p188:txBody>
    <p188:extLst>
      <p:ext xmlns:p="http://schemas.openxmlformats.org/presentationml/2006/main" uri="{57CB4572-C831-44C2-8A1C-0ADB6CCDFE69}">
        <p223:reactions xmlns:p223="http://schemas.microsoft.com/office/powerpoint/2022/03/main">
          <p223:rxn type="👍">
            <p223:instance time="2026-03-17T17:28:34.010" authorId="{9F20C65B-0C75-A1ED-CDF5-A679AC75152A}"/>
          </p223:rxn>
        </p223:reactions>
      </p:ext>
    </p188:extLst>
  </p188:cm>
  <p188:cm id="{0D9F69C5-AFC9-400F-AB51-A5326EC07572}" authorId="{730D840D-E88A-E958-A2D4-11620B86F379}" created="2026-03-17T19:08:03.838">
    <pc:sldMkLst xmlns:pc="http://schemas.microsoft.com/office/powerpoint/2013/main/command">
      <pc:docMk/>
      <pc:sldMk cId="526958219" sldId="283"/>
    </pc:sldMkLst>
    <p188:txBody>
      <a:bodyPr/>
      <a:lstStyle/>
      <a:p>
        <a:r>
          <a:rPr lang="en-US"/>
          <a:t>Maybe the title should be like "Why Web introduced the account wizard in 2024"</a:t>
        </a:r>
      </a:p>
    </p188:txBody>
    <p188:extLst>
      <p:ext xmlns:p="http://schemas.openxmlformats.org/presentationml/2006/main" uri="{57CB4572-C831-44C2-8A1C-0ADB6CCDFE69}">
        <p223:reactions xmlns:p223="http://schemas.microsoft.com/office/powerpoint/2022/03/main">
          <p223:rxn type="👍">
            <p223:instance time="2026-03-18T15:03:31.905" authorId="{9F20C65B-0C75-A1ED-CDF5-A679AC75152A}"/>
          </p223:rxn>
        </p223:reactions>
      </p:ext>
    </p188:extLst>
  </p188:cm>
  <p188:cm id="{B28D8828-FA26-49CE-8D71-3AA025859E71}" authorId="{730D840D-E88A-E958-A2D4-11620B86F379}" created="2026-03-17T19:09:34.619">
    <ac:deMkLst xmlns:ac="http://schemas.microsoft.com/office/drawing/2013/main/command">
      <pc:docMk xmlns:pc="http://schemas.microsoft.com/office/powerpoint/2013/main/command"/>
      <pc:sldMk xmlns:pc="http://schemas.microsoft.com/office/powerpoint/2013/main/command" cId="526958219" sldId="283"/>
      <ac:spMk id="5" creationId="{E41B3EEF-0BC5-838D-6C0C-102908C636D0}"/>
    </ac:deMkLst>
    <p188:replyLst>
      <p188:reply id="{D90BF9F8-176E-42C4-ADDF-E824FAE83F7B}" authorId="{9F20C65B-0C75-A1ED-CDF5-A679AC75152A}" created="2026-03-18T15:04:22.108">
        <p188:txBody>
          <a:bodyPr/>
          <a:lstStyle/>
          <a:p>
            <a:r>
              <a:rPr lang="en-US"/>
              <a:t>I tried rewording a bit</a:t>
            </a:r>
          </a:p>
        </p188:txBody>
      </p188:reply>
    </p188:replyLst>
    <p188:txBody>
      <a:bodyPr/>
      <a:lstStyle/>
      <a:p>
        <a:r>
          <a:rPr lang="en-US"/>
          <a:t>We say "no clear reason to use one over the other" but our web content in TRV does point users in a specific direction sometimes.</a:t>
        </a:r>
      </a:p>
    </p188:txBody>
  </p188:cm>
</p188:cmLst>
</file>

<file path=ppt/comments/modernComment_112_C054FB2A.xml><?xml version="1.0" encoding="utf-8"?>
<p188:cmLst xmlns:a="http://schemas.openxmlformats.org/drawingml/2006/main" xmlns:r="http://schemas.openxmlformats.org/officeDocument/2006/relationships" xmlns:p188="http://schemas.microsoft.com/office/powerpoint/2018/8/main">
  <p188:cm id="{074221F1-7E84-4495-B7A8-6800763B3D01}" authorId="{45BA40AA-580F-2A72-2F55-484E82DEBC69}" created="2026-03-12T19:57:17.561">
    <ac:txMkLst xmlns:ac="http://schemas.microsoft.com/office/drawing/2013/main/command">
      <pc:docMk xmlns:pc="http://schemas.microsoft.com/office/powerpoint/2013/main/command"/>
      <pc:sldMk xmlns:pc="http://schemas.microsoft.com/office/powerpoint/2013/main/command" cId="3226794794" sldId="274"/>
      <ac:spMk id="2" creationId="{DDA39450-7468-98E0-1499-628E9FFC99DA}"/>
      <ac:txMk cp="97">
        <ac:context len="98" hash="576508321"/>
      </ac:txMk>
    </ac:txMkLst>
    <p188:pos x="4819100" y="2783918"/>
    <p188:replyLst>
      <p188:reply id="{DE91D1AC-C388-491B-9160-C93B52741D5B}" authorId="{45BA40AA-580F-2A72-2F55-484E82DEBC69}" created="2026-03-12T19:57:39.467">
        <p188:txBody>
          <a:bodyPr/>
          <a:lstStyle/>
          <a:p>
            <a:r>
              <a:rPr lang="en-US"/>
              <a:t>Data needs to be confirmed.</a:t>
            </a:r>
          </a:p>
        </p188:txBody>
      </p188:reply>
      <p188:reply id="{E78C87AD-06DF-4869-99E8-141459AA07DD}" authorId="{9F20C65B-0C75-A1ED-CDF5-A679AC75152A}" created="2026-03-16T19:18:19.527">
        <p188:txBody>
          <a:bodyPr/>
          <a:lstStyle/>
          <a:p>
            <a:r>
              <a:rPr lang="en-US"/>
              <a:t>Numbers confirmed, over all of 2025. </a:t>
            </a:r>
          </a:p>
        </p188:txBody>
      </p188:reply>
      <p188:reply id="{08159DD2-594B-45BE-A53B-FB17BE98E4A3}" authorId="{65F3DC05-2994-6CC3-24AE-C3D36C233334}" created="2026-03-17T01:53:41.656">
        <p188:txBody>
          <a:bodyPr/>
          <a:lstStyle/>
          <a:p>
            <a:r>
              <a:rPr lang="en-US"/>
              <a:t>I'd add the In 2025 reference in there alongside the account splits so people can see it in context</a:t>
            </a:r>
          </a:p>
        </p188:txBody>
        <p188:extLst>
          <p:ext xmlns:p="http://schemas.openxmlformats.org/presentationml/2006/main" uri="{57CB4572-C831-44C2-8A1C-0ADB6CCDFE69}">
            <p223:reactions xmlns:p223="http://schemas.microsoft.com/office/powerpoint/2022/03/main">
              <p223:rxn type="👍">
                <p223:instance time="2026-03-17T13:09:23.926" authorId="{9F20C65B-0C75-A1ED-CDF5-A679AC75152A}"/>
              </p223:rxn>
            </p223:reactions>
          </p:ext>
        </p188:extLst>
      </p188:reply>
    </p188:replyLst>
    <p188:txBody>
      <a:bodyPr/>
      <a:lstStyle/>
      <a:p>
        <a:r>
          <a:rPr lang="en-US"/>
          <a:t>Calculated based off of image shared in slack.</a:t>
        </a:r>
      </a:p>
    </p188:txBody>
  </p188:cm>
  <p188:cm id="{18E1B305-FCA9-4A6E-9704-170A6EDCBFF9}" authorId="{730D840D-E88A-E958-A2D4-11620B86F379}" created="2026-03-17T19:06:04.822">
    <pc:sldMkLst xmlns:pc="http://schemas.microsoft.com/office/powerpoint/2013/main/command">
      <pc:docMk/>
      <pc:sldMk cId="3226794794" sldId="274"/>
    </pc:sldMkLst>
    <p188:txBody>
      <a:bodyPr/>
      <a:lstStyle/>
      <a:p>
        <a:r>
          <a:rPr lang="en-US"/>
          <a:t>This slide me me LOL</a:t>
        </a:r>
      </a:p>
    </p188:txBody>
  </p188:cm>
</p188:cmLst>
</file>

<file path=ppt/comments/modernComment_113_A3404FD4.xml><?xml version="1.0" encoding="utf-8"?>
<p188:cmLst xmlns:a="http://schemas.openxmlformats.org/drawingml/2006/main" xmlns:r="http://schemas.openxmlformats.org/officeDocument/2006/relationships" xmlns:p188="http://schemas.microsoft.com/office/powerpoint/2018/8/main">
  <p188:cm id="{C00D1815-BCF0-4F0C-9C3E-A7692E1E6B30}" authorId="{45BA40AA-580F-2A72-2F55-484E82DEBC69}" created="2026-03-12T16:08:25.156">
    <ac:txMkLst xmlns:ac="http://schemas.microsoft.com/office/drawing/2013/main/command">
      <pc:docMk xmlns:pc="http://schemas.microsoft.com/office/powerpoint/2013/main/command"/>
      <pc:sldMk xmlns:pc="http://schemas.microsoft.com/office/powerpoint/2013/main/command" cId="2738900948" sldId="275"/>
      <ac:spMk id="12" creationId="{710C9DCB-ABBF-62DC-9ECE-2B68A902AA0E}"/>
      <ac:txMk cp="0">
        <ac:context len="1" hash="13"/>
      </ac:txMk>
    </ac:txMkLst>
    <p188:replyLst>
      <p188:reply id="{877366EF-057A-4826-A1E9-F44AD6C6B621}" authorId="{9F20C65B-0C75-A1ED-CDF5-A679AC75152A}" created="2026-03-18T15:08:17.234">
        <p188:txBody>
          <a:bodyPr/>
          <a:lstStyle/>
          <a:p>
            <a:r>
              <a:rPr lang="en-US"/>
              <a:t>I spoke with someone - everything is pretty much on hold until CXP work resumes. But all in all: the decommissioning strategy hinges on when some things are fully created in the CXP. </a:t>
            </a:r>
          </a:p>
        </p188:txBody>
      </p188:reply>
    </p188:replyLst>
    <p188:txBody>
      <a:bodyPr/>
      <a:lstStyle/>
      <a:p>
        <a:r>
          <a:rPr lang="en-US"/>
          <a:t>Do we still have that doc that showed how decisions would be made about updating legacy systems?</a:t>
        </a:r>
      </a:p>
    </p188:txBody>
  </p188:cm>
  <p188:cm id="{2AC558E2-9B34-459B-9FCB-7915E0C395D2}" authorId="{65F3DC05-2994-6CC3-24AE-C3D36C233334}" created="2026-03-17T02:01:31.140">
    <ac:txMkLst xmlns:ac="http://schemas.microsoft.com/office/drawing/2013/main/command">
      <pc:docMk xmlns:pc="http://schemas.microsoft.com/office/powerpoint/2013/main/command"/>
      <pc:sldMk xmlns:pc="http://schemas.microsoft.com/office/powerpoint/2013/main/command" cId="2738900948" sldId="275"/>
      <ac:spMk id="3" creationId="{3F0F54FA-DB4C-9070-BA04-2DBB67392998}"/>
      <ac:txMk cp="40" len="122">
        <ac:context len="163" hash="569576621"/>
      </ac:txMk>
    </ac:txMkLst>
    <p188:pos x="2078831" y="2314575"/>
    <p188:replyLst>
      <p188:reply id="{9DA2ACBF-61B1-4964-80B8-54A3F4A49C84}" authorId="{9F20C65B-0C75-A1ED-CDF5-A679AC75152A}" created="2026-03-17T13:18:19.413">
        <p188:txBody>
          <a:bodyPr/>
          <a:lstStyle/>
          <a:p>
            <a:r>
              <a:rPr lang="en-US"/>
              <a:t>I added something on slide 8</a:t>
            </a:r>
          </a:p>
        </p188:txBody>
      </p188:reply>
    </p188:replyLst>
    <p188:txBody>
      <a:bodyPr/>
      <a:lstStyle/>
      <a:p>
        <a:r>
          <a:rPr lang="en-US"/>
          <a:t>maintenance mode also doesn't allow for really needed user improvements to address known pain points in these platforms (e.g. PR card photo issue)</a:t>
        </a:r>
      </a:p>
    </p188:txBody>
    <p188:extLst>
      <p:ext xmlns:p="http://schemas.openxmlformats.org/presentationml/2006/main" uri="{57CB4572-C831-44C2-8A1C-0ADB6CCDFE69}">
        <p223:reactions xmlns:p223="http://schemas.microsoft.com/office/powerpoint/2022/03/main">
          <p223:rxn type="👍">
            <p223:instance time="2026-03-17T13:17:00.850" authorId="{9F20C65B-0C75-A1ED-CDF5-A679AC75152A}"/>
          </p223:rxn>
        </p223:reactions>
      </p:ext>
    </p188:extLst>
  </p188:cm>
</p188:cmLst>
</file>

<file path=ppt/comments/modernComment_114_209AA912.xml><?xml version="1.0" encoding="utf-8"?>
<p188:cmLst xmlns:a="http://schemas.openxmlformats.org/drawingml/2006/main" xmlns:r="http://schemas.openxmlformats.org/officeDocument/2006/relationships" xmlns:p188="http://schemas.microsoft.com/office/powerpoint/2018/8/main">
  <p188:cm id="{D6809684-5459-401D-B11F-55FB9485F36F}" authorId="{65F3DC05-2994-6CC3-24AE-C3D36C233334}" status="resolved" created="2026-03-17T01:51:08.202" complete="100000">
    <pc:sldMkLst xmlns:pc="http://schemas.microsoft.com/office/powerpoint/2013/main/command">
      <pc:docMk/>
      <pc:sldMk cId="547006738" sldId="276"/>
    </pc:sldMkLst>
    <p188:txBody>
      <a:bodyPr/>
      <a:lstStyle/>
      <a:p>
        <a:r>
          <a:rPr lang="en-US"/>
          <a:t>I'd suggest making the box colour align with the one in the image for easy understanding. 
Would also recommend separating partner accounts from rep accounts in the flow if you're going to call them out separately outside. </a:t>
        </a:r>
      </a:p>
    </p188:txBody>
  </p188:cm>
  <p188:cm id="{0FFC9D1E-FD0C-4BF4-B85E-0676EA949CD7}" authorId="{730D840D-E88A-E958-A2D4-11620B86F379}" created="2026-03-17T19:03:57.775">
    <pc:sldMkLst xmlns:pc="http://schemas.microsoft.com/office/powerpoint/2013/main/command">
      <pc:docMk/>
      <pc:sldMk cId="547006738" sldId="276"/>
    </pc:sldMkLst>
    <p188:replyLst>
      <p188:reply id="{FE9D3818-35FE-4F90-B2A2-FF327C81CCCF}" authorId="{9F20C65B-0C75-A1ED-CDF5-A679AC75152A}" created="2026-03-18T15:01:56.577">
        <p188:txBody>
          <a:bodyPr/>
          <a:lstStyle/>
          <a:p>
            <a:r>
              <a:rPr lang="en-US"/>
              <a:t>Secure spaces are areas that are "secure tools", but without "account creation" - like eTA application and web forms. </a:t>
            </a:r>
          </a:p>
        </p188:txBody>
      </p188:reply>
    </p188:replyLst>
    <p188:txBody>
      <a:bodyPr/>
      <a:lstStyle/>
      <a:p>
        <a:r>
          <a:rPr lang="en-US"/>
          <a:t>I'm a bit confused by the "secure spaces" references? Like this is different than the accounts? This is where the accounts live?</a:t>
        </a:r>
      </a:p>
    </p188:txBody>
  </p188:cm>
</p188:cmLst>
</file>

<file path=ppt/comments/modernComment_120_931D3035.xml><?xml version="1.0" encoding="utf-8"?>
<p188:cmLst xmlns:a="http://schemas.openxmlformats.org/drawingml/2006/main" xmlns:r="http://schemas.openxmlformats.org/officeDocument/2006/relationships" xmlns:p188="http://schemas.microsoft.com/office/powerpoint/2018/8/main">
  <p188:cm id="{81451DEC-6FED-4CF9-92AB-8CFA75CCAD06}" authorId="{65F3DC05-2994-6CC3-24AE-C3D36C233334}" created="2026-03-17T01:54:33.702">
    <pc:sldMkLst xmlns:pc="http://schemas.microsoft.com/office/powerpoint/2013/main/command">
      <pc:docMk/>
      <pc:sldMk cId="2468163637" sldId="288"/>
    </pc:sldMkLst>
    <p188:txBody>
      <a:bodyPr/>
      <a:lstStyle/>
      <a:p>
        <a:r>
          <a:rPr lang="en-US"/>
          <a:t>This issue will continue to compound with increasing processing times for some major lines of business</a:t>
        </a:r>
      </a:p>
    </p188:txBody>
    <p188:extLst>
      <p:ext xmlns:p="http://schemas.openxmlformats.org/presentationml/2006/main" uri="{57CB4572-C831-44C2-8A1C-0ADB6CCDFE69}">
        <p223:reactions xmlns:p223="http://schemas.microsoft.com/office/powerpoint/2022/03/main">
          <p223:rxn type="👍">
            <p223:instance time="2026-03-17T13:10:58.067" authorId="{9F20C65B-0C75-A1ED-CDF5-A679AC75152A}"/>
          </p223:rxn>
        </p223:reactions>
      </p:ext>
    </p188:extLst>
  </p188:cm>
</p188:cmLst>
</file>

<file path=ppt/comments/modernComment_123_C56BA657.xml><?xml version="1.0" encoding="utf-8"?>
<p188:cmLst xmlns:a="http://schemas.openxmlformats.org/drawingml/2006/main" xmlns:r="http://schemas.openxmlformats.org/officeDocument/2006/relationships" xmlns:p188="http://schemas.microsoft.com/office/powerpoint/2018/8/main">
  <p188:cm id="{3DB07F5D-8297-4E9F-BA1C-10FD90014152}" authorId="{65F3DC05-2994-6CC3-24AE-C3D36C233334}" created="2026-03-17T02:03:58.155">
    <ac:txMkLst xmlns:ac="http://schemas.microsoft.com/office/drawing/2013/main/command">
      <pc:docMk xmlns:pc="http://schemas.microsoft.com/office/powerpoint/2013/main/command"/>
      <pc:sldMk xmlns:pc="http://schemas.microsoft.com/office/powerpoint/2013/main/command" cId="3312166487" sldId="291"/>
      <ac:spMk id="2" creationId="{3886AA4A-AECB-3319-C52A-7CEFACDBF451}"/>
      <ac:txMk cp="227" len="66">
        <ac:context len="326" hash="3872895277"/>
      </ac:txMk>
    </ac:txMkLst>
    <p188:pos x="6858000" y="1950243"/>
    <p188:replyLst>
      <p188:reply id="{291349B7-CC1A-4DF3-8F51-3E4162B5E331}" authorId="{9F20C65B-0C75-A1ED-CDF5-A679AC75152A}" created="2026-03-17T13:18:05.991">
        <p188:txBody>
          <a:bodyPr/>
          <a:lstStyle/>
          <a:p>
            <a:r>
              <a:rPr lang="en-US"/>
              <a:t>I put something on slide 8</a:t>
            </a:r>
          </a:p>
        </p188:txBody>
      </p188:reply>
    </p188:replyLst>
    <p188:txBody>
      <a:bodyPr/>
      <a:lstStyle/>
      <a:p>
        <a:r>
          <a:rPr lang="en-US"/>
          <a:t>I would argue (maybe not the right place here though) also that the workarounds can have a negative impact on public's perception of Web and its ease of use/quality of information given they don't know distinguish between public facing site and other spaces. </a:t>
        </a:r>
      </a:p>
    </p188:txBody>
  </p188:cm>
</p188:cmLst>
</file>

<file path=ppt/comments/modernComment_125_F2EFC28.xml><?xml version="1.0" encoding="utf-8"?>
<p188:cmLst xmlns:a="http://schemas.openxmlformats.org/drawingml/2006/main" xmlns:r="http://schemas.openxmlformats.org/officeDocument/2006/relationships" xmlns:p188="http://schemas.microsoft.com/office/powerpoint/2018/8/main">
  <p188:cm id="{C1A44073-24F0-4CC9-8663-E9F3F13D91F2}" authorId="{65F3DC05-2994-6CC3-24AE-C3D36C233334}" created="2026-03-17T02:00:11.999">
    <ac:txMkLst xmlns:ac="http://schemas.microsoft.com/office/drawing/2013/main/command">
      <pc:docMk xmlns:pc="http://schemas.microsoft.com/office/powerpoint/2013/main/command"/>
      <pc:sldMk xmlns:pc="http://schemas.microsoft.com/office/powerpoint/2013/main/command" cId="254737448" sldId="293"/>
      <ac:spMk id="34" creationId="{7E022383-DC1F-9804-5012-8595A33FAC02}"/>
      <ac:txMk cp="52" len="20">
        <ac:context len="425" hash="1826428337"/>
      </ac:txMk>
    </ac:txMkLst>
    <p188:pos x="2550318" y="742950"/>
    <p188:txBody>
      <a:bodyPr/>
      <a:lstStyle/>
      <a:p>
        <a:r>
          <a:rPr lang="en-US"/>
          <a:t>I would maybe add that there is a current lack of understanding around what the vision is for the account landscape in the context of CXP delays or something along those lines about lack of a clear understanding of what the internal vision is and what an honest estimate of how long we'll be in this interim space is</a:t>
        </a:r>
      </a:p>
    </p188:txBody>
    <p188:extLst>
      <p:ext xmlns:p="http://schemas.openxmlformats.org/presentationml/2006/main" uri="{57CB4572-C831-44C2-8A1C-0ADB6CCDFE69}">
        <p223:reactions xmlns:p223="http://schemas.microsoft.com/office/powerpoint/2022/03/main">
          <p223:rxn type="👍">
            <p223:instance time="2026-03-17T13:15:31.099" authorId="{9F20C65B-0C75-A1ED-CDF5-A679AC75152A}"/>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0C503228-46B0-7A4B-42A7-7E2F63064EC4}"/>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8E26A95D-E042-0C07-4FD9-50B168A95B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E60E208B-7E5C-47B0-3419-7C96DCFE0F0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60052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B8E972F2-131E-A9CF-2886-F7825749E117}"/>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D5925E38-08AE-A9DD-5FD8-A061D9D45D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E50F6020-674B-AB6A-F075-0A2C710325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42581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018E919-1172-C92A-D2D1-D27F374108C9}"/>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EDA30E6A-B2B9-4691-4E56-F30EC50D0F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F655BD48-8E44-2973-8020-240FF60C2D8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11473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1602267-E720-A4B2-D38E-7DAA42639707}"/>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F3075E43-2035-0BA5-C220-5963F44C62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3974D6DB-3DE0-D821-3E96-DE5F9E32A1B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5202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248B3517-81ED-98BD-FF54-6D3AF950EEF6}"/>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25C2F7C4-705B-9F97-8978-D458BC0381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3B63E764-9E76-EC4D-86E0-CD39157169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088261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2DE27BBE-3FC8-C6B8-4221-EC856E829F79}"/>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788C086B-9D2A-A621-019B-CFF2D8ADCB7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445DC8CE-E563-D888-DF30-3A55B959E5C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631279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3FC9FDBA-3FC0-874E-17B1-96C30ED99C4A}"/>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157F73CD-209B-78DA-B948-443B910AFE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132F8900-CDEE-73AD-5FDB-E277FC479F0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956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027D1E5-4C2F-0FED-83F5-8050F94A3374}"/>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9EAD5D6E-342E-9FE6-7CE8-4EADED41EEB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0B074054-607B-5D1D-0B04-E425B3CF8EE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838909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7E4AD4F9-D53D-A9A1-435C-F8A15B79905B}"/>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A6B58B15-CA29-A51C-8528-82A99242D3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672CE7B1-377C-3A20-9E91-B0B118C32B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75095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335A9BB-8341-574A-5A49-B6ABD78D06F0}"/>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A418EF61-FCC3-91AF-EE57-60AEA39C0D0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2DA0C4D2-4AD0-14A7-583A-C3D1B6FC5BA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47795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56E1EDA9-155F-DDB5-3ACE-2FE8729CC0F9}"/>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9E264FD3-641D-800F-C800-9E9E2D53665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8EBAF3FC-1DC1-3F24-A12E-C767F874078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228181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6667CB22-1126-B648-45C5-6DA9587E38BD}"/>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8522DAB0-DA41-9E97-D6D7-93A9800B18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3F0E8698-F37E-EB2E-C9AC-16639842FE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14993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a:extLst>
            <a:ext uri="{FF2B5EF4-FFF2-40B4-BE49-F238E27FC236}">
              <a16:creationId xmlns:a16="http://schemas.microsoft.com/office/drawing/2014/main" id="{CA099DBB-BF4E-087E-3D3C-9CE68B2E60AE}"/>
            </a:ext>
          </a:extLst>
        </p:cNvPr>
        <p:cNvGrpSpPr/>
        <p:nvPr/>
      </p:nvGrpSpPr>
      <p:grpSpPr>
        <a:xfrm>
          <a:off x="0" y="0"/>
          <a:ext cx="0" cy="0"/>
          <a:chOff x="0" y="0"/>
          <a:chExt cx="0" cy="0"/>
        </a:xfrm>
      </p:grpSpPr>
      <p:sp>
        <p:nvSpPr>
          <p:cNvPr id="146" name="Google Shape;146;g26d1251ef52_0_12:notes">
            <a:extLst>
              <a:ext uri="{FF2B5EF4-FFF2-40B4-BE49-F238E27FC236}">
                <a16:creationId xmlns:a16="http://schemas.microsoft.com/office/drawing/2014/main" id="{B5711EF3-3343-D3E0-57D6-771EB35BBA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6d1251ef52_0_12:notes">
            <a:extLst>
              <a:ext uri="{FF2B5EF4-FFF2-40B4-BE49-F238E27FC236}">
                <a16:creationId xmlns:a16="http://schemas.microsoft.com/office/drawing/2014/main" id="{DD5F4B5A-EF90-25E5-9714-2CBCA75A0C2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06121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75FF82E-975E-3798-A5E5-B981EA195359}"/>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1A08B2AB-ADCD-4FDF-90FC-D9DDC54594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A7027D4B-0415-F537-C105-D3248B2ADEB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956930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80E23FC5-7DC3-9C7C-1193-1085DF48B612}"/>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9DB989A6-F4F7-95D9-3F47-A587D2AC164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172003EB-0B1F-155A-BE2D-A176AEB11F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29802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C83FF02-007F-966C-E2CD-240B71DE7966}"/>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1ED36D71-D19C-666E-0EE7-5754187E9C0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48817C4C-39C4-391D-6625-4B54FDFB3A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199283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C45AB108-4721-25BC-41C8-BB3EEBA49830}"/>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5E1954DB-F414-641B-B792-899AE5FEC7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AA0890DB-6143-B86E-5095-7D97CD1F224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42660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95A9D8A4-BE57-0833-A04C-840147019D72}"/>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631F7D36-D1A6-A917-198F-C9FBF9A910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26BB223F-3726-E312-EB24-886EA9A48BC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459911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06ACA824-92CC-8409-E00F-62C270549FFA}"/>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7F38DD07-8EFF-AC52-8944-9DBA4645DB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3A205E18-C069-A794-709B-BDC6EC04F3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81426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1D39399D-FDC3-133E-6EEC-26B41031337F}"/>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6A97D7D3-8877-7EC1-755A-7D27FBCAAE7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A61853F3-89DA-24E8-CCCD-D5D8A2C624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5069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E2C62216-4CFD-7781-5DAB-7E49BF9F4230}"/>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D09ED93B-7F94-30CB-54E2-A8D96C7B00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3503C967-1153-8115-9DEF-8EB39C0BA6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16332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a16="http://schemas.microsoft.com/office/drawing/2014/main" id="{D7D4A332-0A3E-93E1-940C-C6DEC5685339}"/>
            </a:ext>
          </a:extLst>
        </p:cNvPr>
        <p:cNvGrpSpPr/>
        <p:nvPr/>
      </p:nvGrpSpPr>
      <p:grpSpPr>
        <a:xfrm>
          <a:off x="0" y="0"/>
          <a:ext cx="0" cy="0"/>
          <a:chOff x="0" y="0"/>
          <a:chExt cx="0" cy="0"/>
        </a:xfrm>
      </p:grpSpPr>
      <p:sp>
        <p:nvSpPr>
          <p:cNvPr id="129" name="Google Shape;129;g2c75f4421fb_0_6:notes">
            <a:extLst>
              <a:ext uri="{FF2B5EF4-FFF2-40B4-BE49-F238E27FC236}">
                <a16:creationId xmlns:a16="http://schemas.microsoft.com/office/drawing/2014/main" id="{B052EEF1-FDD3-5856-535D-925861CEA3E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c75f4421fb_0_6:notes">
            <a:extLst>
              <a:ext uri="{FF2B5EF4-FFF2-40B4-BE49-F238E27FC236}">
                <a16:creationId xmlns:a16="http://schemas.microsoft.com/office/drawing/2014/main" id="{DDD6CB29-F9A6-5613-3CA1-3AA7210E6D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0675354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2c75f4421fb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2c75f4421fb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27302e178bc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27302e178bc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26d1251ef5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26d1251ef5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g26d1251ef52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3" name="Google Shape;153;g26d1251ef52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7302e178bc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7302e178bc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g27302e178bc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 name="Google Shape;165;g27302e178bc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7302e178b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7302e178b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7302e178b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7302e178b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17790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7302e178bc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7302e178bc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57582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27302e178bc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27302e178bc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WURD title layout" userDrawn="1">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1" y="1372650"/>
            <a:ext cx="7866900" cy="792600"/>
          </a:xfrm>
          <a:prstGeom prst="rect">
            <a:avLst/>
          </a:prstGeom>
        </p:spPr>
        <p:txBody>
          <a:bodyPr spcFirstLastPara="1" wrap="square" lIns="91425" tIns="91425" rIns="91425" bIns="91425" anchor="b" anchorCtr="0">
            <a:normAutofit/>
          </a:bodyPr>
          <a:lstStyle>
            <a:lvl1pPr lvl="0">
              <a:spcBef>
                <a:spcPts val="0"/>
              </a:spcBef>
              <a:spcAft>
                <a:spcPts val="0"/>
              </a:spcAft>
              <a:buSzPts val="3200"/>
              <a:buFont typeface="Lexend ExtraBold"/>
              <a:buNone/>
              <a:defRPr sz="3200">
                <a:latin typeface="Lexend ExtraBold"/>
                <a:ea typeface="Lexend ExtraBold"/>
                <a:cs typeface="Lexend ExtraBold"/>
                <a:sym typeface="Lexend ExtraBold"/>
              </a:defRPr>
            </a:lvl1pPr>
            <a:lvl2pPr lvl="1">
              <a:spcBef>
                <a:spcPts val="0"/>
              </a:spcBef>
              <a:spcAft>
                <a:spcPts val="0"/>
              </a:spcAft>
              <a:buSzPts val="3200"/>
              <a:buFont typeface="Lexend ExtraBold"/>
              <a:buNone/>
              <a:defRPr sz="3200">
                <a:latin typeface="Lexend ExtraBold"/>
                <a:ea typeface="Lexend ExtraBold"/>
                <a:cs typeface="Lexend ExtraBold"/>
                <a:sym typeface="Lexend ExtraBold"/>
              </a:defRPr>
            </a:lvl2pPr>
            <a:lvl3pPr lvl="2">
              <a:spcBef>
                <a:spcPts val="0"/>
              </a:spcBef>
              <a:spcAft>
                <a:spcPts val="0"/>
              </a:spcAft>
              <a:buSzPts val="3200"/>
              <a:buFont typeface="Lexend ExtraBold"/>
              <a:buNone/>
              <a:defRPr sz="3200">
                <a:latin typeface="Lexend ExtraBold"/>
                <a:ea typeface="Lexend ExtraBold"/>
                <a:cs typeface="Lexend ExtraBold"/>
                <a:sym typeface="Lexend ExtraBold"/>
              </a:defRPr>
            </a:lvl3pPr>
            <a:lvl4pPr lvl="3">
              <a:spcBef>
                <a:spcPts val="0"/>
              </a:spcBef>
              <a:spcAft>
                <a:spcPts val="0"/>
              </a:spcAft>
              <a:buSzPts val="3200"/>
              <a:buFont typeface="Lexend ExtraBold"/>
              <a:buNone/>
              <a:defRPr sz="3200">
                <a:latin typeface="Lexend ExtraBold"/>
                <a:ea typeface="Lexend ExtraBold"/>
                <a:cs typeface="Lexend ExtraBold"/>
                <a:sym typeface="Lexend ExtraBold"/>
              </a:defRPr>
            </a:lvl4pPr>
            <a:lvl5pPr lvl="4">
              <a:spcBef>
                <a:spcPts val="0"/>
              </a:spcBef>
              <a:spcAft>
                <a:spcPts val="0"/>
              </a:spcAft>
              <a:buSzPts val="3200"/>
              <a:buFont typeface="Lexend ExtraBold"/>
              <a:buNone/>
              <a:defRPr sz="3200">
                <a:latin typeface="Lexend ExtraBold"/>
                <a:ea typeface="Lexend ExtraBold"/>
                <a:cs typeface="Lexend ExtraBold"/>
                <a:sym typeface="Lexend ExtraBold"/>
              </a:defRPr>
            </a:lvl5pPr>
            <a:lvl6pPr lvl="5">
              <a:spcBef>
                <a:spcPts val="0"/>
              </a:spcBef>
              <a:spcAft>
                <a:spcPts val="0"/>
              </a:spcAft>
              <a:buSzPts val="3200"/>
              <a:buFont typeface="Lexend ExtraBold"/>
              <a:buNone/>
              <a:defRPr sz="3200">
                <a:latin typeface="Lexend ExtraBold"/>
                <a:ea typeface="Lexend ExtraBold"/>
                <a:cs typeface="Lexend ExtraBold"/>
                <a:sym typeface="Lexend ExtraBold"/>
              </a:defRPr>
            </a:lvl6pPr>
            <a:lvl7pPr lvl="6">
              <a:spcBef>
                <a:spcPts val="0"/>
              </a:spcBef>
              <a:spcAft>
                <a:spcPts val="0"/>
              </a:spcAft>
              <a:buSzPts val="3200"/>
              <a:buFont typeface="Lexend ExtraBold"/>
              <a:buNone/>
              <a:defRPr sz="3200">
                <a:latin typeface="Lexend ExtraBold"/>
                <a:ea typeface="Lexend ExtraBold"/>
                <a:cs typeface="Lexend ExtraBold"/>
                <a:sym typeface="Lexend ExtraBold"/>
              </a:defRPr>
            </a:lvl7pPr>
            <a:lvl8pPr lvl="7">
              <a:spcBef>
                <a:spcPts val="0"/>
              </a:spcBef>
              <a:spcAft>
                <a:spcPts val="0"/>
              </a:spcAft>
              <a:buSzPts val="3200"/>
              <a:buFont typeface="Lexend ExtraBold"/>
              <a:buNone/>
              <a:defRPr sz="3200">
                <a:latin typeface="Lexend ExtraBold"/>
                <a:ea typeface="Lexend ExtraBold"/>
                <a:cs typeface="Lexend ExtraBold"/>
                <a:sym typeface="Lexend ExtraBold"/>
              </a:defRPr>
            </a:lvl8pPr>
            <a:lvl9pPr lvl="8">
              <a:spcBef>
                <a:spcPts val="0"/>
              </a:spcBef>
              <a:spcAft>
                <a:spcPts val="0"/>
              </a:spcAft>
              <a:buSzPts val="3200"/>
              <a:buFont typeface="Lexend ExtraBold"/>
              <a:buNone/>
              <a:defRPr sz="3200">
                <a:latin typeface="Lexend ExtraBold"/>
                <a:ea typeface="Lexend ExtraBold"/>
                <a:cs typeface="Lexend ExtraBold"/>
                <a:sym typeface="Lexend ExtraBold"/>
              </a:defRPr>
            </a:lvl9pPr>
          </a:lstStyle>
          <a:p>
            <a:endParaRPr/>
          </a:p>
        </p:txBody>
      </p:sp>
      <p:sp>
        <p:nvSpPr>
          <p:cNvPr id="11" name="Google Shape;11;p2"/>
          <p:cNvSpPr txBox="1">
            <a:spLocks noGrp="1"/>
          </p:cNvSpPr>
          <p:nvPr>
            <p:ph type="subTitle" idx="1"/>
          </p:nvPr>
        </p:nvSpPr>
        <p:spPr>
          <a:xfrm>
            <a:off x="350325" y="2165250"/>
            <a:ext cx="8520600" cy="5484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1pPr>
            <a:lvl2pPr lvl="1">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2pPr>
            <a:lvl3pPr lvl="2">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3pPr>
            <a:lvl4pPr lvl="3">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4pPr>
            <a:lvl5pPr lvl="4">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5pPr>
            <a:lvl6pPr lvl="5">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6pPr>
            <a:lvl7pPr lvl="6">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7pPr>
            <a:lvl8pPr lvl="7">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8pPr>
            <a:lvl9pPr lvl="8">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13" name="Google Shape;13;p2"/>
          <p:cNvSpPr txBox="1">
            <a:spLocks noGrp="1"/>
          </p:cNvSpPr>
          <p:nvPr>
            <p:ph type="subTitle" idx="2"/>
          </p:nvPr>
        </p:nvSpPr>
        <p:spPr>
          <a:xfrm>
            <a:off x="350325" y="2713650"/>
            <a:ext cx="8520600" cy="548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1pPr>
            <a:lvl2pPr lvl="1"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2pPr>
            <a:lvl3pPr lvl="2"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3pPr>
            <a:lvl4pPr lvl="3"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4pPr>
            <a:lvl5pPr lvl="4"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5pPr>
            <a:lvl6pPr lvl="5"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6pPr>
            <a:lvl7pPr lvl="6"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7pPr>
            <a:lvl8pPr lvl="7"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8pPr>
            <a:lvl9pPr lvl="8"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9pPr>
          </a:lstStyle>
          <a:p>
            <a:endParaRPr/>
          </a:p>
        </p:txBody>
      </p:sp>
      <p:pic>
        <p:nvPicPr>
          <p:cNvPr id="14" name="Google Shape;14;p2"/>
          <p:cNvPicPr preferRelativeResize="0"/>
          <p:nvPr/>
        </p:nvPicPr>
        <p:blipFill>
          <a:blip r:embed="rId2">
            <a:alphaModFix amt="12000"/>
          </a:blip>
          <a:stretch>
            <a:fillRect/>
          </a:stretch>
        </p:blipFill>
        <p:spPr>
          <a:xfrm>
            <a:off x="4275875" y="676400"/>
            <a:ext cx="6030651" cy="3790700"/>
          </a:xfrm>
          <a:prstGeom prst="rect">
            <a:avLst/>
          </a:prstGeom>
          <a:noFill/>
          <a:ln>
            <a:noFill/>
          </a:ln>
        </p:spPr>
      </p:pic>
      <p:pic>
        <p:nvPicPr>
          <p:cNvPr id="15" name="Google Shape;15;p2"/>
          <p:cNvPicPr preferRelativeResize="0"/>
          <p:nvPr/>
        </p:nvPicPr>
        <p:blipFill>
          <a:blip r:embed="rId3">
            <a:alphaModFix/>
          </a:blip>
          <a:stretch>
            <a:fillRect/>
          </a:stretch>
        </p:blipFill>
        <p:spPr>
          <a:xfrm>
            <a:off x="485904" y="3440200"/>
            <a:ext cx="1234211" cy="393600"/>
          </a:xfrm>
          <a:prstGeom prst="rect">
            <a:avLst/>
          </a:prstGeom>
          <a:noFill/>
          <a:ln>
            <a:noFill/>
          </a:ln>
        </p:spPr>
      </p:pic>
      <p:pic>
        <p:nvPicPr>
          <p:cNvPr id="16" name="Google Shape;16;p2"/>
          <p:cNvPicPr preferRelativeResize="0"/>
          <p:nvPr/>
        </p:nvPicPr>
        <p:blipFill>
          <a:blip r:embed="rId4">
            <a:alphaModFix/>
          </a:blip>
          <a:stretch>
            <a:fillRect/>
          </a:stretch>
        </p:blipFill>
        <p:spPr>
          <a:xfrm>
            <a:off x="7793575" y="4541100"/>
            <a:ext cx="1007851" cy="342825"/>
          </a:xfrm>
          <a:prstGeom prst="rect">
            <a:avLst/>
          </a:prstGeom>
          <a:noFill/>
          <a:ln>
            <a:noFill/>
          </a:ln>
        </p:spPr>
      </p:pic>
      <p:pic>
        <p:nvPicPr>
          <p:cNvPr id="17" name="Google Shape;17;p2"/>
          <p:cNvPicPr preferRelativeResize="0"/>
          <p:nvPr/>
        </p:nvPicPr>
        <p:blipFill>
          <a:blip r:embed="rId5">
            <a:alphaModFix/>
          </a:blip>
          <a:stretch>
            <a:fillRect/>
          </a:stretch>
        </p:blipFill>
        <p:spPr>
          <a:xfrm>
            <a:off x="384050" y="4401150"/>
            <a:ext cx="3049825" cy="5368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WURD title layout- french">
  <p:cSld name="TITLE_1">
    <p:spTree>
      <p:nvGrpSpPr>
        <p:cNvPr id="1" name="Shape 18"/>
        <p:cNvGrpSpPr/>
        <p:nvPr/>
      </p:nvGrpSpPr>
      <p:grpSpPr>
        <a:xfrm>
          <a:off x="0" y="0"/>
          <a:ext cx="0" cy="0"/>
          <a:chOff x="0" y="0"/>
          <a:chExt cx="0" cy="0"/>
        </a:xfrm>
      </p:grpSpPr>
      <p:sp>
        <p:nvSpPr>
          <p:cNvPr id="19" name="Google Shape;19;p3"/>
          <p:cNvSpPr txBox="1">
            <a:spLocks noGrp="1"/>
          </p:cNvSpPr>
          <p:nvPr>
            <p:ph type="ctrTitle"/>
          </p:nvPr>
        </p:nvSpPr>
        <p:spPr>
          <a:xfrm>
            <a:off x="311701" y="1372650"/>
            <a:ext cx="7866900" cy="792600"/>
          </a:xfrm>
          <a:prstGeom prst="rect">
            <a:avLst/>
          </a:prstGeom>
        </p:spPr>
        <p:txBody>
          <a:bodyPr spcFirstLastPara="1" wrap="square" lIns="91425" tIns="91425" rIns="91425" bIns="91425" anchor="b" anchorCtr="0">
            <a:normAutofit/>
          </a:bodyPr>
          <a:lstStyle>
            <a:lvl1pPr lvl="0" rtl="0">
              <a:spcBef>
                <a:spcPts val="0"/>
              </a:spcBef>
              <a:spcAft>
                <a:spcPts val="0"/>
              </a:spcAft>
              <a:buSzPts val="3200"/>
              <a:buFont typeface="Lexend ExtraBold"/>
              <a:buNone/>
              <a:defRPr sz="3200">
                <a:latin typeface="Lexend ExtraBold"/>
                <a:ea typeface="Lexend ExtraBold"/>
                <a:cs typeface="Lexend ExtraBold"/>
                <a:sym typeface="Lexend ExtraBold"/>
              </a:defRPr>
            </a:lvl1pPr>
            <a:lvl2pPr lvl="1" rtl="0">
              <a:spcBef>
                <a:spcPts val="0"/>
              </a:spcBef>
              <a:spcAft>
                <a:spcPts val="0"/>
              </a:spcAft>
              <a:buSzPts val="3200"/>
              <a:buFont typeface="Lexend ExtraBold"/>
              <a:buNone/>
              <a:defRPr sz="3200">
                <a:latin typeface="Lexend ExtraBold"/>
                <a:ea typeface="Lexend ExtraBold"/>
                <a:cs typeface="Lexend ExtraBold"/>
                <a:sym typeface="Lexend ExtraBold"/>
              </a:defRPr>
            </a:lvl2pPr>
            <a:lvl3pPr lvl="2" rtl="0">
              <a:spcBef>
                <a:spcPts val="0"/>
              </a:spcBef>
              <a:spcAft>
                <a:spcPts val="0"/>
              </a:spcAft>
              <a:buSzPts val="3200"/>
              <a:buFont typeface="Lexend ExtraBold"/>
              <a:buNone/>
              <a:defRPr sz="3200">
                <a:latin typeface="Lexend ExtraBold"/>
                <a:ea typeface="Lexend ExtraBold"/>
                <a:cs typeface="Lexend ExtraBold"/>
                <a:sym typeface="Lexend ExtraBold"/>
              </a:defRPr>
            </a:lvl3pPr>
            <a:lvl4pPr lvl="3" rtl="0">
              <a:spcBef>
                <a:spcPts val="0"/>
              </a:spcBef>
              <a:spcAft>
                <a:spcPts val="0"/>
              </a:spcAft>
              <a:buSzPts val="3200"/>
              <a:buFont typeface="Lexend ExtraBold"/>
              <a:buNone/>
              <a:defRPr sz="3200">
                <a:latin typeface="Lexend ExtraBold"/>
                <a:ea typeface="Lexend ExtraBold"/>
                <a:cs typeface="Lexend ExtraBold"/>
                <a:sym typeface="Lexend ExtraBold"/>
              </a:defRPr>
            </a:lvl4pPr>
            <a:lvl5pPr lvl="4" rtl="0">
              <a:spcBef>
                <a:spcPts val="0"/>
              </a:spcBef>
              <a:spcAft>
                <a:spcPts val="0"/>
              </a:spcAft>
              <a:buSzPts val="3200"/>
              <a:buFont typeface="Lexend ExtraBold"/>
              <a:buNone/>
              <a:defRPr sz="3200">
                <a:latin typeface="Lexend ExtraBold"/>
                <a:ea typeface="Lexend ExtraBold"/>
                <a:cs typeface="Lexend ExtraBold"/>
                <a:sym typeface="Lexend ExtraBold"/>
              </a:defRPr>
            </a:lvl5pPr>
            <a:lvl6pPr lvl="5" rtl="0">
              <a:spcBef>
                <a:spcPts val="0"/>
              </a:spcBef>
              <a:spcAft>
                <a:spcPts val="0"/>
              </a:spcAft>
              <a:buSzPts val="3200"/>
              <a:buFont typeface="Lexend ExtraBold"/>
              <a:buNone/>
              <a:defRPr sz="3200">
                <a:latin typeface="Lexend ExtraBold"/>
                <a:ea typeface="Lexend ExtraBold"/>
                <a:cs typeface="Lexend ExtraBold"/>
                <a:sym typeface="Lexend ExtraBold"/>
              </a:defRPr>
            </a:lvl6pPr>
            <a:lvl7pPr lvl="6" rtl="0">
              <a:spcBef>
                <a:spcPts val="0"/>
              </a:spcBef>
              <a:spcAft>
                <a:spcPts val="0"/>
              </a:spcAft>
              <a:buSzPts val="3200"/>
              <a:buFont typeface="Lexend ExtraBold"/>
              <a:buNone/>
              <a:defRPr sz="3200">
                <a:latin typeface="Lexend ExtraBold"/>
                <a:ea typeface="Lexend ExtraBold"/>
                <a:cs typeface="Lexend ExtraBold"/>
                <a:sym typeface="Lexend ExtraBold"/>
              </a:defRPr>
            </a:lvl7pPr>
            <a:lvl8pPr lvl="7" rtl="0">
              <a:spcBef>
                <a:spcPts val="0"/>
              </a:spcBef>
              <a:spcAft>
                <a:spcPts val="0"/>
              </a:spcAft>
              <a:buSzPts val="3200"/>
              <a:buFont typeface="Lexend ExtraBold"/>
              <a:buNone/>
              <a:defRPr sz="3200">
                <a:latin typeface="Lexend ExtraBold"/>
                <a:ea typeface="Lexend ExtraBold"/>
                <a:cs typeface="Lexend ExtraBold"/>
                <a:sym typeface="Lexend ExtraBold"/>
              </a:defRPr>
            </a:lvl8pPr>
            <a:lvl9pPr lvl="8" rtl="0">
              <a:spcBef>
                <a:spcPts val="0"/>
              </a:spcBef>
              <a:spcAft>
                <a:spcPts val="0"/>
              </a:spcAft>
              <a:buSzPts val="3200"/>
              <a:buFont typeface="Lexend ExtraBold"/>
              <a:buNone/>
              <a:defRPr sz="3200">
                <a:latin typeface="Lexend ExtraBold"/>
                <a:ea typeface="Lexend ExtraBold"/>
                <a:cs typeface="Lexend ExtraBold"/>
                <a:sym typeface="Lexend ExtraBold"/>
              </a:defRPr>
            </a:lvl9pPr>
          </a:lstStyle>
          <a:p>
            <a:endParaRPr/>
          </a:p>
        </p:txBody>
      </p:sp>
      <p:sp>
        <p:nvSpPr>
          <p:cNvPr id="20" name="Google Shape;20;p3"/>
          <p:cNvSpPr txBox="1">
            <a:spLocks noGrp="1"/>
          </p:cNvSpPr>
          <p:nvPr>
            <p:ph type="subTitle" idx="1"/>
          </p:nvPr>
        </p:nvSpPr>
        <p:spPr>
          <a:xfrm>
            <a:off x="350325" y="2165250"/>
            <a:ext cx="8520600" cy="548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1pPr>
            <a:lvl2pPr lvl="1"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2pPr>
            <a:lvl3pPr lvl="2"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3pPr>
            <a:lvl4pPr lvl="3"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4pPr>
            <a:lvl5pPr lvl="4"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5pPr>
            <a:lvl6pPr lvl="5"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6pPr>
            <a:lvl7pPr lvl="6"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7pPr>
            <a:lvl8pPr lvl="7"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8pPr>
            <a:lvl9pPr lvl="8" rtl="0">
              <a:lnSpc>
                <a:spcPct val="100000"/>
              </a:lnSpc>
              <a:spcBef>
                <a:spcPts val="0"/>
              </a:spcBef>
              <a:spcAft>
                <a:spcPts val="0"/>
              </a:spcAft>
              <a:buClr>
                <a:srgbClr val="600DB4"/>
              </a:buClr>
              <a:buSzPts val="2000"/>
              <a:buFont typeface="Lexend SemiBold"/>
              <a:buNone/>
              <a:defRPr sz="2000">
                <a:solidFill>
                  <a:srgbClr val="600DB4"/>
                </a:solidFill>
                <a:latin typeface="Lexend SemiBold"/>
                <a:ea typeface="Lexend SemiBold"/>
                <a:cs typeface="Lexend SemiBold"/>
                <a:sym typeface="Lexend SemiBold"/>
              </a:defRPr>
            </a:lvl9pPr>
          </a:lstStyle>
          <a:p>
            <a:endParaRPr/>
          </a:p>
        </p:txBody>
      </p:sp>
      <p:sp>
        <p:nvSpPr>
          <p:cNvPr id="21" name="Google Shape;21;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22" name="Google Shape;22;p3"/>
          <p:cNvSpPr txBox="1">
            <a:spLocks noGrp="1"/>
          </p:cNvSpPr>
          <p:nvPr>
            <p:ph type="subTitle" idx="2"/>
          </p:nvPr>
        </p:nvSpPr>
        <p:spPr>
          <a:xfrm>
            <a:off x="350325" y="2713650"/>
            <a:ext cx="8520600" cy="548400"/>
          </a:xfrm>
          <a:prstGeom prst="rect">
            <a:avLst/>
          </a:prstGeom>
        </p:spPr>
        <p:txBody>
          <a:bodyPr spcFirstLastPara="1" wrap="square" lIns="91425" tIns="91425" rIns="91425" bIns="91425" anchor="t" anchorCtr="0">
            <a:normAutofit/>
          </a:bodyPr>
          <a:lstStyle>
            <a:lvl1pPr lvl="0"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1pPr>
            <a:lvl2pPr lvl="1"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2pPr>
            <a:lvl3pPr lvl="2"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3pPr>
            <a:lvl4pPr lvl="3"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4pPr>
            <a:lvl5pPr lvl="4"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5pPr>
            <a:lvl6pPr lvl="5"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6pPr>
            <a:lvl7pPr lvl="6"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7pPr>
            <a:lvl8pPr lvl="7"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8pPr>
            <a:lvl9pPr lvl="8" rtl="0">
              <a:lnSpc>
                <a:spcPct val="100000"/>
              </a:lnSpc>
              <a:spcBef>
                <a:spcPts val="0"/>
              </a:spcBef>
              <a:spcAft>
                <a:spcPts val="0"/>
              </a:spcAft>
              <a:buClr>
                <a:srgbClr val="474954"/>
              </a:buClr>
              <a:buSzPts val="1600"/>
              <a:buFont typeface="Lexend SemiBold"/>
              <a:buNone/>
              <a:defRPr sz="1600">
                <a:solidFill>
                  <a:srgbClr val="474954"/>
                </a:solidFill>
                <a:latin typeface="Lexend SemiBold"/>
                <a:ea typeface="Lexend SemiBold"/>
                <a:cs typeface="Lexend SemiBold"/>
                <a:sym typeface="Lexend SemiBold"/>
              </a:defRPr>
            </a:lvl9pPr>
          </a:lstStyle>
          <a:p>
            <a:endParaRPr/>
          </a:p>
        </p:txBody>
      </p:sp>
      <p:pic>
        <p:nvPicPr>
          <p:cNvPr id="23" name="Google Shape;23;p3"/>
          <p:cNvPicPr preferRelativeResize="0"/>
          <p:nvPr/>
        </p:nvPicPr>
        <p:blipFill>
          <a:blip r:embed="rId2">
            <a:alphaModFix amt="12000"/>
          </a:blip>
          <a:stretch>
            <a:fillRect/>
          </a:stretch>
        </p:blipFill>
        <p:spPr>
          <a:xfrm>
            <a:off x="4275875" y="676400"/>
            <a:ext cx="6030651" cy="3790700"/>
          </a:xfrm>
          <a:prstGeom prst="rect">
            <a:avLst/>
          </a:prstGeom>
          <a:noFill/>
          <a:ln>
            <a:noFill/>
          </a:ln>
        </p:spPr>
      </p:pic>
      <p:pic>
        <p:nvPicPr>
          <p:cNvPr id="24" name="Google Shape;24;p3"/>
          <p:cNvPicPr preferRelativeResize="0"/>
          <p:nvPr/>
        </p:nvPicPr>
        <p:blipFill>
          <a:blip r:embed="rId3">
            <a:alphaModFix/>
          </a:blip>
          <a:stretch>
            <a:fillRect/>
          </a:stretch>
        </p:blipFill>
        <p:spPr>
          <a:xfrm>
            <a:off x="7793575" y="4541100"/>
            <a:ext cx="1007851" cy="342825"/>
          </a:xfrm>
          <a:prstGeom prst="rect">
            <a:avLst/>
          </a:prstGeom>
          <a:noFill/>
          <a:ln>
            <a:noFill/>
          </a:ln>
        </p:spPr>
      </p:pic>
      <p:pic>
        <p:nvPicPr>
          <p:cNvPr id="25" name="Google Shape;25;p3"/>
          <p:cNvPicPr preferRelativeResize="0"/>
          <p:nvPr/>
        </p:nvPicPr>
        <p:blipFill>
          <a:blip r:embed="rId4">
            <a:alphaModFix/>
          </a:blip>
          <a:stretch>
            <a:fillRect/>
          </a:stretch>
        </p:blipFill>
        <p:spPr>
          <a:xfrm>
            <a:off x="384050" y="4401150"/>
            <a:ext cx="3049825" cy="536850"/>
          </a:xfrm>
          <a:prstGeom prst="rect">
            <a:avLst/>
          </a:prstGeom>
          <a:noFill/>
          <a:ln>
            <a:noFill/>
          </a:ln>
        </p:spPr>
      </p:pic>
      <p:pic>
        <p:nvPicPr>
          <p:cNvPr id="26" name="Google Shape;26;p3"/>
          <p:cNvPicPr preferRelativeResize="0"/>
          <p:nvPr/>
        </p:nvPicPr>
        <p:blipFill>
          <a:blip r:embed="rId5">
            <a:alphaModFix/>
          </a:blip>
          <a:stretch>
            <a:fillRect/>
          </a:stretch>
        </p:blipFill>
        <p:spPr>
          <a:xfrm>
            <a:off x="466025" y="3440200"/>
            <a:ext cx="1974675" cy="3936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Generic Section header- centralized text" type="secHead">
  <p:cSld name="SECTION_HEADER">
    <p:bg>
      <p:bgPr>
        <a:solidFill>
          <a:srgbClr val="E9E5F2"/>
        </a:solidFill>
        <a:effectLst/>
      </p:bgPr>
    </p:bg>
    <p:spTree>
      <p:nvGrpSpPr>
        <p:cNvPr id="1" name="Shape 27"/>
        <p:cNvGrpSpPr/>
        <p:nvPr/>
      </p:nvGrpSpPr>
      <p:grpSpPr>
        <a:xfrm>
          <a:off x="0" y="0"/>
          <a:ext cx="0" cy="0"/>
          <a:chOff x="0" y="0"/>
          <a:chExt cx="0" cy="0"/>
        </a:xfrm>
      </p:grpSpPr>
      <p:pic>
        <p:nvPicPr>
          <p:cNvPr id="28" name="Google Shape;28;p4"/>
          <p:cNvPicPr preferRelativeResize="0"/>
          <p:nvPr/>
        </p:nvPicPr>
        <p:blipFill>
          <a:blip r:embed="rId2">
            <a:alphaModFix/>
          </a:blip>
          <a:stretch>
            <a:fillRect/>
          </a:stretch>
        </p:blipFill>
        <p:spPr>
          <a:xfrm>
            <a:off x="4288675" y="431050"/>
            <a:ext cx="6811299" cy="4281400"/>
          </a:xfrm>
          <a:prstGeom prst="rect">
            <a:avLst/>
          </a:prstGeom>
          <a:noFill/>
          <a:ln>
            <a:noFill/>
          </a:ln>
        </p:spPr>
      </p:pic>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30" name="Google Shape;30;p4"/>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1pPr>
            <a:lvl2pPr lvl="1"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2pPr>
            <a:lvl3pPr lvl="2"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3pPr>
            <a:lvl4pPr lvl="3"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4pPr>
            <a:lvl5pPr lvl="4"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5pPr>
            <a:lvl6pPr lvl="5"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6pPr>
            <a:lvl7pPr lvl="6"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7pPr>
            <a:lvl8pPr lvl="7"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8pPr>
            <a:lvl9pPr lvl="8"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9pPr>
          </a:lstStyle>
          <a:p>
            <a:endParaRPr/>
          </a:p>
        </p:txBody>
      </p:sp>
      <p:sp>
        <p:nvSpPr>
          <p:cNvPr id="31" name="Google Shape;31;p4"/>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Lexend"/>
              <a:buNone/>
              <a:defRPr sz="1800" b="1">
                <a:latin typeface="Lexend"/>
                <a:ea typeface="Lexend"/>
                <a:cs typeface="Lexend"/>
                <a:sym typeface="Lexend"/>
              </a:defRPr>
            </a:lvl1pPr>
            <a:lvl2pPr lvl="1" algn="ctr" rtl="0">
              <a:spcBef>
                <a:spcPts val="0"/>
              </a:spcBef>
              <a:spcAft>
                <a:spcPts val="0"/>
              </a:spcAft>
              <a:buSzPts val="1800"/>
              <a:buFont typeface="Lexend"/>
              <a:buNone/>
              <a:defRPr sz="1800" b="1">
                <a:latin typeface="Lexend"/>
                <a:ea typeface="Lexend"/>
                <a:cs typeface="Lexend"/>
                <a:sym typeface="Lexend"/>
              </a:defRPr>
            </a:lvl2pPr>
            <a:lvl3pPr lvl="2" algn="ctr" rtl="0">
              <a:spcBef>
                <a:spcPts val="0"/>
              </a:spcBef>
              <a:spcAft>
                <a:spcPts val="0"/>
              </a:spcAft>
              <a:buSzPts val="1800"/>
              <a:buFont typeface="Lexend"/>
              <a:buNone/>
              <a:defRPr sz="1800" b="1">
                <a:latin typeface="Lexend"/>
                <a:ea typeface="Lexend"/>
                <a:cs typeface="Lexend"/>
                <a:sym typeface="Lexend"/>
              </a:defRPr>
            </a:lvl3pPr>
            <a:lvl4pPr lvl="3" algn="ctr" rtl="0">
              <a:spcBef>
                <a:spcPts val="0"/>
              </a:spcBef>
              <a:spcAft>
                <a:spcPts val="0"/>
              </a:spcAft>
              <a:buSzPts val="1800"/>
              <a:buFont typeface="Lexend"/>
              <a:buNone/>
              <a:defRPr sz="1800" b="1">
                <a:latin typeface="Lexend"/>
                <a:ea typeface="Lexend"/>
                <a:cs typeface="Lexend"/>
                <a:sym typeface="Lexend"/>
              </a:defRPr>
            </a:lvl4pPr>
            <a:lvl5pPr lvl="4" algn="ctr" rtl="0">
              <a:spcBef>
                <a:spcPts val="0"/>
              </a:spcBef>
              <a:spcAft>
                <a:spcPts val="0"/>
              </a:spcAft>
              <a:buSzPts val="1800"/>
              <a:buFont typeface="Lexend"/>
              <a:buNone/>
              <a:defRPr sz="1800" b="1">
                <a:latin typeface="Lexend"/>
                <a:ea typeface="Lexend"/>
                <a:cs typeface="Lexend"/>
                <a:sym typeface="Lexend"/>
              </a:defRPr>
            </a:lvl5pPr>
            <a:lvl6pPr lvl="5" algn="ctr" rtl="0">
              <a:spcBef>
                <a:spcPts val="0"/>
              </a:spcBef>
              <a:spcAft>
                <a:spcPts val="0"/>
              </a:spcAft>
              <a:buSzPts val="1800"/>
              <a:buFont typeface="Lexend"/>
              <a:buNone/>
              <a:defRPr sz="1800" b="1">
                <a:latin typeface="Lexend"/>
                <a:ea typeface="Lexend"/>
                <a:cs typeface="Lexend"/>
                <a:sym typeface="Lexend"/>
              </a:defRPr>
            </a:lvl6pPr>
            <a:lvl7pPr lvl="6" algn="ctr" rtl="0">
              <a:spcBef>
                <a:spcPts val="0"/>
              </a:spcBef>
              <a:spcAft>
                <a:spcPts val="0"/>
              </a:spcAft>
              <a:buSzPts val="1800"/>
              <a:buFont typeface="Lexend"/>
              <a:buNone/>
              <a:defRPr sz="1800" b="1">
                <a:latin typeface="Lexend"/>
                <a:ea typeface="Lexend"/>
                <a:cs typeface="Lexend"/>
                <a:sym typeface="Lexend"/>
              </a:defRPr>
            </a:lvl7pPr>
            <a:lvl8pPr lvl="7" algn="ctr" rtl="0">
              <a:spcBef>
                <a:spcPts val="0"/>
              </a:spcBef>
              <a:spcAft>
                <a:spcPts val="0"/>
              </a:spcAft>
              <a:buSzPts val="1800"/>
              <a:buFont typeface="Lexend"/>
              <a:buNone/>
              <a:defRPr sz="1800" b="1">
                <a:latin typeface="Lexend"/>
                <a:ea typeface="Lexend"/>
                <a:cs typeface="Lexend"/>
                <a:sym typeface="Lexend"/>
              </a:defRPr>
            </a:lvl8pPr>
            <a:lvl9pPr lvl="8" algn="ctr" rtl="0">
              <a:spcBef>
                <a:spcPts val="0"/>
              </a:spcBef>
              <a:spcAft>
                <a:spcPts val="0"/>
              </a:spcAft>
              <a:buSzPts val="1800"/>
              <a:buFont typeface="Lexend"/>
              <a:buNone/>
              <a:defRPr sz="1800" b="1">
                <a:latin typeface="Lexend"/>
                <a:ea typeface="Lexend"/>
                <a:cs typeface="Lexend"/>
                <a:sym typeface="Lexen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Research Section header- centralized text">
  <p:cSld name="SECTION_HEADER_1">
    <p:bg>
      <p:bgPr>
        <a:solidFill>
          <a:srgbClr val="E9E5F2"/>
        </a:solidFill>
        <a:effectLst/>
      </p:bgPr>
    </p:bg>
    <p:spTree>
      <p:nvGrpSpPr>
        <p:cNvPr id="1" name="Shape 32"/>
        <p:cNvGrpSpPr/>
        <p:nvPr/>
      </p:nvGrpSpPr>
      <p:grpSpPr>
        <a:xfrm>
          <a:off x="0" y="0"/>
          <a:ext cx="0" cy="0"/>
          <a:chOff x="0" y="0"/>
          <a:chExt cx="0" cy="0"/>
        </a:xfrm>
      </p:grpSpPr>
      <p:grpSp>
        <p:nvGrpSpPr>
          <p:cNvPr id="33" name="Google Shape;33;p5"/>
          <p:cNvGrpSpPr/>
          <p:nvPr/>
        </p:nvGrpSpPr>
        <p:grpSpPr>
          <a:xfrm>
            <a:off x="4486551" y="33415"/>
            <a:ext cx="4931441" cy="5711568"/>
            <a:chOff x="4832725" y="978975"/>
            <a:chExt cx="3578175" cy="4144524"/>
          </a:xfrm>
        </p:grpSpPr>
        <p:sp>
          <p:nvSpPr>
            <p:cNvPr id="34" name="Google Shape;34;p5"/>
            <p:cNvSpPr/>
            <p:nvPr/>
          </p:nvSpPr>
          <p:spPr>
            <a:xfrm>
              <a:off x="4832725" y="978975"/>
              <a:ext cx="2680500" cy="26805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5" name="Google Shape;35;p5"/>
            <p:cNvSpPr/>
            <p:nvPr/>
          </p:nvSpPr>
          <p:spPr>
            <a:xfrm>
              <a:off x="5166800" y="1313050"/>
              <a:ext cx="2012400" cy="2012400"/>
            </a:xfrm>
            <a:prstGeom prst="ellipse">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6" name="Google Shape;36;p5"/>
            <p:cNvSpPr/>
            <p:nvPr/>
          </p:nvSpPr>
          <p:spPr>
            <a:xfrm rot="-2288092">
              <a:off x="6977620" y="3455779"/>
              <a:ext cx="388655" cy="367104"/>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37" name="Google Shape;37;p5"/>
            <p:cNvSpPr/>
            <p:nvPr/>
          </p:nvSpPr>
          <p:spPr>
            <a:xfrm rot="-2236353">
              <a:off x="7495263" y="3778223"/>
              <a:ext cx="580574" cy="1302452"/>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38" name="Google Shape;38;p5"/>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1pPr>
            <a:lvl2pPr lvl="1"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2pPr>
            <a:lvl3pPr lvl="2"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3pPr>
            <a:lvl4pPr lvl="3"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4pPr>
            <a:lvl5pPr lvl="4"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5pPr>
            <a:lvl6pPr lvl="5"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6pPr>
            <a:lvl7pPr lvl="6"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7pPr>
            <a:lvl8pPr lvl="7"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8pPr>
            <a:lvl9pPr lvl="8"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9pPr>
          </a:lstStyle>
          <a:p>
            <a:endParaRPr/>
          </a:p>
        </p:txBody>
      </p:sp>
      <p:sp>
        <p:nvSpPr>
          <p:cNvPr id="39" name="Google Shape;3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0" name="Google Shape;40;p5"/>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Lexend"/>
              <a:buNone/>
              <a:defRPr sz="1800" b="1">
                <a:latin typeface="Lexend"/>
                <a:ea typeface="Lexend"/>
                <a:cs typeface="Lexend"/>
                <a:sym typeface="Lexend"/>
              </a:defRPr>
            </a:lvl1pPr>
            <a:lvl2pPr lvl="1" algn="ctr" rtl="0">
              <a:spcBef>
                <a:spcPts val="0"/>
              </a:spcBef>
              <a:spcAft>
                <a:spcPts val="0"/>
              </a:spcAft>
              <a:buSzPts val="1800"/>
              <a:buFont typeface="Lexend"/>
              <a:buNone/>
              <a:defRPr sz="1800" b="1">
                <a:latin typeface="Lexend"/>
                <a:ea typeface="Lexend"/>
                <a:cs typeface="Lexend"/>
                <a:sym typeface="Lexend"/>
              </a:defRPr>
            </a:lvl2pPr>
            <a:lvl3pPr lvl="2" algn="ctr" rtl="0">
              <a:spcBef>
                <a:spcPts val="0"/>
              </a:spcBef>
              <a:spcAft>
                <a:spcPts val="0"/>
              </a:spcAft>
              <a:buSzPts val="1800"/>
              <a:buFont typeface="Lexend"/>
              <a:buNone/>
              <a:defRPr sz="1800" b="1">
                <a:latin typeface="Lexend"/>
                <a:ea typeface="Lexend"/>
                <a:cs typeface="Lexend"/>
                <a:sym typeface="Lexend"/>
              </a:defRPr>
            </a:lvl3pPr>
            <a:lvl4pPr lvl="3" algn="ctr" rtl="0">
              <a:spcBef>
                <a:spcPts val="0"/>
              </a:spcBef>
              <a:spcAft>
                <a:spcPts val="0"/>
              </a:spcAft>
              <a:buSzPts val="1800"/>
              <a:buFont typeface="Lexend"/>
              <a:buNone/>
              <a:defRPr sz="1800" b="1">
                <a:latin typeface="Lexend"/>
                <a:ea typeface="Lexend"/>
                <a:cs typeface="Lexend"/>
                <a:sym typeface="Lexend"/>
              </a:defRPr>
            </a:lvl4pPr>
            <a:lvl5pPr lvl="4" algn="ctr" rtl="0">
              <a:spcBef>
                <a:spcPts val="0"/>
              </a:spcBef>
              <a:spcAft>
                <a:spcPts val="0"/>
              </a:spcAft>
              <a:buSzPts val="1800"/>
              <a:buFont typeface="Lexend"/>
              <a:buNone/>
              <a:defRPr sz="1800" b="1">
                <a:latin typeface="Lexend"/>
                <a:ea typeface="Lexend"/>
                <a:cs typeface="Lexend"/>
                <a:sym typeface="Lexend"/>
              </a:defRPr>
            </a:lvl5pPr>
            <a:lvl6pPr lvl="5" algn="ctr" rtl="0">
              <a:spcBef>
                <a:spcPts val="0"/>
              </a:spcBef>
              <a:spcAft>
                <a:spcPts val="0"/>
              </a:spcAft>
              <a:buSzPts val="1800"/>
              <a:buFont typeface="Lexend"/>
              <a:buNone/>
              <a:defRPr sz="1800" b="1">
                <a:latin typeface="Lexend"/>
                <a:ea typeface="Lexend"/>
                <a:cs typeface="Lexend"/>
                <a:sym typeface="Lexend"/>
              </a:defRPr>
            </a:lvl6pPr>
            <a:lvl7pPr lvl="6" algn="ctr" rtl="0">
              <a:spcBef>
                <a:spcPts val="0"/>
              </a:spcBef>
              <a:spcAft>
                <a:spcPts val="0"/>
              </a:spcAft>
              <a:buSzPts val="1800"/>
              <a:buFont typeface="Lexend"/>
              <a:buNone/>
              <a:defRPr sz="1800" b="1">
                <a:latin typeface="Lexend"/>
                <a:ea typeface="Lexend"/>
                <a:cs typeface="Lexend"/>
                <a:sym typeface="Lexend"/>
              </a:defRPr>
            </a:lvl7pPr>
            <a:lvl8pPr lvl="7" algn="ctr" rtl="0">
              <a:spcBef>
                <a:spcPts val="0"/>
              </a:spcBef>
              <a:spcAft>
                <a:spcPts val="0"/>
              </a:spcAft>
              <a:buSzPts val="1800"/>
              <a:buFont typeface="Lexend"/>
              <a:buNone/>
              <a:defRPr sz="1800" b="1">
                <a:latin typeface="Lexend"/>
                <a:ea typeface="Lexend"/>
                <a:cs typeface="Lexend"/>
                <a:sym typeface="Lexend"/>
              </a:defRPr>
            </a:lvl8pPr>
            <a:lvl9pPr lvl="8" algn="ctr" rtl="0">
              <a:spcBef>
                <a:spcPts val="0"/>
              </a:spcBef>
              <a:spcAft>
                <a:spcPts val="0"/>
              </a:spcAft>
              <a:buSzPts val="1800"/>
              <a:buFont typeface="Lexend"/>
              <a:buNone/>
              <a:defRPr sz="1800" b="1">
                <a:latin typeface="Lexend"/>
                <a:ea typeface="Lexend"/>
                <a:cs typeface="Lexend"/>
                <a:sym typeface="Lexend"/>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Recommendations section header- centralized text">
  <p:cSld name="SECTION_HEADER_1_2">
    <p:bg>
      <p:bgPr>
        <a:solidFill>
          <a:srgbClr val="E9E5F2"/>
        </a:solidFill>
        <a:effectLst/>
      </p:bgPr>
    </p:bg>
    <p:spTree>
      <p:nvGrpSpPr>
        <p:cNvPr id="1" name="Shape 41"/>
        <p:cNvGrpSpPr/>
        <p:nvPr/>
      </p:nvGrpSpPr>
      <p:grpSpPr>
        <a:xfrm>
          <a:off x="0" y="0"/>
          <a:ext cx="0" cy="0"/>
          <a:chOff x="0" y="0"/>
          <a:chExt cx="0" cy="0"/>
        </a:xfrm>
      </p:grpSpPr>
      <p:pic>
        <p:nvPicPr>
          <p:cNvPr id="42" name="Google Shape;42;p6"/>
          <p:cNvPicPr preferRelativeResize="0"/>
          <p:nvPr/>
        </p:nvPicPr>
        <p:blipFill>
          <a:blip r:embed="rId2">
            <a:alphaModFix/>
          </a:blip>
          <a:stretch>
            <a:fillRect/>
          </a:stretch>
        </p:blipFill>
        <p:spPr>
          <a:xfrm>
            <a:off x="-162725" y="925838"/>
            <a:ext cx="4734724" cy="4734724"/>
          </a:xfrm>
          <a:prstGeom prst="rect">
            <a:avLst/>
          </a:prstGeom>
          <a:noFill/>
          <a:ln>
            <a:noFill/>
          </a:ln>
        </p:spPr>
      </p:pic>
      <p:sp>
        <p:nvSpPr>
          <p:cNvPr id="43" name="Google Shape;43;p6"/>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1pPr>
            <a:lvl2pPr lvl="1"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2pPr>
            <a:lvl3pPr lvl="2"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3pPr>
            <a:lvl4pPr lvl="3"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4pPr>
            <a:lvl5pPr lvl="4"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5pPr>
            <a:lvl6pPr lvl="5"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6pPr>
            <a:lvl7pPr lvl="6"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7pPr>
            <a:lvl8pPr lvl="7"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8pPr>
            <a:lvl9pPr lvl="8"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9pPr>
          </a:lstStyle>
          <a:p>
            <a:endParaRPr/>
          </a:p>
        </p:txBody>
      </p:sp>
      <p:sp>
        <p:nvSpPr>
          <p:cNvPr id="44" name="Google Shape;44;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45" name="Google Shape;45;p6"/>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Lexend"/>
              <a:buNone/>
              <a:defRPr sz="1800" b="1">
                <a:latin typeface="Lexend"/>
                <a:ea typeface="Lexend"/>
                <a:cs typeface="Lexend"/>
                <a:sym typeface="Lexend"/>
              </a:defRPr>
            </a:lvl1pPr>
            <a:lvl2pPr lvl="1" algn="ctr" rtl="0">
              <a:spcBef>
                <a:spcPts val="0"/>
              </a:spcBef>
              <a:spcAft>
                <a:spcPts val="0"/>
              </a:spcAft>
              <a:buSzPts val="1800"/>
              <a:buFont typeface="Lexend"/>
              <a:buNone/>
              <a:defRPr sz="1800" b="1">
                <a:latin typeface="Lexend"/>
                <a:ea typeface="Lexend"/>
                <a:cs typeface="Lexend"/>
                <a:sym typeface="Lexend"/>
              </a:defRPr>
            </a:lvl2pPr>
            <a:lvl3pPr lvl="2" algn="ctr" rtl="0">
              <a:spcBef>
                <a:spcPts val="0"/>
              </a:spcBef>
              <a:spcAft>
                <a:spcPts val="0"/>
              </a:spcAft>
              <a:buSzPts val="1800"/>
              <a:buFont typeface="Lexend"/>
              <a:buNone/>
              <a:defRPr sz="1800" b="1">
                <a:latin typeface="Lexend"/>
                <a:ea typeface="Lexend"/>
                <a:cs typeface="Lexend"/>
                <a:sym typeface="Lexend"/>
              </a:defRPr>
            </a:lvl3pPr>
            <a:lvl4pPr lvl="3" algn="ctr" rtl="0">
              <a:spcBef>
                <a:spcPts val="0"/>
              </a:spcBef>
              <a:spcAft>
                <a:spcPts val="0"/>
              </a:spcAft>
              <a:buSzPts val="1800"/>
              <a:buFont typeface="Lexend"/>
              <a:buNone/>
              <a:defRPr sz="1800" b="1">
                <a:latin typeface="Lexend"/>
                <a:ea typeface="Lexend"/>
                <a:cs typeface="Lexend"/>
                <a:sym typeface="Lexend"/>
              </a:defRPr>
            </a:lvl4pPr>
            <a:lvl5pPr lvl="4" algn="ctr" rtl="0">
              <a:spcBef>
                <a:spcPts val="0"/>
              </a:spcBef>
              <a:spcAft>
                <a:spcPts val="0"/>
              </a:spcAft>
              <a:buSzPts val="1800"/>
              <a:buFont typeface="Lexend"/>
              <a:buNone/>
              <a:defRPr sz="1800" b="1">
                <a:latin typeface="Lexend"/>
                <a:ea typeface="Lexend"/>
                <a:cs typeface="Lexend"/>
                <a:sym typeface="Lexend"/>
              </a:defRPr>
            </a:lvl5pPr>
            <a:lvl6pPr lvl="5" algn="ctr" rtl="0">
              <a:spcBef>
                <a:spcPts val="0"/>
              </a:spcBef>
              <a:spcAft>
                <a:spcPts val="0"/>
              </a:spcAft>
              <a:buSzPts val="1800"/>
              <a:buFont typeface="Lexend"/>
              <a:buNone/>
              <a:defRPr sz="1800" b="1">
                <a:latin typeface="Lexend"/>
                <a:ea typeface="Lexend"/>
                <a:cs typeface="Lexend"/>
                <a:sym typeface="Lexend"/>
              </a:defRPr>
            </a:lvl6pPr>
            <a:lvl7pPr lvl="6" algn="ctr" rtl="0">
              <a:spcBef>
                <a:spcPts val="0"/>
              </a:spcBef>
              <a:spcAft>
                <a:spcPts val="0"/>
              </a:spcAft>
              <a:buSzPts val="1800"/>
              <a:buFont typeface="Lexend"/>
              <a:buNone/>
              <a:defRPr sz="1800" b="1">
                <a:latin typeface="Lexend"/>
                <a:ea typeface="Lexend"/>
                <a:cs typeface="Lexend"/>
                <a:sym typeface="Lexend"/>
              </a:defRPr>
            </a:lvl7pPr>
            <a:lvl8pPr lvl="7" algn="ctr" rtl="0">
              <a:spcBef>
                <a:spcPts val="0"/>
              </a:spcBef>
              <a:spcAft>
                <a:spcPts val="0"/>
              </a:spcAft>
              <a:buSzPts val="1800"/>
              <a:buFont typeface="Lexend"/>
              <a:buNone/>
              <a:defRPr sz="1800" b="1">
                <a:latin typeface="Lexend"/>
                <a:ea typeface="Lexend"/>
                <a:cs typeface="Lexend"/>
                <a:sym typeface="Lexend"/>
              </a:defRPr>
            </a:lvl8pPr>
            <a:lvl9pPr lvl="8" algn="ctr" rtl="0">
              <a:spcBef>
                <a:spcPts val="0"/>
              </a:spcBef>
              <a:spcAft>
                <a:spcPts val="0"/>
              </a:spcAft>
              <a:buSzPts val="1800"/>
              <a:buFont typeface="Lexend"/>
              <a:buNone/>
              <a:defRPr sz="1800" b="1">
                <a:latin typeface="Lexend"/>
                <a:ea typeface="Lexend"/>
                <a:cs typeface="Lexend"/>
                <a:sym typeface="Lexend"/>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Next steps section header- centralized text ">
  <p:cSld name="SECTION_HEADER_1_2_1">
    <p:bg>
      <p:bgPr>
        <a:solidFill>
          <a:srgbClr val="E9E5F2"/>
        </a:solidFill>
        <a:effectLst/>
      </p:bgPr>
    </p:bg>
    <p:spTree>
      <p:nvGrpSpPr>
        <p:cNvPr id="1" name="Shape 46"/>
        <p:cNvGrpSpPr/>
        <p:nvPr/>
      </p:nvGrpSpPr>
      <p:grpSpPr>
        <a:xfrm>
          <a:off x="0" y="0"/>
          <a:ext cx="0" cy="0"/>
          <a:chOff x="0" y="0"/>
          <a:chExt cx="0" cy="0"/>
        </a:xfrm>
      </p:grpSpPr>
      <p:pic>
        <p:nvPicPr>
          <p:cNvPr id="47" name="Google Shape;47;p7"/>
          <p:cNvPicPr preferRelativeResize="0"/>
          <p:nvPr/>
        </p:nvPicPr>
        <p:blipFill>
          <a:blip r:embed="rId2">
            <a:alphaModFix/>
          </a:blip>
          <a:stretch>
            <a:fillRect/>
          </a:stretch>
        </p:blipFill>
        <p:spPr>
          <a:xfrm>
            <a:off x="5662711" y="381225"/>
            <a:ext cx="4553115" cy="4553126"/>
          </a:xfrm>
          <a:prstGeom prst="rect">
            <a:avLst/>
          </a:prstGeom>
          <a:noFill/>
          <a:ln>
            <a:noFill/>
          </a:ln>
        </p:spPr>
      </p:pic>
      <p:pic>
        <p:nvPicPr>
          <p:cNvPr id="48" name="Google Shape;48;p7"/>
          <p:cNvPicPr preferRelativeResize="0"/>
          <p:nvPr/>
        </p:nvPicPr>
        <p:blipFill>
          <a:blip r:embed="rId2">
            <a:alphaModFix/>
          </a:blip>
          <a:stretch>
            <a:fillRect/>
          </a:stretch>
        </p:blipFill>
        <p:spPr>
          <a:xfrm>
            <a:off x="-1252725" y="381225"/>
            <a:ext cx="4553115" cy="4553126"/>
          </a:xfrm>
          <a:prstGeom prst="rect">
            <a:avLst/>
          </a:prstGeom>
          <a:noFill/>
          <a:ln>
            <a:noFill/>
          </a:ln>
        </p:spPr>
      </p:pic>
      <p:sp>
        <p:nvSpPr>
          <p:cNvPr id="49" name="Google Shape;49;p7"/>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1pPr>
            <a:lvl2pPr lvl="1"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2pPr>
            <a:lvl3pPr lvl="2"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3pPr>
            <a:lvl4pPr lvl="3"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4pPr>
            <a:lvl5pPr lvl="4"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5pPr>
            <a:lvl6pPr lvl="5"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6pPr>
            <a:lvl7pPr lvl="6"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7pPr>
            <a:lvl8pPr lvl="7"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8pPr>
            <a:lvl9pPr lvl="8" algn="ctr" rtl="0">
              <a:spcBef>
                <a:spcPts val="0"/>
              </a:spcBef>
              <a:spcAft>
                <a:spcPts val="0"/>
              </a:spcAft>
              <a:buClr>
                <a:srgbClr val="350267"/>
              </a:buClr>
              <a:buSzPts val="3000"/>
              <a:buFont typeface="Lexend"/>
              <a:buNone/>
              <a:defRPr sz="3000" b="1">
                <a:solidFill>
                  <a:srgbClr val="350267"/>
                </a:solidFill>
                <a:latin typeface="Lexend"/>
                <a:ea typeface="Lexend"/>
                <a:cs typeface="Lexend"/>
                <a:sym typeface="Lexend"/>
              </a:defRPr>
            </a:lvl9pPr>
          </a:lstStyle>
          <a:p>
            <a:endParaRPr/>
          </a:p>
        </p:txBody>
      </p:sp>
      <p:sp>
        <p:nvSpPr>
          <p:cNvPr id="50" name="Google Shape;50;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51" name="Google Shape;51;p7"/>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a:bodyPr>
          <a:lstStyle>
            <a:lvl1pPr lvl="0" algn="ctr" rtl="0">
              <a:spcBef>
                <a:spcPts val="0"/>
              </a:spcBef>
              <a:spcAft>
                <a:spcPts val="0"/>
              </a:spcAft>
              <a:buSzPts val="1800"/>
              <a:buFont typeface="Lexend"/>
              <a:buNone/>
              <a:defRPr sz="1800" b="1">
                <a:latin typeface="Lexend"/>
                <a:ea typeface="Lexend"/>
                <a:cs typeface="Lexend"/>
                <a:sym typeface="Lexend"/>
              </a:defRPr>
            </a:lvl1pPr>
            <a:lvl2pPr lvl="1" algn="ctr" rtl="0">
              <a:spcBef>
                <a:spcPts val="0"/>
              </a:spcBef>
              <a:spcAft>
                <a:spcPts val="0"/>
              </a:spcAft>
              <a:buSzPts val="1800"/>
              <a:buFont typeface="Lexend"/>
              <a:buNone/>
              <a:defRPr sz="1800" b="1">
                <a:latin typeface="Lexend"/>
                <a:ea typeface="Lexend"/>
                <a:cs typeface="Lexend"/>
                <a:sym typeface="Lexend"/>
              </a:defRPr>
            </a:lvl2pPr>
            <a:lvl3pPr lvl="2" algn="ctr" rtl="0">
              <a:spcBef>
                <a:spcPts val="0"/>
              </a:spcBef>
              <a:spcAft>
                <a:spcPts val="0"/>
              </a:spcAft>
              <a:buSzPts val="1800"/>
              <a:buFont typeface="Lexend"/>
              <a:buNone/>
              <a:defRPr sz="1800" b="1">
                <a:latin typeface="Lexend"/>
                <a:ea typeface="Lexend"/>
                <a:cs typeface="Lexend"/>
                <a:sym typeface="Lexend"/>
              </a:defRPr>
            </a:lvl3pPr>
            <a:lvl4pPr lvl="3" algn="ctr" rtl="0">
              <a:spcBef>
                <a:spcPts val="0"/>
              </a:spcBef>
              <a:spcAft>
                <a:spcPts val="0"/>
              </a:spcAft>
              <a:buSzPts val="1800"/>
              <a:buFont typeface="Lexend"/>
              <a:buNone/>
              <a:defRPr sz="1800" b="1">
                <a:latin typeface="Lexend"/>
                <a:ea typeface="Lexend"/>
                <a:cs typeface="Lexend"/>
                <a:sym typeface="Lexend"/>
              </a:defRPr>
            </a:lvl4pPr>
            <a:lvl5pPr lvl="4" algn="ctr" rtl="0">
              <a:spcBef>
                <a:spcPts val="0"/>
              </a:spcBef>
              <a:spcAft>
                <a:spcPts val="0"/>
              </a:spcAft>
              <a:buSzPts val="1800"/>
              <a:buFont typeface="Lexend"/>
              <a:buNone/>
              <a:defRPr sz="1800" b="1">
                <a:latin typeface="Lexend"/>
                <a:ea typeface="Lexend"/>
                <a:cs typeface="Lexend"/>
                <a:sym typeface="Lexend"/>
              </a:defRPr>
            </a:lvl5pPr>
            <a:lvl6pPr lvl="5" algn="ctr" rtl="0">
              <a:spcBef>
                <a:spcPts val="0"/>
              </a:spcBef>
              <a:spcAft>
                <a:spcPts val="0"/>
              </a:spcAft>
              <a:buSzPts val="1800"/>
              <a:buFont typeface="Lexend"/>
              <a:buNone/>
              <a:defRPr sz="1800" b="1">
                <a:latin typeface="Lexend"/>
                <a:ea typeface="Lexend"/>
                <a:cs typeface="Lexend"/>
                <a:sym typeface="Lexend"/>
              </a:defRPr>
            </a:lvl6pPr>
            <a:lvl7pPr lvl="6" algn="ctr" rtl="0">
              <a:spcBef>
                <a:spcPts val="0"/>
              </a:spcBef>
              <a:spcAft>
                <a:spcPts val="0"/>
              </a:spcAft>
              <a:buSzPts val="1800"/>
              <a:buFont typeface="Lexend"/>
              <a:buNone/>
              <a:defRPr sz="1800" b="1">
                <a:latin typeface="Lexend"/>
                <a:ea typeface="Lexend"/>
                <a:cs typeface="Lexend"/>
                <a:sym typeface="Lexend"/>
              </a:defRPr>
            </a:lvl7pPr>
            <a:lvl8pPr lvl="7" algn="ctr" rtl="0">
              <a:spcBef>
                <a:spcPts val="0"/>
              </a:spcBef>
              <a:spcAft>
                <a:spcPts val="0"/>
              </a:spcAft>
              <a:buSzPts val="1800"/>
              <a:buFont typeface="Lexend"/>
              <a:buNone/>
              <a:defRPr sz="1800" b="1">
                <a:latin typeface="Lexend"/>
                <a:ea typeface="Lexend"/>
                <a:cs typeface="Lexend"/>
                <a:sym typeface="Lexend"/>
              </a:defRPr>
            </a:lvl8pPr>
            <a:lvl9pPr lvl="8" algn="ctr" rtl="0">
              <a:spcBef>
                <a:spcPts val="0"/>
              </a:spcBef>
              <a:spcAft>
                <a:spcPts val="0"/>
              </a:spcAft>
              <a:buSzPts val="1800"/>
              <a:buFont typeface="Lexend"/>
              <a:buNone/>
              <a:defRPr sz="1800" b="1">
                <a:latin typeface="Lexend"/>
                <a:ea typeface="Lexend"/>
                <a:cs typeface="Lexend"/>
                <a:sym typeface="Lexend"/>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Research Section header- left aligned text">
  <p:cSld name="SECTION_HEADER_1_1">
    <p:bg>
      <p:bgPr>
        <a:solidFill>
          <a:schemeClr val="lt1"/>
        </a:solidFill>
        <a:effectLst/>
      </p:bgPr>
    </p:bg>
    <p:spTree>
      <p:nvGrpSpPr>
        <p:cNvPr id="1" name="Shape 52"/>
        <p:cNvGrpSpPr/>
        <p:nvPr/>
      </p:nvGrpSpPr>
      <p:grpSpPr>
        <a:xfrm>
          <a:off x="0" y="0"/>
          <a:ext cx="0" cy="0"/>
          <a:chOff x="0" y="0"/>
          <a:chExt cx="0" cy="0"/>
        </a:xfrm>
      </p:grpSpPr>
      <p:sp>
        <p:nvSpPr>
          <p:cNvPr id="53" name="Google Shape;53;p8"/>
          <p:cNvSpPr/>
          <p:nvPr/>
        </p:nvSpPr>
        <p:spPr>
          <a:xfrm>
            <a:off x="4622925" y="-75600"/>
            <a:ext cx="4607400" cy="5296800"/>
          </a:xfrm>
          <a:prstGeom prst="rect">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54" name="Google Shape;54;p8"/>
          <p:cNvGrpSpPr/>
          <p:nvPr/>
        </p:nvGrpSpPr>
        <p:grpSpPr>
          <a:xfrm>
            <a:off x="4972551" y="33415"/>
            <a:ext cx="4931441" cy="5711568"/>
            <a:chOff x="4832725" y="978975"/>
            <a:chExt cx="3578175" cy="4144524"/>
          </a:xfrm>
        </p:grpSpPr>
        <p:sp>
          <p:nvSpPr>
            <p:cNvPr id="55" name="Google Shape;55;p8"/>
            <p:cNvSpPr/>
            <p:nvPr/>
          </p:nvSpPr>
          <p:spPr>
            <a:xfrm>
              <a:off x="4832725" y="978975"/>
              <a:ext cx="2680500" cy="2680500"/>
            </a:xfrm>
            <a:prstGeom prst="ellipse">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6" name="Google Shape;56;p8"/>
            <p:cNvSpPr/>
            <p:nvPr/>
          </p:nvSpPr>
          <p:spPr>
            <a:xfrm>
              <a:off x="5166800" y="1313050"/>
              <a:ext cx="2012400" cy="2012400"/>
            </a:xfrm>
            <a:prstGeom prst="ellipse">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7" name="Google Shape;57;p8"/>
            <p:cNvSpPr/>
            <p:nvPr/>
          </p:nvSpPr>
          <p:spPr>
            <a:xfrm rot="-2288092">
              <a:off x="6977620" y="3455779"/>
              <a:ext cx="388655" cy="367104"/>
            </a:xfrm>
            <a:prstGeom prst="rect">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8" name="Google Shape;58;p8"/>
            <p:cNvSpPr/>
            <p:nvPr/>
          </p:nvSpPr>
          <p:spPr>
            <a:xfrm rot="-2236353">
              <a:off x="7495263" y="3778223"/>
              <a:ext cx="580574" cy="1302452"/>
            </a:xfrm>
            <a:prstGeom prst="roundRect">
              <a:avLst>
                <a:gd name="adj" fmla="val 50000"/>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sp>
        <p:nvSpPr>
          <p:cNvPr id="59" name="Google Shape;59;p8"/>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lvl1pPr lvl="0"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1pPr>
            <a:lvl2pPr lvl="1"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2pPr>
            <a:lvl3pPr lvl="2"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3pPr>
            <a:lvl4pPr lvl="3"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4pPr>
            <a:lvl5pPr lvl="4"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5pPr>
            <a:lvl6pPr lvl="5"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6pPr>
            <a:lvl7pPr lvl="6"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7pPr>
            <a:lvl8pPr lvl="7"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8pPr>
            <a:lvl9pPr lvl="8"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9pPr>
          </a:lstStyle>
          <a:p>
            <a:endParaRPr/>
          </a:p>
        </p:txBody>
      </p:sp>
      <p:sp>
        <p:nvSpPr>
          <p:cNvPr id="60" name="Google Shape;6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1" name="Google Shape;61;p8"/>
          <p:cNvSpPr txBox="1">
            <a:spLocks noGrp="1"/>
          </p:cNvSpPr>
          <p:nvPr>
            <p:ph type="title" idx="2"/>
          </p:nvPr>
        </p:nvSpPr>
        <p:spPr>
          <a:xfrm>
            <a:off x="311700" y="2873825"/>
            <a:ext cx="4108200" cy="393600"/>
          </a:xfrm>
          <a:prstGeom prst="rect">
            <a:avLst/>
          </a:prstGeom>
        </p:spPr>
        <p:txBody>
          <a:bodyPr spcFirstLastPara="1" wrap="square" lIns="91425" tIns="91425" rIns="91425" bIns="91425" anchor="ctr" anchorCtr="0">
            <a:normAutofit/>
          </a:bodyPr>
          <a:lstStyle>
            <a:lvl1pPr lvl="0" rtl="0">
              <a:spcBef>
                <a:spcPts val="0"/>
              </a:spcBef>
              <a:spcAft>
                <a:spcPts val="0"/>
              </a:spcAft>
              <a:buSzPts val="1800"/>
              <a:buFont typeface="Lexend SemiBold"/>
              <a:buNone/>
              <a:defRPr sz="1800">
                <a:latin typeface="Lexend SemiBold"/>
                <a:ea typeface="Lexend SemiBold"/>
                <a:cs typeface="Lexend SemiBold"/>
                <a:sym typeface="Lexend SemiBold"/>
              </a:defRPr>
            </a:lvl1pPr>
            <a:lvl2pPr lvl="1" rtl="0">
              <a:spcBef>
                <a:spcPts val="0"/>
              </a:spcBef>
              <a:spcAft>
                <a:spcPts val="0"/>
              </a:spcAft>
              <a:buSzPts val="1800"/>
              <a:buFont typeface="Lexend SemiBold"/>
              <a:buNone/>
              <a:defRPr sz="1800">
                <a:latin typeface="Lexend SemiBold"/>
                <a:ea typeface="Lexend SemiBold"/>
                <a:cs typeface="Lexend SemiBold"/>
                <a:sym typeface="Lexend SemiBold"/>
              </a:defRPr>
            </a:lvl2pPr>
            <a:lvl3pPr lvl="2" rtl="0">
              <a:spcBef>
                <a:spcPts val="0"/>
              </a:spcBef>
              <a:spcAft>
                <a:spcPts val="0"/>
              </a:spcAft>
              <a:buSzPts val="1800"/>
              <a:buFont typeface="Lexend SemiBold"/>
              <a:buNone/>
              <a:defRPr sz="1800">
                <a:latin typeface="Lexend SemiBold"/>
                <a:ea typeface="Lexend SemiBold"/>
                <a:cs typeface="Lexend SemiBold"/>
                <a:sym typeface="Lexend SemiBold"/>
              </a:defRPr>
            </a:lvl3pPr>
            <a:lvl4pPr lvl="3" rtl="0">
              <a:spcBef>
                <a:spcPts val="0"/>
              </a:spcBef>
              <a:spcAft>
                <a:spcPts val="0"/>
              </a:spcAft>
              <a:buSzPts val="1800"/>
              <a:buFont typeface="Lexend SemiBold"/>
              <a:buNone/>
              <a:defRPr sz="1800">
                <a:latin typeface="Lexend SemiBold"/>
                <a:ea typeface="Lexend SemiBold"/>
                <a:cs typeface="Lexend SemiBold"/>
                <a:sym typeface="Lexend SemiBold"/>
              </a:defRPr>
            </a:lvl4pPr>
            <a:lvl5pPr lvl="4" rtl="0">
              <a:spcBef>
                <a:spcPts val="0"/>
              </a:spcBef>
              <a:spcAft>
                <a:spcPts val="0"/>
              </a:spcAft>
              <a:buSzPts val="1800"/>
              <a:buFont typeface="Lexend SemiBold"/>
              <a:buNone/>
              <a:defRPr sz="1800">
                <a:latin typeface="Lexend SemiBold"/>
                <a:ea typeface="Lexend SemiBold"/>
                <a:cs typeface="Lexend SemiBold"/>
                <a:sym typeface="Lexend SemiBold"/>
              </a:defRPr>
            </a:lvl5pPr>
            <a:lvl6pPr lvl="5" rtl="0">
              <a:spcBef>
                <a:spcPts val="0"/>
              </a:spcBef>
              <a:spcAft>
                <a:spcPts val="0"/>
              </a:spcAft>
              <a:buSzPts val="1800"/>
              <a:buFont typeface="Lexend SemiBold"/>
              <a:buNone/>
              <a:defRPr sz="1800">
                <a:latin typeface="Lexend SemiBold"/>
                <a:ea typeface="Lexend SemiBold"/>
                <a:cs typeface="Lexend SemiBold"/>
                <a:sym typeface="Lexend SemiBold"/>
              </a:defRPr>
            </a:lvl6pPr>
            <a:lvl7pPr lvl="6" rtl="0">
              <a:spcBef>
                <a:spcPts val="0"/>
              </a:spcBef>
              <a:spcAft>
                <a:spcPts val="0"/>
              </a:spcAft>
              <a:buSzPts val="1800"/>
              <a:buFont typeface="Lexend SemiBold"/>
              <a:buNone/>
              <a:defRPr sz="1800">
                <a:latin typeface="Lexend SemiBold"/>
                <a:ea typeface="Lexend SemiBold"/>
                <a:cs typeface="Lexend SemiBold"/>
                <a:sym typeface="Lexend SemiBold"/>
              </a:defRPr>
            </a:lvl7pPr>
            <a:lvl8pPr lvl="7" rtl="0">
              <a:spcBef>
                <a:spcPts val="0"/>
              </a:spcBef>
              <a:spcAft>
                <a:spcPts val="0"/>
              </a:spcAft>
              <a:buSzPts val="1800"/>
              <a:buFont typeface="Lexend SemiBold"/>
              <a:buNone/>
              <a:defRPr sz="1800">
                <a:latin typeface="Lexend SemiBold"/>
                <a:ea typeface="Lexend SemiBold"/>
                <a:cs typeface="Lexend SemiBold"/>
                <a:sym typeface="Lexend SemiBold"/>
              </a:defRPr>
            </a:lvl8pPr>
            <a:lvl9pPr lvl="8" rtl="0">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sign recommendation subsections- left aligned">
  <p:cSld name="SECTION_HEADER_1_1_1">
    <p:bg>
      <p:bgPr>
        <a:solidFill>
          <a:schemeClr val="lt1"/>
        </a:solidFill>
        <a:effectLst/>
      </p:bgPr>
    </p:bg>
    <p:spTree>
      <p:nvGrpSpPr>
        <p:cNvPr id="1" name="Shape 62"/>
        <p:cNvGrpSpPr/>
        <p:nvPr/>
      </p:nvGrpSpPr>
      <p:grpSpPr>
        <a:xfrm>
          <a:off x="0" y="0"/>
          <a:ext cx="0" cy="0"/>
          <a:chOff x="0" y="0"/>
          <a:chExt cx="0" cy="0"/>
        </a:xfrm>
      </p:grpSpPr>
      <p:sp>
        <p:nvSpPr>
          <p:cNvPr id="63" name="Google Shape;63;p9"/>
          <p:cNvSpPr/>
          <p:nvPr/>
        </p:nvSpPr>
        <p:spPr>
          <a:xfrm>
            <a:off x="4622925" y="-75600"/>
            <a:ext cx="4607400" cy="5296800"/>
          </a:xfrm>
          <a:prstGeom prst="rect">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64" name="Google Shape;64;p9"/>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lvl1pPr lvl="0"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1pPr>
            <a:lvl2pPr lvl="1"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2pPr>
            <a:lvl3pPr lvl="2"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3pPr>
            <a:lvl4pPr lvl="3"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4pPr>
            <a:lvl5pPr lvl="4"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5pPr>
            <a:lvl6pPr lvl="5"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6pPr>
            <a:lvl7pPr lvl="6"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7pPr>
            <a:lvl8pPr lvl="7"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8pPr>
            <a:lvl9pPr lvl="8" rtl="0">
              <a:spcBef>
                <a:spcPts val="0"/>
              </a:spcBef>
              <a:spcAft>
                <a:spcPts val="0"/>
              </a:spcAft>
              <a:buClr>
                <a:srgbClr val="350267"/>
              </a:buClr>
              <a:buSzPts val="2600"/>
              <a:buFont typeface="Lexend"/>
              <a:buNone/>
              <a:defRPr sz="2600" b="1">
                <a:solidFill>
                  <a:srgbClr val="350267"/>
                </a:solidFill>
                <a:latin typeface="Lexend"/>
                <a:ea typeface="Lexend"/>
                <a:cs typeface="Lexend"/>
                <a:sym typeface="Lexend"/>
              </a:defRPr>
            </a:lvl9pPr>
          </a:lstStyle>
          <a:p>
            <a:endParaRPr/>
          </a:p>
        </p:txBody>
      </p:sp>
      <p:sp>
        <p:nvSpPr>
          <p:cNvPr id="65" name="Google Shape;6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sp>
        <p:nvSpPr>
          <p:cNvPr id="66" name="Google Shape;66;p9"/>
          <p:cNvSpPr txBox="1">
            <a:spLocks noGrp="1"/>
          </p:cNvSpPr>
          <p:nvPr>
            <p:ph type="title" idx="2"/>
          </p:nvPr>
        </p:nvSpPr>
        <p:spPr>
          <a:xfrm>
            <a:off x="311700" y="2873825"/>
            <a:ext cx="4108200" cy="393600"/>
          </a:xfrm>
          <a:prstGeom prst="rect">
            <a:avLst/>
          </a:prstGeom>
        </p:spPr>
        <p:txBody>
          <a:bodyPr spcFirstLastPara="1" wrap="square" lIns="91425" tIns="91425" rIns="91425" bIns="91425" anchor="ctr" anchorCtr="0">
            <a:spAutoFit/>
          </a:bodyPr>
          <a:lstStyle>
            <a:lvl1pPr lvl="0" rtl="0">
              <a:spcBef>
                <a:spcPts val="0"/>
              </a:spcBef>
              <a:spcAft>
                <a:spcPts val="0"/>
              </a:spcAft>
              <a:buSzPts val="1800"/>
              <a:buFont typeface="Lexend SemiBold"/>
              <a:buNone/>
              <a:defRPr sz="1800">
                <a:latin typeface="Lexend SemiBold"/>
                <a:ea typeface="Lexend SemiBold"/>
                <a:cs typeface="Lexend SemiBold"/>
                <a:sym typeface="Lexend SemiBold"/>
              </a:defRPr>
            </a:lvl1pPr>
            <a:lvl2pPr lvl="1" rtl="0">
              <a:spcBef>
                <a:spcPts val="0"/>
              </a:spcBef>
              <a:spcAft>
                <a:spcPts val="0"/>
              </a:spcAft>
              <a:buSzPts val="1800"/>
              <a:buFont typeface="Lexend SemiBold"/>
              <a:buNone/>
              <a:defRPr sz="1800">
                <a:latin typeface="Lexend SemiBold"/>
                <a:ea typeface="Lexend SemiBold"/>
                <a:cs typeface="Lexend SemiBold"/>
                <a:sym typeface="Lexend SemiBold"/>
              </a:defRPr>
            </a:lvl2pPr>
            <a:lvl3pPr lvl="2" rtl="0">
              <a:spcBef>
                <a:spcPts val="0"/>
              </a:spcBef>
              <a:spcAft>
                <a:spcPts val="0"/>
              </a:spcAft>
              <a:buSzPts val="1800"/>
              <a:buFont typeface="Lexend SemiBold"/>
              <a:buNone/>
              <a:defRPr sz="1800">
                <a:latin typeface="Lexend SemiBold"/>
                <a:ea typeface="Lexend SemiBold"/>
                <a:cs typeface="Lexend SemiBold"/>
                <a:sym typeface="Lexend SemiBold"/>
              </a:defRPr>
            </a:lvl3pPr>
            <a:lvl4pPr lvl="3" rtl="0">
              <a:spcBef>
                <a:spcPts val="0"/>
              </a:spcBef>
              <a:spcAft>
                <a:spcPts val="0"/>
              </a:spcAft>
              <a:buSzPts val="1800"/>
              <a:buFont typeface="Lexend SemiBold"/>
              <a:buNone/>
              <a:defRPr sz="1800">
                <a:latin typeface="Lexend SemiBold"/>
                <a:ea typeface="Lexend SemiBold"/>
                <a:cs typeface="Lexend SemiBold"/>
                <a:sym typeface="Lexend SemiBold"/>
              </a:defRPr>
            </a:lvl4pPr>
            <a:lvl5pPr lvl="4" rtl="0">
              <a:spcBef>
                <a:spcPts val="0"/>
              </a:spcBef>
              <a:spcAft>
                <a:spcPts val="0"/>
              </a:spcAft>
              <a:buSzPts val="1800"/>
              <a:buFont typeface="Lexend SemiBold"/>
              <a:buNone/>
              <a:defRPr sz="1800">
                <a:latin typeface="Lexend SemiBold"/>
                <a:ea typeface="Lexend SemiBold"/>
                <a:cs typeface="Lexend SemiBold"/>
                <a:sym typeface="Lexend SemiBold"/>
              </a:defRPr>
            </a:lvl5pPr>
            <a:lvl6pPr lvl="5" rtl="0">
              <a:spcBef>
                <a:spcPts val="0"/>
              </a:spcBef>
              <a:spcAft>
                <a:spcPts val="0"/>
              </a:spcAft>
              <a:buSzPts val="1800"/>
              <a:buFont typeface="Lexend SemiBold"/>
              <a:buNone/>
              <a:defRPr sz="1800">
                <a:latin typeface="Lexend SemiBold"/>
                <a:ea typeface="Lexend SemiBold"/>
                <a:cs typeface="Lexend SemiBold"/>
                <a:sym typeface="Lexend SemiBold"/>
              </a:defRPr>
            </a:lvl6pPr>
            <a:lvl7pPr lvl="6" rtl="0">
              <a:spcBef>
                <a:spcPts val="0"/>
              </a:spcBef>
              <a:spcAft>
                <a:spcPts val="0"/>
              </a:spcAft>
              <a:buSzPts val="1800"/>
              <a:buFont typeface="Lexend SemiBold"/>
              <a:buNone/>
              <a:defRPr sz="1800">
                <a:latin typeface="Lexend SemiBold"/>
                <a:ea typeface="Lexend SemiBold"/>
                <a:cs typeface="Lexend SemiBold"/>
                <a:sym typeface="Lexend SemiBold"/>
              </a:defRPr>
            </a:lvl7pPr>
            <a:lvl8pPr lvl="7" rtl="0">
              <a:spcBef>
                <a:spcPts val="0"/>
              </a:spcBef>
              <a:spcAft>
                <a:spcPts val="0"/>
              </a:spcAft>
              <a:buSzPts val="1800"/>
              <a:buFont typeface="Lexend SemiBold"/>
              <a:buNone/>
              <a:defRPr sz="1800">
                <a:latin typeface="Lexend SemiBold"/>
                <a:ea typeface="Lexend SemiBold"/>
                <a:cs typeface="Lexend SemiBold"/>
                <a:sym typeface="Lexend SemiBold"/>
              </a:defRPr>
            </a:lvl8pPr>
            <a:lvl9pPr lvl="8" rtl="0">
              <a:spcBef>
                <a:spcPts val="0"/>
              </a:spcBef>
              <a:spcAft>
                <a:spcPts val="0"/>
              </a:spcAft>
              <a:buSzPts val="1800"/>
              <a:buFont typeface="Lexend SemiBold"/>
              <a:buNone/>
              <a:defRPr sz="1800">
                <a:latin typeface="Lexend SemiBold"/>
                <a:ea typeface="Lexend SemiBold"/>
                <a:cs typeface="Lexend SemiBold"/>
                <a:sym typeface="Lexend SemiBold"/>
              </a:defRPr>
            </a:lvl9pPr>
          </a:lstStyle>
          <a:p>
            <a:endParaRPr/>
          </a:p>
        </p:txBody>
      </p:sp>
      <p:pic>
        <p:nvPicPr>
          <p:cNvPr id="67" name="Google Shape;67;p9"/>
          <p:cNvPicPr preferRelativeResize="0"/>
          <p:nvPr/>
        </p:nvPicPr>
        <p:blipFill>
          <a:blip r:embed="rId2">
            <a:alphaModFix/>
          </a:blip>
          <a:stretch>
            <a:fillRect/>
          </a:stretch>
        </p:blipFill>
        <p:spPr>
          <a:xfrm>
            <a:off x="4223550" y="896287"/>
            <a:ext cx="4607401" cy="4607374"/>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WURD-Title and body" type="tx" preserve="1">
  <p:cSld name="1_WURD-Title and body-Fr">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311700" y="968025"/>
            <a:ext cx="8520600" cy="36009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1pPr>
            <a:lvl2pPr marL="914400" lvl="1"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2pPr>
            <a:lvl3pPr marL="1371600" lvl="2"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3pPr>
            <a:lvl4pPr marL="1828800" lvl="3"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4pPr>
            <a:lvl5pPr marL="2286000" lvl="4"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5pPr>
            <a:lvl6pPr marL="2743200" lvl="5"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6pPr>
            <a:lvl7pPr marL="3200400" lvl="6"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7pPr>
            <a:lvl8pPr marL="3657600" lvl="7"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8pPr>
            <a:lvl9pPr marL="4114800" lvl="8"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9pPr>
          </a:lstStyle>
          <a:p>
            <a:endParaRPr/>
          </a:p>
        </p:txBody>
      </p:sp>
      <p:sp>
        <p:nvSpPr>
          <p:cNvPr id="70" name="Google Shape;7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
        <p:nvSpPr>
          <p:cNvPr id="72" name="Google Shape;72;p10"/>
          <p:cNvSpPr/>
          <p:nvPr/>
        </p:nvSpPr>
        <p:spPr>
          <a:xfrm>
            <a:off x="25" y="0"/>
            <a:ext cx="9144000" cy="743400"/>
          </a:xfrm>
          <a:prstGeom prst="rect">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0"/>
          <p:cNvSpPr txBox="1">
            <a:spLocks noGrp="1"/>
          </p:cNvSpPr>
          <p:nvPr>
            <p:ph type="title"/>
          </p:nvPr>
        </p:nvSpPr>
        <p:spPr>
          <a:xfrm>
            <a:off x="311700" y="1707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1pPr>
            <a:lvl2pPr lvl="1">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2pPr>
            <a:lvl3pPr lvl="2">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3pPr>
            <a:lvl4pPr lvl="3">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4pPr>
            <a:lvl5pPr lvl="4">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5pPr>
            <a:lvl6pPr lvl="5">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6pPr>
            <a:lvl7pPr lvl="6">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7pPr>
            <a:lvl8pPr lvl="7">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8pPr>
            <a:lvl9pPr lvl="8">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9pPr>
          </a:lstStyle>
          <a:p>
            <a:endParaRPr/>
          </a:p>
        </p:txBody>
      </p:sp>
      <p:pic>
        <p:nvPicPr>
          <p:cNvPr id="4" name="Picture 3" descr="A black background with a black square&#10;&#10;Description automatically generated with medium confidence">
            <a:extLst>
              <a:ext uri="{FF2B5EF4-FFF2-40B4-BE49-F238E27FC236}">
                <a16:creationId xmlns:a16="http://schemas.microsoft.com/office/drawing/2014/main" id="{493D1D96-B671-FB73-1C29-C3B4FCD3516B}"/>
              </a:ext>
            </a:extLst>
          </p:cNvPr>
          <p:cNvPicPr>
            <a:picLocks noChangeAspect="1"/>
          </p:cNvPicPr>
          <p:nvPr userDrawn="1"/>
        </p:nvPicPr>
        <p:blipFill>
          <a:blip r:embed="rId2"/>
          <a:stretch>
            <a:fillRect/>
          </a:stretch>
        </p:blipFill>
        <p:spPr>
          <a:xfrm>
            <a:off x="7560150" y="4619055"/>
            <a:ext cx="1272150" cy="208370"/>
          </a:xfrm>
          <a:prstGeom prst="rect">
            <a:avLst/>
          </a:prstGeom>
        </p:spPr>
      </p:pic>
    </p:spTree>
    <p:extLst>
      <p:ext uri="{BB962C8B-B14F-4D97-AF65-F5344CB8AC3E}">
        <p14:creationId xmlns:p14="http://schemas.microsoft.com/office/powerpoint/2010/main" val="1811545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WURD-Title and body" type="tx" preserve="1">
  <p:cSld name="1_WURD-Title and body research finding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311700" y="968025"/>
            <a:ext cx="8520600" cy="36009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1pPr>
            <a:lvl2pPr marL="914400" lvl="1"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2pPr>
            <a:lvl3pPr marL="1371600" lvl="2"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3pPr>
            <a:lvl4pPr marL="1828800" lvl="3"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4pPr>
            <a:lvl5pPr marL="2286000" lvl="4"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5pPr>
            <a:lvl6pPr marL="2743200" lvl="5"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6pPr>
            <a:lvl7pPr marL="3200400" lvl="6"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7pPr>
            <a:lvl8pPr marL="3657600" lvl="7"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8pPr>
            <a:lvl9pPr marL="4114800" lvl="8"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9pPr>
          </a:lstStyle>
          <a:p>
            <a:endParaRPr/>
          </a:p>
        </p:txBody>
      </p:sp>
      <p:sp>
        <p:nvSpPr>
          <p:cNvPr id="70" name="Google Shape;7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71" name="Google Shape;71;p10"/>
          <p:cNvPicPr preferRelativeResize="0"/>
          <p:nvPr/>
        </p:nvPicPr>
        <p:blipFill>
          <a:blip r:embed="rId2">
            <a:alphaModFix/>
          </a:blip>
          <a:stretch>
            <a:fillRect/>
          </a:stretch>
        </p:blipFill>
        <p:spPr>
          <a:xfrm>
            <a:off x="7560150" y="4615400"/>
            <a:ext cx="1272150" cy="212025"/>
          </a:xfrm>
          <a:prstGeom prst="rect">
            <a:avLst/>
          </a:prstGeom>
          <a:noFill/>
          <a:ln>
            <a:noFill/>
          </a:ln>
        </p:spPr>
      </p:pic>
      <p:sp>
        <p:nvSpPr>
          <p:cNvPr id="72" name="Google Shape;72;p10"/>
          <p:cNvSpPr/>
          <p:nvPr/>
        </p:nvSpPr>
        <p:spPr>
          <a:xfrm>
            <a:off x="25" y="0"/>
            <a:ext cx="9144000" cy="743400"/>
          </a:xfrm>
          <a:prstGeom prst="rect">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0"/>
          <p:cNvSpPr txBox="1">
            <a:spLocks noGrp="1"/>
          </p:cNvSpPr>
          <p:nvPr>
            <p:ph type="title"/>
          </p:nvPr>
        </p:nvSpPr>
        <p:spPr>
          <a:xfrm>
            <a:off x="311700" y="1707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1pPr>
            <a:lvl2pPr lvl="1">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2pPr>
            <a:lvl3pPr lvl="2">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3pPr>
            <a:lvl4pPr lvl="3">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4pPr>
            <a:lvl5pPr lvl="4">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5pPr>
            <a:lvl6pPr lvl="5">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6pPr>
            <a:lvl7pPr lvl="6">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7pPr>
            <a:lvl8pPr lvl="7">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8pPr>
            <a:lvl9pPr lvl="8">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9pPr>
          </a:lstStyle>
          <a:p>
            <a:endParaRPr/>
          </a:p>
        </p:txBody>
      </p:sp>
      <p:grpSp>
        <p:nvGrpSpPr>
          <p:cNvPr id="2" name="Google Shape;108;p19">
            <a:extLst>
              <a:ext uri="{FF2B5EF4-FFF2-40B4-BE49-F238E27FC236}">
                <a16:creationId xmlns:a16="http://schemas.microsoft.com/office/drawing/2014/main" id="{ADEC4062-E781-2583-76FC-0711FEF3F540}"/>
              </a:ext>
            </a:extLst>
          </p:cNvPr>
          <p:cNvGrpSpPr/>
          <p:nvPr userDrawn="1"/>
        </p:nvGrpSpPr>
        <p:grpSpPr>
          <a:xfrm>
            <a:off x="8549477" y="34342"/>
            <a:ext cx="597381" cy="755533"/>
            <a:chOff x="4832725" y="978975"/>
            <a:chExt cx="3243112" cy="4101700"/>
          </a:xfrm>
        </p:grpSpPr>
        <p:sp>
          <p:nvSpPr>
            <p:cNvPr id="3" name="Google Shape;109;p19">
              <a:extLst>
                <a:ext uri="{FF2B5EF4-FFF2-40B4-BE49-F238E27FC236}">
                  <a16:creationId xmlns:a16="http://schemas.microsoft.com/office/drawing/2014/main" id="{7396D372-6CE5-917C-187A-A22894CC7B12}"/>
                </a:ext>
              </a:extLst>
            </p:cNvPr>
            <p:cNvSpPr/>
            <p:nvPr userDrawn="1"/>
          </p:nvSpPr>
          <p:spPr>
            <a:xfrm>
              <a:off x="4832725" y="978975"/>
              <a:ext cx="2680500" cy="2680500"/>
            </a:xfrm>
            <a:prstGeom prst="ellipse">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a:p>
          </p:txBody>
        </p:sp>
        <p:sp>
          <p:nvSpPr>
            <p:cNvPr id="4" name="Google Shape;110;p19">
              <a:extLst>
                <a:ext uri="{FF2B5EF4-FFF2-40B4-BE49-F238E27FC236}">
                  <a16:creationId xmlns:a16="http://schemas.microsoft.com/office/drawing/2014/main" id="{704035AD-15B2-A24F-2C3D-AB7AE0376BE8}"/>
                </a:ext>
              </a:extLst>
            </p:cNvPr>
            <p:cNvSpPr/>
            <p:nvPr userDrawn="1"/>
          </p:nvSpPr>
          <p:spPr>
            <a:xfrm>
              <a:off x="5166800" y="1313050"/>
              <a:ext cx="2012400" cy="2012400"/>
            </a:xfrm>
            <a:prstGeom prst="ellipse">
              <a:avLst/>
            </a:prstGeom>
            <a:solidFill>
              <a:srgbClr val="E9E5F2"/>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a:p>
          </p:txBody>
        </p:sp>
        <p:sp>
          <p:nvSpPr>
            <p:cNvPr id="5" name="Google Shape;111;p19">
              <a:extLst>
                <a:ext uri="{FF2B5EF4-FFF2-40B4-BE49-F238E27FC236}">
                  <a16:creationId xmlns:a16="http://schemas.microsoft.com/office/drawing/2014/main" id="{B713CB56-8C74-8DF9-AF94-0D44A283AFD7}"/>
                </a:ext>
              </a:extLst>
            </p:cNvPr>
            <p:cNvSpPr/>
            <p:nvPr userDrawn="1"/>
          </p:nvSpPr>
          <p:spPr>
            <a:xfrm rot="-2288092">
              <a:off x="6977620" y="3455779"/>
              <a:ext cx="388655" cy="367104"/>
            </a:xfrm>
            <a:prstGeom prst="rect">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a:p>
          </p:txBody>
        </p:sp>
        <p:sp>
          <p:nvSpPr>
            <p:cNvPr id="6" name="Google Shape;112;p19">
              <a:extLst>
                <a:ext uri="{FF2B5EF4-FFF2-40B4-BE49-F238E27FC236}">
                  <a16:creationId xmlns:a16="http://schemas.microsoft.com/office/drawing/2014/main" id="{DEFCBCEB-6447-4787-4306-8A84455FB9A1}"/>
                </a:ext>
              </a:extLst>
            </p:cNvPr>
            <p:cNvSpPr/>
            <p:nvPr userDrawn="1"/>
          </p:nvSpPr>
          <p:spPr>
            <a:xfrm rot="-2236353">
              <a:off x="7495263" y="3778223"/>
              <a:ext cx="580574" cy="1302452"/>
            </a:xfrm>
            <a:prstGeom prst="roundRect">
              <a:avLst>
                <a:gd name="adj" fmla="val 50000"/>
              </a:avLst>
            </a:prstGeom>
            <a:solidFill>
              <a:schemeClr val="lt1"/>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lvl="0" indent="0" algn="ctr" rtl="0">
                <a:spcBef>
                  <a:spcPts val="0"/>
                </a:spcBef>
                <a:spcAft>
                  <a:spcPts val="0"/>
                </a:spcAft>
                <a:buNone/>
              </a:pPr>
              <a:endParaRPr/>
            </a:p>
          </p:txBody>
        </p:sp>
      </p:grpSp>
    </p:spTree>
    <p:extLst>
      <p:ext uri="{BB962C8B-B14F-4D97-AF65-F5344CB8AC3E}">
        <p14:creationId xmlns:p14="http://schemas.microsoft.com/office/powerpoint/2010/main" val="3706275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URD-Title and body" type="tx" preserve="1">
  <p:cSld name="1_WURD-Title and body recommendations">
    <p:spTree>
      <p:nvGrpSpPr>
        <p:cNvPr id="1" name="Shape 68"/>
        <p:cNvGrpSpPr/>
        <p:nvPr/>
      </p:nvGrpSpPr>
      <p:grpSpPr>
        <a:xfrm>
          <a:off x="0" y="0"/>
          <a:ext cx="0" cy="0"/>
          <a:chOff x="0" y="0"/>
          <a:chExt cx="0" cy="0"/>
        </a:xfrm>
      </p:grpSpPr>
      <p:sp>
        <p:nvSpPr>
          <p:cNvPr id="69" name="Google Shape;69;p10"/>
          <p:cNvSpPr txBox="1">
            <a:spLocks noGrp="1"/>
          </p:cNvSpPr>
          <p:nvPr>
            <p:ph type="body" idx="1"/>
          </p:nvPr>
        </p:nvSpPr>
        <p:spPr>
          <a:xfrm>
            <a:off x="311700" y="968025"/>
            <a:ext cx="8520600" cy="3600900"/>
          </a:xfrm>
          <a:prstGeom prst="rect">
            <a:avLst/>
          </a:prstGeom>
        </p:spPr>
        <p:txBody>
          <a:bodyPr spcFirstLastPara="1" wrap="square" lIns="91425" tIns="91425" rIns="91425" bIns="91425" anchor="t" anchorCtr="0">
            <a:normAutofit/>
          </a:bodyPr>
          <a:lstStyle>
            <a:lvl1pPr marL="457200" lvl="0"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1pPr>
            <a:lvl2pPr marL="914400" lvl="1"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2pPr>
            <a:lvl3pPr marL="1371600" lvl="2"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3pPr>
            <a:lvl4pPr marL="1828800" lvl="3"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4pPr>
            <a:lvl5pPr marL="2286000" lvl="4"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5pPr>
            <a:lvl6pPr marL="2743200" lvl="5"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6pPr>
            <a:lvl7pPr marL="3200400" lvl="6"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7pPr>
            <a:lvl8pPr marL="3657600" lvl="7"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8pPr>
            <a:lvl9pPr marL="4114800" lvl="8" indent="-33020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9pPr>
          </a:lstStyle>
          <a:p>
            <a:endParaRPr/>
          </a:p>
        </p:txBody>
      </p:sp>
      <p:sp>
        <p:nvSpPr>
          <p:cNvPr id="70" name="Google Shape;7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pic>
        <p:nvPicPr>
          <p:cNvPr id="71" name="Google Shape;71;p10"/>
          <p:cNvPicPr preferRelativeResize="0"/>
          <p:nvPr/>
        </p:nvPicPr>
        <p:blipFill>
          <a:blip r:embed="rId2">
            <a:alphaModFix/>
          </a:blip>
          <a:stretch>
            <a:fillRect/>
          </a:stretch>
        </p:blipFill>
        <p:spPr>
          <a:xfrm>
            <a:off x="7560150" y="4615400"/>
            <a:ext cx="1272150" cy="212025"/>
          </a:xfrm>
          <a:prstGeom prst="rect">
            <a:avLst/>
          </a:prstGeom>
          <a:noFill/>
          <a:ln>
            <a:noFill/>
          </a:ln>
        </p:spPr>
      </p:pic>
      <p:sp>
        <p:nvSpPr>
          <p:cNvPr id="72" name="Google Shape;72;p10"/>
          <p:cNvSpPr/>
          <p:nvPr/>
        </p:nvSpPr>
        <p:spPr>
          <a:xfrm>
            <a:off x="25" y="0"/>
            <a:ext cx="9144000" cy="743400"/>
          </a:xfrm>
          <a:prstGeom prst="rect">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73" name="Google Shape;73;p10"/>
          <p:cNvSpPr txBox="1">
            <a:spLocks noGrp="1"/>
          </p:cNvSpPr>
          <p:nvPr>
            <p:ph type="title"/>
          </p:nvPr>
        </p:nvSpPr>
        <p:spPr>
          <a:xfrm>
            <a:off x="311700" y="1707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1pPr>
            <a:lvl2pPr lvl="1">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2pPr>
            <a:lvl3pPr lvl="2">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3pPr>
            <a:lvl4pPr lvl="3">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4pPr>
            <a:lvl5pPr lvl="4">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5pPr>
            <a:lvl6pPr lvl="5">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6pPr>
            <a:lvl7pPr lvl="6">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7pPr>
            <a:lvl8pPr lvl="7">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8pPr>
            <a:lvl9pPr lvl="8">
              <a:spcBef>
                <a:spcPts val="0"/>
              </a:spcBef>
              <a:spcAft>
                <a:spcPts val="0"/>
              </a:spcAft>
              <a:buClr>
                <a:srgbClr val="350267"/>
              </a:buClr>
              <a:buSzPts val="2400"/>
              <a:buFont typeface="Lexend SemiBold"/>
              <a:buNone/>
              <a:defRPr sz="2400">
                <a:solidFill>
                  <a:srgbClr val="350267"/>
                </a:solidFill>
                <a:latin typeface="Lexend SemiBold"/>
                <a:ea typeface="Lexend SemiBold"/>
                <a:cs typeface="Lexend SemiBold"/>
                <a:sym typeface="Lexend SemiBold"/>
              </a:defRPr>
            </a:lvl9pPr>
          </a:lstStyle>
          <a:p>
            <a:endParaRPr/>
          </a:p>
        </p:txBody>
      </p:sp>
      <p:grpSp>
        <p:nvGrpSpPr>
          <p:cNvPr id="2" name="Google Shape;184;p22">
            <a:extLst>
              <a:ext uri="{FF2B5EF4-FFF2-40B4-BE49-F238E27FC236}">
                <a16:creationId xmlns:a16="http://schemas.microsoft.com/office/drawing/2014/main" id="{D3AB9596-22F6-8ACD-CA50-4D69BC496EFE}"/>
              </a:ext>
            </a:extLst>
          </p:cNvPr>
          <p:cNvGrpSpPr/>
          <p:nvPr userDrawn="1"/>
        </p:nvGrpSpPr>
        <p:grpSpPr>
          <a:xfrm>
            <a:off x="8233443" y="-129228"/>
            <a:ext cx="940378" cy="874272"/>
            <a:chOff x="8390672" y="126022"/>
            <a:chExt cx="665848" cy="619042"/>
          </a:xfrm>
        </p:grpSpPr>
        <p:grpSp>
          <p:nvGrpSpPr>
            <p:cNvPr id="3" name="Google Shape;185;p22">
              <a:extLst>
                <a:ext uri="{FF2B5EF4-FFF2-40B4-BE49-F238E27FC236}">
                  <a16:creationId xmlns:a16="http://schemas.microsoft.com/office/drawing/2014/main" id="{1CDAF874-82CC-5000-7A20-1400E4F65E50}"/>
                </a:ext>
              </a:extLst>
            </p:cNvPr>
            <p:cNvGrpSpPr/>
            <p:nvPr/>
          </p:nvGrpSpPr>
          <p:grpSpPr>
            <a:xfrm>
              <a:off x="8390672" y="126022"/>
              <a:ext cx="665848" cy="619042"/>
              <a:chOff x="8390672" y="126022"/>
              <a:chExt cx="665848" cy="619042"/>
            </a:xfrm>
          </p:grpSpPr>
          <p:pic>
            <p:nvPicPr>
              <p:cNvPr id="7" name="Google Shape;186;p22">
                <a:extLst>
                  <a:ext uri="{FF2B5EF4-FFF2-40B4-BE49-F238E27FC236}">
                    <a16:creationId xmlns:a16="http://schemas.microsoft.com/office/drawing/2014/main" id="{5763F010-F12D-A71E-830C-9DAF6AB75D74}"/>
                  </a:ext>
                </a:extLst>
              </p:cNvPr>
              <p:cNvPicPr preferRelativeResize="0"/>
              <p:nvPr/>
            </p:nvPicPr>
            <p:blipFill rotWithShape="1">
              <a:blip r:embed="rId3">
                <a:alphaModFix/>
              </a:blip>
              <a:srcRect/>
              <a:stretch/>
            </p:blipFill>
            <p:spPr>
              <a:xfrm flipH="1">
                <a:off x="8390672" y="126022"/>
                <a:ext cx="665848" cy="619042"/>
              </a:xfrm>
              <a:prstGeom prst="rect">
                <a:avLst/>
              </a:prstGeom>
              <a:noFill/>
              <a:ln>
                <a:noFill/>
              </a:ln>
            </p:spPr>
          </p:pic>
          <p:sp>
            <p:nvSpPr>
              <p:cNvPr id="8" name="Google Shape;187;p22">
                <a:extLst>
                  <a:ext uri="{FF2B5EF4-FFF2-40B4-BE49-F238E27FC236}">
                    <a16:creationId xmlns:a16="http://schemas.microsoft.com/office/drawing/2014/main" id="{E7623E7D-CD7B-A7B8-1654-873492552DD9}"/>
                  </a:ext>
                </a:extLst>
              </p:cNvPr>
              <p:cNvSpPr/>
              <p:nvPr/>
            </p:nvSpPr>
            <p:spPr>
              <a:xfrm>
                <a:off x="8510700" y="126025"/>
                <a:ext cx="402000" cy="402000"/>
              </a:xfrm>
              <a:prstGeom prst="ellipse">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grpSp>
          <p:nvGrpSpPr>
            <p:cNvPr id="4" name="Google Shape;188;p22">
              <a:extLst>
                <a:ext uri="{FF2B5EF4-FFF2-40B4-BE49-F238E27FC236}">
                  <a16:creationId xmlns:a16="http://schemas.microsoft.com/office/drawing/2014/main" id="{A60F359D-916B-C3CA-9537-2D3E1A107811}"/>
                </a:ext>
              </a:extLst>
            </p:cNvPr>
            <p:cNvGrpSpPr/>
            <p:nvPr/>
          </p:nvGrpSpPr>
          <p:grpSpPr>
            <a:xfrm>
              <a:off x="8561527" y="215918"/>
              <a:ext cx="324137" cy="324137"/>
              <a:chOff x="8311884" y="252364"/>
              <a:chExt cx="324169" cy="324169"/>
            </a:xfrm>
          </p:grpSpPr>
          <p:sp>
            <p:nvSpPr>
              <p:cNvPr id="5" name="Google Shape;189;p22">
                <a:extLst>
                  <a:ext uri="{FF2B5EF4-FFF2-40B4-BE49-F238E27FC236}">
                    <a16:creationId xmlns:a16="http://schemas.microsoft.com/office/drawing/2014/main" id="{15E8AEA5-54EE-4157-3BA7-0813C8A9C933}"/>
                  </a:ext>
                </a:extLst>
              </p:cNvPr>
              <p:cNvSpPr/>
              <p:nvPr/>
            </p:nvSpPr>
            <p:spPr>
              <a:xfrm>
                <a:off x="8354728" y="282410"/>
                <a:ext cx="233100" cy="233100"/>
              </a:xfrm>
              <a:prstGeom prst="ellipse">
                <a:avLst/>
              </a:prstGeom>
              <a:solidFill>
                <a:srgbClr val="E9E5F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 name="Google Shape;190;p22">
                <a:extLst>
                  <a:ext uri="{FF2B5EF4-FFF2-40B4-BE49-F238E27FC236}">
                    <a16:creationId xmlns:a16="http://schemas.microsoft.com/office/drawing/2014/main" id="{8B707475-8F2F-DC86-6B01-9941790A47CE}"/>
                  </a:ext>
                </a:extLst>
              </p:cNvPr>
              <p:cNvPicPr preferRelativeResize="0"/>
              <p:nvPr/>
            </p:nvPicPr>
            <p:blipFill>
              <a:blip r:embed="rId4">
                <a:alphaModFix/>
              </a:blip>
              <a:stretch>
                <a:fillRect/>
              </a:stretch>
            </p:blipFill>
            <p:spPr>
              <a:xfrm>
                <a:off x="8311884" y="252364"/>
                <a:ext cx="324169" cy="324169"/>
              </a:xfrm>
              <a:prstGeom prst="rect">
                <a:avLst/>
              </a:prstGeom>
              <a:noFill/>
              <a:ln>
                <a:noFill/>
              </a:ln>
            </p:spPr>
          </p:pic>
        </p:grpSp>
      </p:grpSp>
    </p:spTree>
    <p:extLst>
      <p:ext uri="{BB962C8B-B14F-4D97-AF65-F5344CB8AC3E}">
        <p14:creationId xmlns:p14="http://schemas.microsoft.com/office/powerpoint/2010/main" val="5686350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WURD- Title and Body- transparent header">
  <p:cSld name="TITLE_AND_BODY_1">
    <p:spTree>
      <p:nvGrpSpPr>
        <p:cNvPr id="1" name="Shape 80"/>
        <p:cNvGrpSpPr/>
        <p:nvPr/>
      </p:nvGrpSpPr>
      <p:grpSpPr>
        <a:xfrm>
          <a:off x="0" y="0"/>
          <a:ext cx="0" cy="0"/>
          <a:chOff x="0" y="0"/>
          <a:chExt cx="0" cy="0"/>
        </a:xfrm>
      </p:grpSpPr>
      <p:sp>
        <p:nvSpPr>
          <p:cNvPr id="81" name="Google Shape;8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82" name="Google Shape;82;p12"/>
          <p:cNvPicPr preferRelativeResize="0"/>
          <p:nvPr/>
        </p:nvPicPr>
        <p:blipFill>
          <a:blip r:embed="rId2">
            <a:alphaModFix/>
          </a:blip>
          <a:stretch>
            <a:fillRect/>
          </a:stretch>
        </p:blipFill>
        <p:spPr>
          <a:xfrm>
            <a:off x="7560150" y="4615400"/>
            <a:ext cx="1272150" cy="212025"/>
          </a:xfrm>
          <a:prstGeom prst="rect">
            <a:avLst/>
          </a:prstGeom>
          <a:noFill/>
          <a:ln>
            <a:noFill/>
          </a:ln>
        </p:spPr>
      </p:pic>
      <p:sp>
        <p:nvSpPr>
          <p:cNvPr id="83" name="Google Shape;83;p12"/>
          <p:cNvSpPr/>
          <p:nvPr/>
        </p:nvSpPr>
        <p:spPr>
          <a:xfrm>
            <a:off x="414700" y="743400"/>
            <a:ext cx="8231700" cy="54000"/>
          </a:xfrm>
          <a:prstGeom prst="rect">
            <a:avLst/>
          </a:prstGeom>
          <a:solidFill>
            <a:srgbClr val="600DB4"/>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4" name="Google Shape;84;p12"/>
          <p:cNvSpPr txBox="1">
            <a:spLocks noGrp="1"/>
          </p:cNvSpPr>
          <p:nvPr>
            <p:ph type="title"/>
          </p:nvPr>
        </p:nvSpPr>
        <p:spPr>
          <a:xfrm>
            <a:off x="311700" y="170700"/>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400"/>
              <a:buFont typeface="Lexend SemiBold"/>
              <a:buNone/>
              <a:defRPr sz="2400">
                <a:latin typeface="Lexend SemiBold"/>
                <a:ea typeface="Lexend SemiBold"/>
                <a:cs typeface="Lexend SemiBold"/>
                <a:sym typeface="Lexend SemiBold"/>
              </a:defRPr>
            </a:lvl1pPr>
            <a:lvl2pPr lvl="1" rtl="0">
              <a:spcBef>
                <a:spcPts val="0"/>
              </a:spcBef>
              <a:spcAft>
                <a:spcPts val="0"/>
              </a:spcAft>
              <a:buSzPts val="2400"/>
              <a:buFont typeface="Lexend SemiBold"/>
              <a:buNone/>
              <a:defRPr sz="2400">
                <a:latin typeface="Lexend SemiBold"/>
                <a:ea typeface="Lexend SemiBold"/>
                <a:cs typeface="Lexend SemiBold"/>
                <a:sym typeface="Lexend SemiBold"/>
              </a:defRPr>
            </a:lvl2pPr>
            <a:lvl3pPr lvl="2" rtl="0">
              <a:spcBef>
                <a:spcPts val="0"/>
              </a:spcBef>
              <a:spcAft>
                <a:spcPts val="0"/>
              </a:spcAft>
              <a:buSzPts val="2400"/>
              <a:buFont typeface="Lexend SemiBold"/>
              <a:buNone/>
              <a:defRPr sz="2400">
                <a:latin typeface="Lexend SemiBold"/>
                <a:ea typeface="Lexend SemiBold"/>
                <a:cs typeface="Lexend SemiBold"/>
                <a:sym typeface="Lexend SemiBold"/>
              </a:defRPr>
            </a:lvl3pPr>
            <a:lvl4pPr lvl="3" rtl="0">
              <a:spcBef>
                <a:spcPts val="0"/>
              </a:spcBef>
              <a:spcAft>
                <a:spcPts val="0"/>
              </a:spcAft>
              <a:buSzPts val="2400"/>
              <a:buFont typeface="Lexend SemiBold"/>
              <a:buNone/>
              <a:defRPr sz="2400">
                <a:latin typeface="Lexend SemiBold"/>
                <a:ea typeface="Lexend SemiBold"/>
                <a:cs typeface="Lexend SemiBold"/>
                <a:sym typeface="Lexend SemiBold"/>
              </a:defRPr>
            </a:lvl4pPr>
            <a:lvl5pPr lvl="4" rtl="0">
              <a:spcBef>
                <a:spcPts val="0"/>
              </a:spcBef>
              <a:spcAft>
                <a:spcPts val="0"/>
              </a:spcAft>
              <a:buSzPts val="2400"/>
              <a:buFont typeface="Lexend SemiBold"/>
              <a:buNone/>
              <a:defRPr sz="2400">
                <a:latin typeface="Lexend SemiBold"/>
                <a:ea typeface="Lexend SemiBold"/>
                <a:cs typeface="Lexend SemiBold"/>
                <a:sym typeface="Lexend SemiBold"/>
              </a:defRPr>
            </a:lvl5pPr>
            <a:lvl6pPr lvl="5" rtl="0">
              <a:spcBef>
                <a:spcPts val="0"/>
              </a:spcBef>
              <a:spcAft>
                <a:spcPts val="0"/>
              </a:spcAft>
              <a:buSzPts val="2400"/>
              <a:buFont typeface="Lexend SemiBold"/>
              <a:buNone/>
              <a:defRPr sz="2400">
                <a:latin typeface="Lexend SemiBold"/>
                <a:ea typeface="Lexend SemiBold"/>
                <a:cs typeface="Lexend SemiBold"/>
                <a:sym typeface="Lexend SemiBold"/>
              </a:defRPr>
            </a:lvl6pPr>
            <a:lvl7pPr lvl="6" rtl="0">
              <a:spcBef>
                <a:spcPts val="0"/>
              </a:spcBef>
              <a:spcAft>
                <a:spcPts val="0"/>
              </a:spcAft>
              <a:buSzPts val="2400"/>
              <a:buFont typeface="Lexend SemiBold"/>
              <a:buNone/>
              <a:defRPr sz="2400">
                <a:latin typeface="Lexend SemiBold"/>
                <a:ea typeface="Lexend SemiBold"/>
                <a:cs typeface="Lexend SemiBold"/>
                <a:sym typeface="Lexend SemiBold"/>
              </a:defRPr>
            </a:lvl7pPr>
            <a:lvl8pPr lvl="7" rtl="0">
              <a:spcBef>
                <a:spcPts val="0"/>
              </a:spcBef>
              <a:spcAft>
                <a:spcPts val="0"/>
              </a:spcAft>
              <a:buSzPts val="2400"/>
              <a:buFont typeface="Lexend SemiBold"/>
              <a:buNone/>
              <a:defRPr sz="2400">
                <a:latin typeface="Lexend SemiBold"/>
                <a:ea typeface="Lexend SemiBold"/>
                <a:cs typeface="Lexend SemiBold"/>
                <a:sym typeface="Lexend SemiBold"/>
              </a:defRPr>
            </a:lvl8pPr>
            <a:lvl9pPr lvl="8" rtl="0">
              <a:spcBef>
                <a:spcPts val="0"/>
              </a:spcBef>
              <a:spcAft>
                <a:spcPts val="0"/>
              </a:spcAft>
              <a:buSzPts val="2400"/>
              <a:buFont typeface="Lexend SemiBold"/>
              <a:buNone/>
              <a:defRPr sz="2400">
                <a:latin typeface="Lexend SemiBold"/>
                <a:ea typeface="Lexend SemiBold"/>
                <a:cs typeface="Lexend SemiBold"/>
                <a:sym typeface="Lexend SemiBold"/>
              </a:defRPr>
            </a:lvl9pPr>
          </a:lstStyle>
          <a:p>
            <a:endParaRPr/>
          </a:p>
        </p:txBody>
      </p:sp>
      <p:sp>
        <p:nvSpPr>
          <p:cNvPr id="85" name="Google Shape;85;p12"/>
          <p:cNvSpPr txBox="1">
            <a:spLocks noGrp="1"/>
          </p:cNvSpPr>
          <p:nvPr>
            <p:ph type="body" idx="1"/>
          </p:nvPr>
        </p:nvSpPr>
        <p:spPr>
          <a:xfrm>
            <a:off x="311700" y="968025"/>
            <a:ext cx="8520600" cy="36009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1pPr>
            <a:lvl2pPr marL="914400" lvl="1"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2pPr>
            <a:lvl3pPr marL="1371600" lvl="2"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3pPr>
            <a:lvl4pPr marL="1828800" lvl="3"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4pPr>
            <a:lvl5pPr marL="2286000" lvl="4"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5pPr>
            <a:lvl6pPr marL="2743200" lvl="5"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6pPr>
            <a:lvl7pPr marL="3200400" lvl="6"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7pPr>
            <a:lvl8pPr marL="3657600" lvl="7"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8pPr>
            <a:lvl9pPr marL="4114800" lvl="8" indent="-330200" rtl="0">
              <a:spcBef>
                <a:spcPts val="0"/>
              </a:spcBef>
              <a:spcAft>
                <a:spcPts val="0"/>
              </a:spcAft>
              <a:buClr>
                <a:schemeClr val="dk1"/>
              </a:buClr>
              <a:buSzPts val="1600"/>
              <a:buFont typeface="Heebo"/>
              <a:buChar char="■"/>
              <a:defRPr sz="1600">
                <a:solidFill>
                  <a:schemeClr val="dk1"/>
                </a:solidFill>
                <a:latin typeface="Heebo"/>
                <a:ea typeface="Heebo"/>
                <a:cs typeface="Heebo"/>
                <a:sym typeface="Heebo"/>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WURD- blank slide">
  <p:cSld name="TITLE_AND_BODY_2">
    <p:spTree>
      <p:nvGrpSpPr>
        <p:cNvPr id="1" name="Shape 86"/>
        <p:cNvGrpSpPr/>
        <p:nvPr/>
      </p:nvGrpSpPr>
      <p:grpSpPr>
        <a:xfrm>
          <a:off x="0" y="0"/>
          <a:ext cx="0" cy="0"/>
          <a:chOff x="0" y="0"/>
          <a:chExt cx="0" cy="0"/>
        </a:xfrm>
      </p:grpSpPr>
      <p:sp>
        <p:nvSpPr>
          <p:cNvPr id="87" name="Google Shape;87;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30200" rtl="0">
              <a:spcBef>
                <a:spcPts val="0"/>
              </a:spcBef>
              <a:spcAft>
                <a:spcPts val="0"/>
              </a:spcAft>
              <a:buSzPts val="1600"/>
              <a:buFont typeface="Heebo"/>
              <a:buChar char="●"/>
              <a:defRPr sz="1600">
                <a:latin typeface="Heebo"/>
                <a:ea typeface="Heebo"/>
                <a:cs typeface="Heebo"/>
                <a:sym typeface="Heebo"/>
              </a:defRPr>
            </a:lvl1pPr>
            <a:lvl2pPr marL="914400" lvl="1" indent="-330200" rtl="0">
              <a:spcBef>
                <a:spcPts val="0"/>
              </a:spcBef>
              <a:spcAft>
                <a:spcPts val="0"/>
              </a:spcAft>
              <a:buSzPts val="1600"/>
              <a:buFont typeface="Heebo"/>
              <a:buChar char="○"/>
              <a:defRPr sz="1600">
                <a:latin typeface="Heebo"/>
                <a:ea typeface="Heebo"/>
                <a:cs typeface="Heebo"/>
                <a:sym typeface="Heebo"/>
              </a:defRPr>
            </a:lvl2pPr>
            <a:lvl3pPr marL="1371600" lvl="2" indent="-330200" rtl="0">
              <a:spcBef>
                <a:spcPts val="0"/>
              </a:spcBef>
              <a:spcAft>
                <a:spcPts val="0"/>
              </a:spcAft>
              <a:buSzPts val="1600"/>
              <a:buFont typeface="Heebo"/>
              <a:buChar char="■"/>
              <a:defRPr sz="1600">
                <a:latin typeface="Heebo"/>
                <a:ea typeface="Heebo"/>
                <a:cs typeface="Heebo"/>
                <a:sym typeface="Heebo"/>
              </a:defRPr>
            </a:lvl3pPr>
            <a:lvl4pPr marL="1828800" lvl="3" indent="-330200" rtl="0">
              <a:spcBef>
                <a:spcPts val="0"/>
              </a:spcBef>
              <a:spcAft>
                <a:spcPts val="0"/>
              </a:spcAft>
              <a:buSzPts val="1600"/>
              <a:buFont typeface="Heebo"/>
              <a:buChar char="●"/>
              <a:defRPr sz="1600">
                <a:latin typeface="Heebo"/>
                <a:ea typeface="Heebo"/>
                <a:cs typeface="Heebo"/>
                <a:sym typeface="Heebo"/>
              </a:defRPr>
            </a:lvl4pPr>
            <a:lvl5pPr marL="2286000" lvl="4" indent="-330200" rtl="0">
              <a:spcBef>
                <a:spcPts val="0"/>
              </a:spcBef>
              <a:spcAft>
                <a:spcPts val="0"/>
              </a:spcAft>
              <a:buSzPts val="1600"/>
              <a:buFont typeface="Heebo"/>
              <a:buChar char="○"/>
              <a:defRPr sz="1600">
                <a:latin typeface="Heebo"/>
                <a:ea typeface="Heebo"/>
                <a:cs typeface="Heebo"/>
                <a:sym typeface="Heebo"/>
              </a:defRPr>
            </a:lvl5pPr>
            <a:lvl6pPr marL="2743200" lvl="5" indent="-330200" rtl="0">
              <a:spcBef>
                <a:spcPts val="0"/>
              </a:spcBef>
              <a:spcAft>
                <a:spcPts val="0"/>
              </a:spcAft>
              <a:buSzPts val="1600"/>
              <a:buFont typeface="Heebo"/>
              <a:buChar char="■"/>
              <a:defRPr sz="1600">
                <a:latin typeface="Heebo"/>
                <a:ea typeface="Heebo"/>
                <a:cs typeface="Heebo"/>
                <a:sym typeface="Heebo"/>
              </a:defRPr>
            </a:lvl6pPr>
            <a:lvl7pPr marL="3200400" lvl="6" indent="-330200" rtl="0">
              <a:spcBef>
                <a:spcPts val="0"/>
              </a:spcBef>
              <a:spcAft>
                <a:spcPts val="0"/>
              </a:spcAft>
              <a:buSzPts val="1600"/>
              <a:buFont typeface="Heebo"/>
              <a:buChar char="●"/>
              <a:defRPr sz="1600">
                <a:latin typeface="Heebo"/>
                <a:ea typeface="Heebo"/>
                <a:cs typeface="Heebo"/>
                <a:sym typeface="Heebo"/>
              </a:defRPr>
            </a:lvl7pPr>
            <a:lvl8pPr marL="3657600" lvl="7" indent="-330200" rtl="0">
              <a:spcBef>
                <a:spcPts val="0"/>
              </a:spcBef>
              <a:spcAft>
                <a:spcPts val="0"/>
              </a:spcAft>
              <a:buSzPts val="1600"/>
              <a:buFont typeface="Heebo"/>
              <a:buChar char="○"/>
              <a:defRPr sz="1600">
                <a:latin typeface="Heebo"/>
                <a:ea typeface="Heebo"/>
                <a:cs typeface="Heebo"/>
                <a:sym typeface="Heebo"/>
              </a:defRPr>
            </a:lvl8pPr>
            <a:lvl9pPr marL="4114800" lvl="8" indent="-330200" rtl="0">
              <a:spcBef>
                <a:spcPts val="0"/>
              </a:spcBef>
              <a:spcAft>
                <a:spcPts val="0"/>
              </a:spcAft>
              <a:buSzPts val="1600"/>
              <a:buFont typeface="Heebo"/>
              <a:buChar char="■"/>
              <a:defRPr sz="1600">
                <a:latin typeface="Heebo"/>
                <a:ea typeface="Heebo"/>
                <a:cs typeface="Heebo"/>
                <a:sym typeface="Heebo"/>
              </a:defRPr>
            </a:lvl9pPr>
          </a:lstStyle>
          <a:p>
            <a:endParaRPr/>
          </a:p>
        </p:txBody>
      </p:sp>
      <p:sp>
        <p:nvSpPr>
          <p:cNvPr id="88" name="Google Shape;88;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n"/>
              <a:t>‹#›</a:t>
            </a:fld>
            <a:endParaRPr/>
          </a:p>
        </p:txBody>
      </p:sp>
      <p:pic>
        <p:nvPicPr>
          <p:cNvPr id="89" name="Google Shape;89;p13"/>
          <p:cNvPicPr preferRelativeResize="0"/>
          <p:nvPr/>
        </p:nvPicPr>
        <p:blipFill>
          <a:blip r:embed="rId2">
            <a:alphaModFix/>
          </a:blip>
          <a:stretch>
            <a:fillRect/>
          </a:stretch>
        </p:blipFill>
        <p:spPr>
          <a:xfrm>
            <a:off x="7560150" y="4615400"/>
            <a:ext cx="1272150" cy="21202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90"/>
        <p:cNvGrpSpPr/>
        <p:nvPr/>
      </p:nvGrpSpPr>
      <p:grpSpPr>
        <a:xfrm>
          <a:off x="0" y="0"/>
          <a:ext cx="0" cy="0"/>
          <a:chOff x="0" y="0"/>
          <a:chExt cx="0" cy="0"/>
        </a:xfrm>
      </p:grpSpPr>
      <p:sp>
        <p:nvSpPr>
          <p:cNvPr id="91" name="Google Shape;91;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2" name="Google Shape;92;p1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3" name="Google Shape;93;p1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94" name="Google Shape;94;p1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5"/>
        <p:cNvGrpSpPr/>
        <p:nvPr/>
      </p:nvGrpSpPr>
      <p:grpSpPr>
        <a:xfrm>
          <a:off x="0" y="0"/>
          <a:ext cx="0" cy="0"/>
          <a:chOff x="0" y="0"/>
          <a:chExt cx="0" cy="0"/>
        </a:xfrm>
      </p:grpSpPr>
      <p:sp>
        <p:nvSpPr>
          <p:cNvPr id="96" name="Google Shape;96;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7" name="Google Shape;97;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98"/>
        <p:cNvGrpSpPr/>
        <p:nvPr/>
      </p:nvGrpSpPr>
      <p:grpSpPr>
        <a:xfrm>
          <a:off x="0" y="0"/>
          <a:ext cx="0" cy="0"/>
          <a:chOff x="0" y="0"/>
          <a:chExt cx="0" cy="0"/>
        </a:xfrm>
      </p:grpSpPr>
      <p:sp>
        <p:nvSpPr>
          <p:cNvPr id="99" name="Google Shape;99;p1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100" name="Google Shape;100;p1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101" name="Google Shape;101;p1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02"/>
        <p:cNvGrpSpPr/>
        <p:nvPr/>
      </p:nvGrpSpPr>
      <p:grpSpPr>
        <a:xfrm>
          <a:off x="0" y="0"/>
          <a:ext cx="0" cy="0"/>
          <a:chOff x="0" y="0"/>
          <a:chExt cx="0" cy="0"/>
        </a:xfrm>
      </p:grpSpPr>
      <p:sp>
        <p:nvSpPr>
          <p:cNvPr id="103" name="Google Shape;103;p1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104" name="Google Shape;104;p1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05"/>
        <p:cNvGrpSpPr/>
        <p:nvPr/>
      </p:nvGrpSpPr>
      <p:grpSpPr>
        <a:xfrm>
          <a:off x="0" y="0"/>
          <a:ext cx="0" cy="0"/>
          <a:chOff x="0" y="0"/>
          <a:chExt cx="0" cy="0"/>
        </a:xfrm>
      </p:grpSpPr>
      <p:sp>
        <p:nvSpPr>
          <p:cNvPr id="106" name="Google Shape;106;p18"/>
          <p:cNvSpPr/>
          <p:nvPr/>
        </p:nvSpPr>
        <p:spPr>
          <a:xfrm>
            <a:off x="4572000" y="0"/>
            <a:ext cx="4572000" cy="5143500"/>
          </a:xfrm>
          <a:prstGeom prst="rect">
            <a:avLst/>
          </a:prstGeom>
          <a:solidFill>
            <a:srgbClr val="E9E5F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7" name="Google Shape;107;p18"/>
          <p:cNvPicPr preferRelativeResize="0"/>
          <p:nvPr/>
        </p:nvPicPr>
        <p:blipFill>
          <a:blip r:embed="rId2">
            <a:alphaModFix/>
          </a:blip>
          <a:stretch>
            <a:fillRect/>
          </a:stretch>
        </p:blipFill>
        <p:spPr>
          <a:xfrm>
            <a:off x="4969625" y="1359975"/>
            <a:ext cx="3855651" cy="2423550"/>
          </a:xfrm>
          <a:prstGeom prst="rect">
            <a:avLst/>
          </a:prstGeom>
          <a:noFill/>
          <a:ln>
            <a:noFill/>
          </a:ln>
        </p:spPr>
      </p:pic>
      <p:sp>
        <p:nvSpPr>
          <p:cNvPr id="108" name="Google Shape;108;p1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1pPr>
            <a:lvl2pPr lvl="1">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2pPr>
            <a:lvl3pPr lvl="2">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3pPr>
            <a:lvl4pPr lvl="3">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4pPr>
            <a:lvl5pPr lvl="4">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5pPr>
            <a:lvl6pPr lvl="5">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6pPr>
            <a:lvl7pPr lvl="6">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7pPr>
            <a:lvl8pPr lvl="7">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8pPr>
            <a:lvl9pPr lvl="8">
              <a:spcBef>
                <a:spcPts val="0"/>
              </a:spcBef>
              <a:spcAft>
                <a:spcPts val="0"/>
              </a:spcAft>
              <a:buClr>
                <a:srgbClr val="350267"/>
              </a:buClr>
              <a:buSzPts val="3200"/>
              <a:buFont typeface="Lexend ExtraBold"/>
              <a:buNone/>
              <a:defRPr sz="3200">
                <a:solidFill>
                  <a:srgbClr val="350267"/>
                </a:solidFill>
                <a:latin typeface="Lexend ExtraBold"/>
                <a:ea typeface="Lexend ExtraBold"/>
                <a:cs typeface="Lexend ExtraBold"/>
                <a:sym typeface="Lexend ExtraBold"/>
              </a:defRPr>
            </a:lvl9pPr>
          </a:lstStyle>
          <a:p>
            <a:endParaRPr/>
          </a:p>
        </p:txBody>
      </p:sp>
      <p:sp>
        <p:nvSpPr>
          <p:cNvPr id="109" name="Google Shape;109;p18"/>
          <p:cNvSpPr txBox="1">
            <a:spLocks noGrp="1"/>
          </p:cNvSpPr>
          <p:nvPr>
            <p:ph type="subTitle" idx="1"/>
          </p:nvPr>
        </p:nvSpPr>
        <p:spPr>
          <a:xfrm>
            <a:off x="265500" y="2803075"/>
            <a:ext cx="4045200" cy="855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1pPr>
            <a:lvl2pPr lvl="1">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2pPr>
            <a:lvl3pPr lvl="2">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3pPr>
            <a:lvl4pPr lvl="3">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4pPr>
            <a:lvl5pPr lvl="4">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5pPr>
            <a:lvl6pPr lvl="5">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6pPr>
            <a:lvl7pPr lvl="6">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7pPr>
            <a:lvl8pPr lvl="7">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8pPr>
            <a:lvl9pPr lvl="8">
              <a:lnSpc>
                <a:spcPct val="100000"/>
              </a:lnSpc>
              <a:spcBef>
                <a:spcPts val="0"/>
              </a:spcBef>
              <a:spcAft>
                <a:spcPts val="0"/>
              </a:spcAft>
              <a:buSzPts val="2000"/>
              <a:buFont typeface="Lexend SemiBold"/>
              <a:buNone/>
              <a:defRPr sz="2000">
                <a:latin typeface="Lexend SemiBold"/>
                <a:ea typeface="Lexend SemiBold"/>
                <a:cs typeface="Lexend SemiBold"/>
                <a:sym typeface="Lexend SemiBold"/>
              </a:defRPr>
            </a:lvl9pPr>
          </a:lstStyle>
          <a:p>
            <a:endParaRPr/>
          </a:p>
        </p:txBody>
      </p:sp>
      <p:sp>
        <p:nvSpPr>
          <p:cNvPr id="110" name="Google Shape;110;p1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30200">
              <a:spcBef>
                <a:spcPts val="0"/>
              </a:spcBef>
              <a:spcAft>
                <a:spcPts val="0"/>
              </a:spcAft>
              <a:buSzPts val="1600"/>
              <a:buFont typeface="Heebo"/>
              <a:buChar char="●"/>
              <a:defRPr sz="1600">
                <a:latin typeface="Heebo"/>
                <a:ea typeface="Heebo"/>
                <a:cs typeface="Heebo"/>
                <a:sym typeface="Heebo"/>
              </a:defRPr>
            </a:lvl1pPr>
            <a:lvl2pPr marL="914400" lvl="1" indent="-330200">
              <a:spcBef>
                <a:spcPts val="0"/>
              </a:spcBef>
              <a:spcAft>
                <a:spcPts val="0"/>
              </a:spcAft>
              <a:buSzPts val="1600"/>
              <a:buFont typeface="Heebo"/>
              <a:buChar char="○"/>
              <a:defRPr sz="1600">
                <a:latin typeface="Heebo"/>
                <a:ea typeface="Heebo"/>
                <a:cs typeface="Heebo"/>
                <a:sym typeface="Heebo"/>
              </a:defRPr>
            </a:lvl2pPr>
            <a:lvl3pPr marL="1371600" lvl="2" indent="-330200">
              <a:spcBef>
                <a:spcPts val="0"/>
              </a:spcBef>
              <a:spcAft>
                <a:spcPts val="0"/>
              </a:spcAft>
              <a:buSzPts val="1600"/>
              <a:buFont typeface="Heebo"/>
              <a:buChar char="■"/>
              <a:defRPr sz="1600">
                <a:latin typeface="Heebo"/>
                <a:ea typeface="Heebo"/>
                <a:cs typeface="Heebo"/>
                <a:sym typeface="Heebo"/>
              </a:defRPr>
            </a:lvl3pPr>
            <a:lvl4pPr marL="1828800" lvl="3" indent="-330200">
              <a:spcBef>
                <a:spcPts val="0"/>
              </a:spcBef>
              <a:spcAft>
                <a:spcPts val="0"/>
              </a:spcAft>
              <a:buSzPts val="1600"/>
              <a:buFont typeface="Heebo"/>
              <a:buChar char="●"/>
              <a:defRPr sz="1600">
                <a:latin typeface="Heebo"/>
                <a:ea typeface="Heebo"/>
                <a:cs typeface="Heebo"/>
                <a:sym typeface="Heebo"/>
              </a:defRPr>
            </a:lvl4pPr>
            <a:lvl5pPr marL="2286000" lvl="4" indent="-330200">
              <a:spcBef>
                <a:spcPts val="0"/>
              </a:spcBef>
              <a:spcAft>
                <a:spcPts val="0"/>
              </a:spcAft>
              <a:buSzPts val="1600"/>
              <a:buFont typeface="Heebo"/>
              <a:buChar char="○"/>
              <a:defRPr sz="1600">
                <a:latin typeface="Heebo"/>
                <a:ea typeface="Heebo"/>
                <a:cs typeface="Heebo"/>
                <a:sym typeface="Heebo"/>
              </a:defRPr>
            </a:lvl5pPr>
            <a:lvl6pPr marL="2743200" lvl="5" indent="-330200">
              <a:spcBef>
                <a:spcPts val="0"/>
              </a:spcBef>
              <a:spcAft>
                <a:spcPts val="0"/>
              </a:spcAft>
              <a:buSzPts val="1600"/>
              <a:buFont typeface="Heebo"/>
              <a:buChar char="■"/>
              <a:defRPr sz="1600">
                <a:latin typeface="Heebo"/>
                <a:ea typeface="Heebo"/>
                <a:cs typeface="Heebo"/>
                <a:sym typeface="Heebo"/>
              </a:defRPr>
            </a:lvl6pPr>
            <a:lvl7pPr marL="3200400" lvl="6" indent="-330200">
              <a:spcBef>
                <a:spcPts val="0"/>
              </a:spcBef>
              <a:spcAft>
                <a:spcPts val="0"/>
              </a:spcAft>
              <a:buSzPts val="1600"/>
              <a:buFont typeface="Heebo"/>
              <a:buChar char="●"/>
              <a:defRPr sz="1600">
                <a:latin typeface="Heebo"/>
                <a:ea typeface="Heebo"/>
                <a:cs typeface="Heebo"/>
                <a:sym typeface="Heebo"/>
              </a:defRPr>
            </a:lvl7pPr>
            <a:lvl8pPr marL="3657600" lvl="7" indent="-330200">
              <a:spcBef>
                <a:spcPts val="0"/>
              </a:spcBef>
              <a:spcAft>
                <a:spcPts val="0"/>
              </a:spcAft>
              <a:buSzPts val="1600"/>
              <a:buFont typeface="Heebo"/>
              <a:buChar char="○"/>
              <a:defRPr sz="1600">
                <a:latin typeface="Heebo"/>
                <a:ea typeface="Heebo"/>
                <a:cs typeface="Heebo"/>
                <a:sym typeface="Heebo"/>
              </a:defRPr>
            </a:lvl8pPr>
            <a:lvl9pPr marL="4114800" lvl="8" indent="-330200">
              <a:spcBef>
                <a:spcPts val="0"/>
              </a:spcBef>
              <a:spcAft>
                <a:spcPts val="0"/>
              </a:spcAft>
              <a:buSzPts val="1600"/>
              <a:buFont typeface="Heebo"/>
              <a:buChar char="■"/>
              <a:defRPr sz="1600">
                <a:latin typeface="Heebo"/>
                <a:ea typeface="Heebo"/>
                <a:cs typeface="Heebo"/>
                <a:sym typeface="Heebo"/>
              </a:defRPr>
            </a:lvl9pPr>
          </a:lstStyle>
          <a:p>
            <a:endParaRPr/>
          </a:p>
        </p:txBody>
      </p:sp>
      <p:sp>
        <p:nvSpPr>
          <p:cNvPr id="111" name="Google Shape;111;p1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12"/>
        <p:cNvGrpSpPr/>
        <p:nvPr/>
      </p:nvGrpSpPr>
      <p:grpSpPr>
        <a:xfrm>
          <a:off x="0" y="0"/>
          <a:ext cx="0" cy="0"/>
          <a:chOff x="0" y="0"/>
          <a:chExt cx="0" cy="0"/>
        </a:xfrm>
      </p:grpSpPr>
      <p:sp>
        <p:nvSpPr>
          <p:cNvPr id="113" name="Google Shape;113;p1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114" name="Google Shape;114;p1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15"/>
        <p:cNvGrpSpPr/>
        <p:nvPr/>
      </p:nvGrpSpPr>
      <p:grpSpPr>
        <a:xfrm>
          <a:off x="0" y="0"/>
          <a:ext cx="0" cy="0"/>
          <a:chOff x="0" y="0"/>
          <a:chExt cx="0" cy="0"/>
        </a:xfrm>
      </p:grpSpPr>
      <p:sp>
        <p:nvSpPr>
          <p:cNvPr id="116" name="Google Shape;116;p2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117" name="Google Shape;117;p2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118" name="Google Shape;118;p2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9"/>
        <p:cNvGrpSpPr/>
        <p:nvPr/>
      </p:nvGrpSpPr>
      <p:grpSpPr>
        <a:xfrm>
          <a:off x="0" y="0"/>
          <a:ext cx="0" cy="0"/>
          <a:chOff x="0" y="0"/>
          <a:chExt cx="0" cy="0"/>
        </a:xfrm>
      </p:grpSpPr>
      <p:sp>
        <p:nvSpPr>
          <p:cNvPr id="120" name="Google Shape;120;p2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71" r:id="rId9"/>
    <p:sldLayoutId id="2147483670" r:id="rId10"/>
    <p:sldLayoutId id="2147483669"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7.png"/><Relationship Id="rId3" Type="http://schemas.microsoft.com/office/2018/10/relationships/comments" Target="../comments/modernComment_114_209AA912.xml"/><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3" Type="http://schemas.microsoft.com/office/2018/10/relationships/comments" Target="../comments/modernComment_11A_A2362F2C.xml"/><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hyperlink" Target="https://www.figma.com/board/fAlE5xUy2HPlBlQYcWpfsE/The-journey-through-IRCC-s-accounts?node-id=0-1&amp;t=Jt4iKQ3az9Jxy0jV-1" TargetMode="External"/><Relationship Id="rId5" Type="http://schemas.openxmlformats.org/officeDocument/2006/relationships/image" Target="../media/image19.png"/><Relationship Id="rId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microsoft.com/office/2018/10/relationships/comments" Target="../comments/modernComment_112_C054FB2A.xml"/><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microsoft.com/office/2018/10/relationships/comments" Target="../comments/modernComment_120_931D3035.xml"/><Relationship Id="rId2" Type="http://schemas.openxmlformats.org/officeDocument/2006/relationships/notesSlide" Target="../notesSlides/notesSlide5.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6.xml.rels><?xml version="1.0" encoding="UTF-8" standalone="yes"?>
<Relationships xmlns="http://schemas.openxmlformats.org/package/2006/relationships"><Relationship Id="rId3" Type="http://schemas.microsoft.com/office/2018/10/relationships/comments" Target="../comments/modernComment_11B_1F68BE8B.xml"/><Relationship Id="rId2" Type="http://schemas.openxmlformats.org/officeDocument/2006/relationships/notesSlide" Target="../notesSlides/notesSlide6.xml"/><Relationship Id="rId1" Type="http://schemas.openxmlformats.org/officeDocument/2006/relationships/slideLayout" Target="../slideLayouts/slideLayout9.xml"/><Relationship Id="rId5" Type="http://schemas.openxmlformats.org/officeDocument/2006/relationships/image" Target="../media/image23.png"/><Relationship Id="rId4" Type="http://schemas.openxmlformats.org/officeDocument/2006/relationships/image" Target="../media/image22.png"/></Relationships>
</file>

<file path=ppt/slides/_rels/slide7.xml.rels><?xml version="1.0" encoding="UTF-8" standalone="yes"?>
<Relationships xmlns="http://schemas.openxmlformats.org/package/2006/relationships"><Relationship Id="rId3" Type="http://schemas.microsoft.com/office/2018/10/relationships/comments" Target="../comments/modernComment_113_A3404FD4.xml"/><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9.xml"/><Relationship Id="rId5" Type="http://schemas.openxmlformats.org/officeDocument/2006/relationships/image" Target="../media/image28.png"/><Relationship Id="rId4" Type="http://schemas.openxmlformats.org/officeDocument/2006/relationships/image" Target="../media/image27.pn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9.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25_F2EFC28.xml"/><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microsoft.com/office/2018/10/relationships/comments" Target="../comments/modernComment_123_C56BA657.xml"/><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39.png"/><Relationship Id="rId5" Type="http://schemas.openxmlformats.org/officeDocument/2006/relationships/hyperlink" Target="https://www.canada.ca/en/immigration-refugees-citizenship/services/work-canada/special-instructions/camp-counsellor/apply.html" TargetMode="External"/><Relationship Id="rId4" Type="http://schemas.openxmlformats.org/officeDocument/2006/relationships/image" Target="../media/image38.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ctrTitle"/>
          </p:nvPr>
        </p:nvSpPr>
        <p:spPr>
          <a:prstGeom prst="rect">
            <a:avLst/>
          </a:prstGeom>
        </p:spPr>
        <p:txBody>
          <a:bodyPr spcFirstLastPara="1" wrap="square" lIns="91425" tIns="91425" rIns="91425" bIns="91425" anchor="b" anchorCtr="0">
            <a:normAutofit/>
          </a:bodyPr>
          <a:lstStyle/>
          <a:p>
            <a:r>
              <a:rPr lang="en"/>
              <a:t>IRCC’s account and secure space ecosystem</a:t>
            </a:r>
          </a:p>
        </p:txBody>
      </p:sp>
      <p:sp>
        <p:nvSpPr>
          <p:cNvPr id="126" name="Google Shape;126;p22"/>
          <p:cNvSpPr txBox="1">
            <a:spLocks noGrp="1"/>
          </p:cNvSpPr>
          <p:nvPr>
            <p:ph type="subTitle" idx="1"/>
          </p:nvPr>
        </p:nvSpPr>
        <p:spPr>
          <a:prstGeom prst="rect">
            <a:avLst/>
          </a:prstGeom>
        </p:spPr>
        <p:txBody>
          <a:bodyPr spcFirstLastPara="1" wrap="square" lIns="91425" tIns="91425" rIns="91425" bIns="91425" anchor="t" anchorCtr="0">
            <a:normAutofit/>
          </a:bodyPr>
          <a:lstStyle/>
          <a:p>
            <a:pPr marL="0" indent="0"/>
            <a:r>
              <a:rPr lang="en"/>
              <a:t>A labyrinth for users to navigate</a:t>
            </a:r>
          </a:p>
        </p:txBody>
      </p:sp>
      <p:sp>
        <p:nvSpPr>
          <p:cNvPr id="127" name="Google Shape;127;p22"/>
          <p:cNvSpPr txBox="1">
            <a:spLocks noGrp="1"/>
          </p:cNvSpPr>
          <p:nvPr>
            <p:ph type="subTitle" idx="2"/>
          </p:nvPr>
        </p:nvSpPr>
        <p:spPr>
          <a:prstGeom prst="rect">
            <a:avLst/>
          </a:prstGeom>
        </p:spPr>
        <p:txBody>
          <a:bodyPr spcFirstLastPara="1" wrap="square" lIns="91425" tIns="91425" rIns="91425" bIns="91425" anchor="t" anchorCtr="0">
            <a:normAutofit/>
          </a:bodyPr>
          <a:lstStyle/>
          <a:p>
            <a:pPr marL="0" indent="0"/>
            <a:r>
              <a:rPr lang="en"/>
              <a:t>March 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102F038E-C7DD-99A4-C6FE-F7E767DFAAD7}"/>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F07F0BE2-8065-2500-E287-A1BBF24BAF3D}"/>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The scale of the problem</a:t>
            </a:r>
          </a:p>
        </p:txBody>
      </p:sp>
      <p:sp>
        <p:nvSpPr>
          <p:cNvPr id="2" name="Text Placeholder 2">
            <a:extLst>
              <a:ext uri="{FF2B5EF4-FFF2-40B4-BE49-F238E27FC236}">
                <a16:creationId xmlns:a16="http://schemas.microsoft.com/office/drawing/2014/main" id="{B0E92470-5F98-7EE0-C0E5-47B696A26040}"/>
              </a:ext>
            </a:extLst>
          </p:cNvPr>
          <p:cNvSpPr>
            <a:spLocks noGrp="1"/>
          </p:cNvSpPr>
          <p:nvPr>
            <p:ph type="body" idx="1"/>
          </p:nvPr>
        </p:nvSpPr>
        <p:spPr>
          <a:xfrm>
            <a:off x="429900" y="1126915"/>
            <a:ext cx="1514100" cy="1231656"/>
          </a:xfrm>
          <a:ln w="57150">
            <a:solidFill>
              <a:srgbClr val="600DB4"/>
            </a:solidFill>
          </a:ln>
        </p:spPr>
        <p:txBody>
          <a:bodyPr>
            <a:noAutofit/>
          </a:bodyPr>
          <a:lstStyle/>
          <a:p>
            <a:pPr marL="0" indent="0">
              <a:buNone/>
            </a:pPr>
            <a:endParaRPr lang="en-US" sz="1400"/>
          </a:p>
          <a:p>
            <a:pPr marL="0" indent="0">
              <a:lnSpc>
                <a:spcPct val="114000"/>
              </a:lnSpc>
              <a:buNone/>
            </a:pPr>
            <a:r>
              <a:rPr lang="en-US" sz="3600"/>
              <a:t>11 </a:t>
            </a:r>
          </a:p>
          <a:p>
            <a:pPr marL="0" indent="0">
              <a:lnSpc>
                <a:spcPct val="114000"/>
              </a:lnSpc>
              <a:buNone/>
            </a:pPr>
            <a:r>
              <a:rPr lang="en-US" sz="1200"/>
              <a:t>user accounts</a:t>
            </a:r>
          </a:p>
        </p:txBody>
      </p:sp>
      <p:grpSp>
        <p:nvGrpSpPr>
          <p:cNvPr id="31" name="Group 30">
            <a:extLst>
              <a:ext uri="{FF2B5EF4-FFF2-40B4-BE49-F238E27FC236}">
                <a16:creationId xmlns:a16="http://schemas.microsoft.com/office/drawing/2014/main" id="{AF6C5B41-FEDF-4437-DA4F-1D5C8B5AAE8B}"/>
              </a:ext>
            </a:extLst>
          </p:cNvPr>
          <p:cNvGrpSpPr/>
          <p:nvPr/>
        </p:nvGrpSpPr>
        <p:grpSpPr>
          <a:xfrm>
            <a:off x="584288" y="1126915"/>
            <a:ext cx="3100012" cy="1231656"/>
            <a:chOff x="569888" y="984800"/>
            <a:chExt cx="3100012" cy="1231656"/>
          </a:xfrm>
        </p:grpSpPr>
        <p:pic>
          <p:nvPicPr>
            <p:cNvPr id="18" name="Picture 17">
              <a:extLst>
                <a:ext uri="{FF2B5EF4-FFF2-40B4-BE49-F238E27FC236}">
                  <a16:creationId xmlns:a16="http://schemas.microsoft.com/office/drawing/2014/main" id="{C771233F-706F-A729-EAB7-D8E9E6A61F7E}"/>
                </a:ext>
              </a:extLst>
            </p:cNvPr>
            <p:cNvPicPr>
              <a:picLocks noChangeAspect="1"/>
            </p:cNvPicPr>
            <p:nvPr/>
          </p:nvPicPr>
          <p:blipFill>
            <a:blip r:embed="rId4">
              <a:grayscl/>
            </a:blip>
            <a:stretch>
              <a:fillRect/>
            </a:stretch>
          </p:blipFill>
          <p:spPr>
            <a:xfrm>
              <a:off x="569888" y="1088703"/>
              <a:ext cx="342412" cy="249580"/>
            </a:xfrm>
            <a:prstGeom prst="rect">
              <a:avLst/>
            </a:prstGeom>
            <a:ln>
              <a:solidFill>
                <a:srgbClr val="7030A0"/>
              </a:solidFill>
            </a:ln>
          </p:spPr>
        </p:pic>
        <p:grpSp>
          <p:nvGrpSpPr>
            <p:cNvPr id="30" name="Group 29">
              <a:extLst>
                <a:ext uri="{FF2B5EF4-FFF2-40B4-BE49-F238E27FC236}">
                  <a16:creationId xmlns:a16="http://schemas.microsoft.com/office/drawing/2014/main" id="{4A1673EF-C6CE-B9ED-C152-78CC2D24546F}"/>
                </a:ext>
              </a:extLst>
            </p:cNvPr>
            <p:cNvGrpSpPr/>
            <p:nvPr/>
          </p:nvGrpSpPr>
          <p:grpSpPr>
            <a:xfrm>
              <a:off x="2155800" y="984800"/>
              <a:ext cx="1514100" cy="1231656"/>
              <a:chOff x="2155800" y="984800"/>
              <a:chExt cx="1514100" cy="1231656"/>
            </a:xfrm>
          </p:grpSpPr>
          <p:sp>
            <p:nvSpPr>
              <p:cNvPr id="12" name="Text Placeholder 2">
                <a:extLst>
                  <a:ext uri="{FF2B5EF4-FFF2-40B4-BE49-F238E27FC236}">
                    <a16:creationId xmlns:a16="http://schemas.microsoft.com/office/drawing/2014/main" id="{1492ED3C-A286-E6E8-4491-7DAC6D580C16}"/>
                  </a:ext>
                </a:extLst>
              </p:cNvPr>
              <p:cNvSpPr txBox="1">
                <a:spLocks/>
              </p:cNvSpPr>
              <p:nvPr/>
            </p:nvSpPr>
            <p:spPr>
              <a:xfrm>
                <a:off x="2155800" y="984800"/>
                <a:ext cx="1514100" cy="1231656"/>
              </a:xfrm>
              <a:prstGeom prst="rect">
                <a:avLst/>
              </a:prstGeom>
              <a:noFill/>
              <a:ln w="57150">
                <a:solidFill>
                  <a:srgbClr val="FF3DA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0" indent="0">
                  <a:buFont typeface="Heebo"/>
                  <a:buNone/>
                </a:pPr>
                <a:endParaRPr lang="en-US" sz="1400"/>
              </a:p>
              <a:p>
                <a:pPr marL="0" indent="0">
                  <a:lnSpc>
                    <a:spcPct val="114000"/>
                  </a:lnSpc>
                  <a:buNone/>
                </a:pPr>
                <a:r>
                  <a:rPr lang="en-US" sz="3600"/>
                  <a:t>3 </a:t>
                </a:r>
              </a:p>
              <a:p>
                <a:pPr marL="0" indent="0">
                  <a:buFont typeface="Heebo"/>
                  <a:buNone/>
                </a:pPr>
                <a:r>
                  <a:rPr lang="en-US" sz="1200"/>
                  <a:t>rep accounts</a:t>
                </a:r>
              </a:p>
            </p:txBody>
          </p:sp>
          <p:pic>
            <p:nvPicPr>
              <p:cNvPr id="20" name="Picture 19">
                <a:extLst>
                  <a:ext uri="{FF2B5EF4-FFF2-40B4-BE49-F238E27FC236}">
                    <a16:creationId xmlns:a16="http://schemas.microsoft.com/office/drawing/2014/main" id="{D2090E97-646B-4926-7C2E-7431C16C9EBA}"/>
                  </a:ext>
                </a:extLst>
              </p:cNvPr>
              <p:cNvPicPr>
                <a:picLocks noChangeAspect="1"/>
              </p:cNvPicPr>
              <p:nvPr/>
            </p:nvPicPr>
            <p:blipFill>
              <a:blip r:embed="rId5">
                <a:grayscl/>
              </a:blip>
              <a:stretch>
                <a:fillRect/>
              </a:stretch>
            </p:blipFill>
            <p:spPr>
              <a:xfrm>
                <a:off x="2239404" y="1088702"/>
                <a:ext cx="227640" cy="249581"/>
              </a:xfrm>
              <a:prstGeom prst="rect">
                <a:avLst/>
              </a:prstGeom>
              <a:ln>
                <a:solidFill>
                  <a:srgbClr val="FF3DA1"/>
                </a:solidFill>
              </a:ln>
            </p:spPr>
          </p:pic>
        </p:grpSp>
      </p:grpSp>
      <p:grpSp>
        <p:nvGrpSpPr>
          <p:cNvPr id="27" name="Group 26">
            <a:extLst>
              <a:ext uri="{FF2B5EF4-FFF2-40B4-BE49-F238E27FC236}">
                <a16:creationId xmlns:a16="http://schemas.microsoft.com/office/drawing/2014/main" id="{C8DE6F5C-9206-0C0F-56FF-F6241FC003C2}"/>
              </a:ext>
            </a:extLst>
          </p:cNvPr>
          <p:cNvGrpSpPr/>
          <p:nvPr/>
        </p:nvGrpSpPr>
        <p:grpSpPr>
          <a:xfrm>
            <a:off x="429900" y="2544835"/>
            <a:ext cx="1514100" cy="1231656"/>
            <a:chOff x="588300" y="2726720"/>
            <a:chExt cx="1514100" cy="1231656"/>
          </a:xfrm>
        </p:grpSpPr>
        <p:sp>
          <p:nvSpPr>
            <p:cNvPr id="13" name="Text Placeholder 2">
              <a:extLst>
                <a:ext uri="{FF2B5EF4-FFF2-40B4-BE49-F238E27FC236}">
                  <a16:creationId xmlns:a16="http://schemas.microsoft.com/office/drawing/2014/main" id="{7C06DD3C-2BA6-4E7D-6546-9F86DA30DF98}"/>
                </a:ext>
              </a:extLst>
            </p:cNvPr>
            <p:cNvSpPr txBox="1">
              <a:spLocks/>
            </p:cNvSpPr>
            <p:nvPr/>
          </p:nvSpPr>
          <p:spPr>
            <a:xfrm>
              <a:off x="588300" y="2726720"/>
              <a:ext cx="1514100" cy="1231656"/>
            </a:xfrm>
            <a:prstGeom prst="rect">
              <a:avLst/>
            </a:prstGeom>
            <a:noFill/>
            <a:ln w="57150">
              <a:solidFill>
                <a:srgbClr val="FF3DA1"/>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0" indent="0">
                <a:buFont typeface="Heebo"/>
                <a:buNone/>
              </a:pPr>
              <a:endParaRPr lang="en-US" sz="1400"/>
            </a:p>
            <a:p>
              <a:pPr marL="0" indent="0">
                <a:buFont typeface="Heebo"/>
                <a:buNone/>
              </a:pPr>
              <a:r>
                <a:rPr lang="en-US" sz="3600"/>
                <a:t>6</a:t>
              </a:r>
            </a:p>
            <a:p>
              <a:pPr marL="0" indent="0">
                <a:buFont typeface="Heebo"/>
                <a:buNone/>
              </a:pPr>
              <a:r>
                <a:rPr lang="en-US" sz="1200"/>
                <a:t>partner accounts</a:t>
              </a:r>
            </a:p>
          </p:txBody>
        </p:sp>
        <p:pic>
          <p:nvPicPr>
            <p:cNvPr id="22" name="Picture 21">
              <a:extLst>
                <a:ext uri="{FF2B5EF4-FFF2-40B4-BE49-F238E27FC236}">
                  <a16:creationId xmlns:a16="http://schemas.microsoft.com/office/drawing/2014/main" id="{A3ADFDF0-E93B-4F2E-2448-874702C18246}"/>
                </a:ext>
              </a:extLst>
            </p:cNvPr>
            <p:cNvPicPr>
              <a:picLocks noChangeAspect="1"/>
            </p:cNvPicPr>
            <p:nvPr/>
          </p:nvPicPr>
          <p:blipFill>
            <a:blip r:embed="rId6">
              <a:grayscl/>
            </a:blip>
            <a:stretch>
              <a:fillRect/>
            </a:stretch>
          </p:blipFill>
          <p:spPr>
            <a:xfrm>
              <a:off x="742688" y="2815284"/>
              <a:ext cx="292670" cy="266197"/>
            </a:xfrm>
            <a:prstGeom prst="rect">
              <a:avLst/>
            </a:prstGeom>
            <a:ln>
              <a:solidFill>
                <a:srgbClr val="FF3DA1"/>
              </a:solidFill>
            </a:ln>
          </p:spPr>
        </p:pic>
      </p:grpSp>
      <p:grpSp>
        <p:nvGrpSpPr>
          <p:cNvPr id="26" name="Group 25">
            <a:extLst>
              <a:ext uri="{FF2B5EF4-FFF2-40B4-BE49-F238E27FC236}">
                <a16:creationId xmlns:a16="http://schemas.microsoft.com/office/drawing/2014/main" id="{D1082B3D-A1A2-803F-848C-CA590BA9C120}"/>
              </a:ext>
            </a:extLst>
          </p:cNvPr>
          <p:cNvGrpSpPr/>
          <p:nvPr/>
        </p:nvGrpSpPr>
        <p:grpSpPr>
          <a:xfrm>
            <a:off x="2170200" y="2544835"/>
            <a:ext cx="1514100" cy="1231656"/>
            <a:chOff x="2328600" y="3032252"/>
            <a:chExt cx="1514100" cy="1231656"/>
          </a:xfrm>
        </p:grpSpPr>
        <p:sp>
          <p:nvSpPr>
            <p:cNvPr id="14" name="Text Placeholder 2">
              <a:extLst>
                <a:ext uri="{FF2B5EF4-FFF2-40B4-BE49-F238E27FC236}">
                  <a16:creationId xmlns:a16="http://schemas.microsoft.com/office/drawing/2014/main" id="{DF28E3DA-2E6E-C6E8-68A4-4D9457212181}"/>
                </a:ext>
              </a:extLst>
            </p:cNvPr>
            <p:cNvSpPr txBox="1">
              <a:spLocks/>
            </p:cNvSpPr>
            <p:nvPr/>
          </p:nvSpPr>
          <p:spPr>
            <a:xfrm>
              <a:off x="2328600" y="3032252"/>
              <a:ext cx="1514100" cy="1231656"/>
            </a:xfrm>
            <a:prstGeom prst="rect">
              <a:avLst/>
            </a:prstGeom>
            <a:noFill/>
            <a:ln w="57150">
              <a:solidFill>
                <a:srgbClr val="00B0F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0" indent="0">
                <a:buFont typeface="Heebo"/>
                <a:buNone/>
              </a:pPr>
              <a:endParaRPr lang="en-US" sz="1400"/>
            </a:p>
            <a:p>
              <a:pPr marL="0" indent="0">
                <a:buFont typeface="Heebo"/>
                <a:buNone/>
              </a:pPr>
              <a:r>
                <a:rPr lang="en-US" sz="3600"/>
                <a:t>6+</a:t>
              </a:r>
            </a:p>
            <a:p>
              <a:pPr marL="0" indent="0">
                <a:buFont typeface="Heebo"/>
                <a:buNone/>
              </a:pPr>
              <a:r>
                <a:rPr lang="en-US" sz="1200"/>
                <a:t>secure spaces</a:t>
              </a:r>
            </a:p>
          </p:txBody>
        </p:sp>
        <p:pic>
          <p:nvPicPr>
            <p:cNvPr id="24" name="Picture 23">
              <a:extLst>
                <a:ext uri="{FF2B5EF4-FFF2-40B4-BE49-F238E27FC236}">
                  <a16:creationId xmlns:a16="http://schemas.microsoft.com/office/drawing/2014/main" id="{E647CFBD-7363-B11F-65E4-931059F47320}"/>
                </a:ext>
              </a:extLst>
            </p:cNvPr>
            <p:cNvPicPr>
              <a:picLocks noChangeAspect="1"/>
            </p:cNvPicPr>
            <p:nvPr/>
          </p:nvPicPr>
          <p:blipFill>
            <a:blip r:embed="rId7">
              <a:grayscl/>
            </a:blip>
            <a:stretch>
              <a:fillRect/>
            </a:stretch>
          </p:blipFill>
          <p:spPr>
            <a:xfrm>
              <a:off x="2412203" y="3120816"/>
              <a:ext cx="309566" cy="266197"/>
            </a:xfrm>
            <a:prstGeom prst="rect">
              <a:avLst/>
            </a:prstGeom>
            <a:ln>
              <a:solidFill>
                <a:srgbClr val="00B0F0"/>
              </a:solidFill>
            </a:ln>
          </p:spPr>
        </p:pic>
      </p:grpSp>
      <p:pic>
        <p:nvPicPr>
          <p:cNvPr id="4" name="Picture 3">
            <a:extLst>
              <a:ext uri="{FF2B5EF4-FFF2-40B4-BE49-F238E27FC236}">
                <a16:creationId xmlns:a16="http://schemas.microsoft.com/office/drawing/2014/main" id="{CA0190F8-D44F-15DB-243C-DECC0CD2EE6B}"/>
              </a:ext>
            </a:extLst>
          </p:cNvPr>
          <p:cNvPicPr>
            <a:picLocks noChangeAspect="1"/>
          </p:cNvPicPr>
          <p:nvPr/>
        </p:nvPicPr>
        <p:blipFill>
          <a:blip r:embed="rId8"/>
          <a:stretch>
            <a:fillRect/>
          </a:stretch>
        </p:blipFill>
        <p:spPr>
          <a:xfrm>
            <a:off x="3862765" y="934053"/>
            <a:ext cx="4964608" cy="3398692"/>
          </a:xfrm>
          <a:prstGeom prst="rect">
            <a:avLst/>
          </a:prstGeom>
          <a:effectLst>
            <a:outerShdw blurRad="50800" dist="38100" dir="2700000" algn="tl" rotWithShape="0">
              <a:prstClr val="black">
                <a:alpha val="40000"/>
              </a:prstClr>
            </a:outerShdw>
          </a:effectLst>
        </p:spPr>
      </p:pic>
      <p:sp>
        <p:nvSpPr>
          <p:cNvPr id="5" name="Text Placeholder 2">
            <a:extLst>
              <a:ext uri="{FF2B5EF4-FFF2-40B4-BE49-F238E27FC236}">
                <a16:creationId xmlns:a16="http://schemas.microsoft.com/office/drawing/2014/main" id="{E75DA1B6-40FF-AB64-76B0-8FEB544A7C4C}"/>
              </a:ext>
            </a:extLst>
          </p:cNvPr>
          <p:cNvSpPr txBox="1">
            <a:spLocks/>
          </p:cNvSpPr>
          <p:nvPr/>
        </p:nvSpPr>
        <p:spPr>
          <a:xfrm>
            <a:off x="429900" y="4016585"/>
            <a:ext cx="3735700" cy="632460"/>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0" indent="0">
              <a:lnSpc>
                <a:spcPct val="114999"/>
              </a:lnSpc>
              <a:buNone/>
            </a:pPr>
            <a:r>
              <a:rPr lang="en-US" sz="1200">
                <a:solidFill>
                  <a:schemeClr val="tx1"/>
                </a:solidFill>
                <a:latin typeface="Arial"/>
                <a:cs typeface="Arial"/>
              </a:rPr>
              <a:t>Account = authenticated space you sign in to</a:t>
            </a:r>
          </a:p>
          <a:p>
            <a:pPr marL="0" indent="0">
              <a:lnSpc>
                <a:spcPct val="114999"/>
              </a:lnSpc>
              <a:buNone/>
            </a:pPr>
            <a:r>
              <a:rPr lang="en-US" sz="1200">
                <a:solidFill>
                  <a:schemeClr val="tx1"/>
                </a:solidFill>
                <a:latin typeface="Arial"/>
                <a:cs typeface="Arial"/>
              </a:rPr>
              <a:t>Secure space = authenticated space with no sign in</a:t>
            </a:r>
          </a:p>
        </p:txBody>
      </p:sp>
    </p:spTree>
    <p:extLst>
      <p:ext uri="{BB962C8B-B14F-4D97-AF65-F5344CB8AC3E}">
        <p14:creationId xmlns:p14="http://schemas.microsoft.com/office/powerpoint/2010/main" val="547006738"/>
      </p:ext>
    </p:extLst>
  </p:cSld>
  <p:clrMapOvr>
    <a:masterClrMapping/>
  </p:clrMapOvr>
  <p:extLst>
    <p:ext uri="{6950BFC3-D8DA-4A85-94F7-54DA5524770B}">
      <p188:commentRel xmlns:p188="http://schemas.microsoft.com/office/powerpoint/2018/8/main" r:id="rId3"/>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7089A62D-8552-9137-0D68-4DAFA878EA16}"/>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B17F40BB-78E6-DA59-ED79-FA919F1054FE}"/>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A user’s journey from visitor to citizen</a:t>
            </a:r>
          </a:p>
        </p:txBody>
      </p:sp>
      <p:sp>
        <p:nvSpPr>
          <p:cNvPr id="8" name="Text Placeholder 1">
            <a:extLst>
              <a:ext uri="{FF2B5EF4-FFF2-40B4-BE49-F238E27FC236}">
                <a16:creationId xmlns:a16="http://schemas.microsoft.com/office/drawing/2014/main" id="{1709FC3A-32CA-C38E-7852-78DDDB3C30C8}"/>
              </a:ext>
            </a:extLst>
          </p:cNvPr>
          <p:cNvSpPr>
            <a:spLocks noGrp="1"/>
          </p:cNvSpPr>
          <p:nvPr>
            <p:ph type="body" idx="1"/>
          </p:nvPr>
        </p:nvSpPr>
        <p:spPr>
          <a:xfrm>
            <a:off x="311700" y="1032825"/>
            <a:ext cx="4346700" cy="3508695"/>
          </a:xfrm>
        </p:spPr>
        <p:txBody>
          <a:bodyPr>
            <a:normAutofit/>
          </a:bodyPr>
          <a:lstStyle/>
          <a:p>
            <a:pPr marL="127000" indent="0">
              <a:buNone/>
            </a:pPr>
            <a:r>
              <a:rPr lang="en-US"/>
              <a:t>On the journey from visitor to citizen, a single user:</a:t>
            </a:r>
          </a:p>
          <a:p>
            <a:pPr marL="127000" indent="0">
              <a:buNone/>
            </a:pPr>
            <a:endParaRPr lang="en-US"/>
          </a:p>
          <a:p>
            <a:r>
              <a:rPr lang="en-US"/>
              <a:t>can encounter </a:t>
            </a:r>
            <a:r>
              <a:rPr lang="en-US" b="1"/>
              <a:t>19+ </a:t>
            </a:r>
            <a:r>
              <a:rPr lang="en-US"/>
              <a:t>different accounts, secure spaces and tools</a:t>
            </a:r>
          </a:p>
          <a:p>
            <a:pPr marL="127000" indent="0">
              <a:buNone/>
            </a:pPr>
            <a:endParaRPr lang="en-US"/>
          </a:p>
          <a:p>
            <a:r>
              <a:rPr lang="en-US"/>
              <a:t>has to choose between </a:t>
            </a:r>
            <a:r>
              <a:rPr lang="en-US" b="1"/>
              <a:t>3 </a:t>
            </a:r>
            <a:r>
              <a:rPr lang="en-US"/>
              <a:t>different accounts for their first step (visiting)</a:t>
            </a:r>
          </a:p>
          <a:p>
            <a:pPr marL="127000" indent="0">
              <a:buNone/>
            </a:pPr>
            <a:endParaRPr lang="en-US"/>
          </a:p>
          <a:p>
            <a:r>
              <a:rPr lang="en-US"/>
              <a:t>may need up to </a:t>
            </a:r>
            <a:r>
              <a:rPr lang="en-US" b="1"/>
              <a:t>9 </a:t>
            </a:r>
            <a:r>
              <a:rPr lang="en-US"/>
              <a:t>different accounts to complete and track their applications</a:t>
            </a:r>
          </a:p>
          <a:p>
            <a:pPr marL="127000" indent="0">
              <a:buNone/>
            </a:pPr>
            <a:endParaRPr lang="en-US"/>
          </a:p>
          <a:p>
            <a:pPr marL="127000" indent="0">
              <a:buNone/>
            </a:pPr>
            <a:endParaRPr lang="en-US"/>
          </a:p>
        </p:txBody>
      </p:sp>
      <p:pic>
        <p:nvPicPr>
          <p:cNvPr id="12" name="Picture 11">
            <a:extLst>
              <a:ext uri="{FF2B5EF4-FFF2-40B4-BE49-F238E27FC236}">
                <a16:creationId xmlns:a16="http://schemas.microsoft.com/office/drawing/2014/main" id="{3695B445-0134-2428-4DC1-952C11FCB03B}"/>
              </a:ext>
            </a:extLst>
          </p:cNvPr>
          <p:cNvPicPr>
            <a:picLocks noChangeAspect="1"/>
          </p:cNvPicPr>
          <p:nvPr/>
        </p:nvPicPr>
        <p:blipFill>
          <a:blip r:embed="rId4"/>
          <a:stretch>
            <a:fillRect/>
          </a:stretch>
        </p:blipFill>
        <p:spPr>
          <a:xfrm>
            <a:off x="6578110" y="864120"/>
            <a:ext cx="1887911" cy="3677400"/>
          </a:xfrm>
          <a:prstGeom prst="rect">
            <a:avLst/>
          </a:prstGeom>
          <a:effectLst>
            <a:outerShdw blurRad="50800" dist="38100" dir="2700000" algn="tl" rotWithShape="0">
              <a:prstClr val="black">
                <a:alpha val="40000"/>
              </a:prstClr>
            </a:outerShdw>
          </a:effectLst>
        </p:spPr>
      </p:pic>
      <p:pic>
        <p:nvPicPr>
          <p:cNvPr id="14" name="Picture 13">
            <a:extLst>
              <a:ext uri="{FF2B5EF4-FFF2-40B4-BE49-F238E27FC236}">
                <a16:creationId xmlns:a16="http://schemas.microsoft.com/office/drawing/2014/main" id="{7FC866EA-AE9E-1E00-5827-4492A93ED56A}"/>
              </a:ext>
            </a:extLst>
          </p:cNvPr>
          <p:cNvPicPr>
            <a:picLocks noChangeAspect="1"/>
          </p:cNvPicPr>
          <p:nvPr/>
        </p:nvPicPr>
        <p:blipFill>
          <a:blip r:embed="rId5"/>
          <a:stretch>
            <a:fillRect/>
          </a:stretch>
        </p:blipFill>
        <p:spPr>
          <a:xfrm>
            <a:off x="4874400" y="1202537"/>
            <a:ext cx="2489793" cy="2046146"/>
          </a:xfrm>
          <a:prstGeom prst="rect">
            <a:avLst/>
          </a:prstGeom>
          <a:effectLst>
            <a:outerShdw blurRad="50800" dist="38100" dir="2700000" algn="tl" rotWithShape="0">
              <a:prstClr val="black">
                <a:alpha val="40000"/>
              </a:prstClr>
            </a:outerShdw>
          </a:effectLst>
        </p:spPr>
      </p:pic>
      <p:sp>
        <p:nvSpPr>
          <p:cNvPr id="2" name="TextBox 1">
            <a:extLst>
              <a:ext uri="{FF2B5EF4-FFF2-40B4-BE49-F238E27FC236}">
                <a16:creationId xmlns:a16="http://schemas.microsoft.com/office/drawing/2014/main" id="{18C6A1E4-0852-C488-6808-E98B7B9FDC21}"/>
              </a:ext>
            </a:extLst>
          </p:cNvPr>
          <p:cNvSpPr txBox="1"/>
          <p:nvPr/>
        </p:nvSpPr>
        <p:spPr>
          <a:xfrm>
            <a:off x="699341" y="4545717"/>
            <a:ext cx="2743199"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6"/>
              </a:rPr>
              <a:t>Full hypothetical journey</a:t>
            </a:r>
            <a:endParaRPr lang="en-US"/>
          </a:p>
        </p:txBody>
      </p:sp>
    </p:spTree>
    <p:extLst>
      <p:ext uri="{BB962C8B-B14F-4D97-AF65-F5344CB8AC3E}">
        <p14:creationId xmlns:p14="http://schemas.microsoft.com/office/powerpoint/2010/main" val="2721460012"/>
      </p:ext>
    </p:extLst>
  </p:cSld>
  <p:clrMapOvr>
    <a:masterClrMapping/>
  </p:clrMapOvr>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0550142-0018-C514-634B-A781B9FFD5CE}"/>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12577A6F-822F-8576-8AF2-70D64ACA29A8}"/>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Since Digital Platform Modernization 3 started</a:t>
            </a:r>
          </a:p>
        </p:txBody>
      </p:sp>
      <p:sp>
        <p:nvSpPr>
          <p:cNvPr id="2" name="Text Placeholder 2">
            <a:extLst>
              <a:ext uri="{FF2B5EF4-FFF2-40B4-BE49-F238E27FC236}">
                <a16:creationId xmlns:a16="http://schemas.microsoft.com/office/drawing/2014/main" id="{DDA39450-7468-98E0-1499-628E9FFC99DA}"/>
              </a:ext>
            </a:extLst>
          </p:cNvPr>
          <p:cNvSpPr>
            <a:spLocks noGrp="1"/>
          </p:cNvSpPr>
          <p:nvPr>
            <p:ph type="body" idx="1"/>
          </p:nvPr>
        </p:nvSpPr>
        <p:spPr>
          <a:xfrm>
            <a:off x="311700" y="2960126"/>
            <a:ext cx="8520599" cy="1891289"/>
          </a:xfrm>
        </p:spPr>
        <p:txBody>
          <a:bodyPr>
            <a:normAutofit/>
          </a:bodyPr>
          <a:lstStyle/>
          <a:p>
            <a:pPr marL="127000" indent="0">
              <a:buNone/>
            </a:pPr>
            <a:r>
              <a:rPr lang="en-US" b="1"/>
              <a:t>With legacy accounts still available users stick to what they know:</a:t>
            </a:r>
            <a:endParaRPr lang="en-US"/>
          </a:p>
        </p:txBody>
      </p:sp>
      <p:sp>
        <p:nvSpPr>
          <p:cNvPr id="3" name="Text Placeholder 2">
            <a:extLst>
              <a:ext uri="{FF2B5EF4-FFF2-40B4-BE49-F238E27FC236}">
                <a16:creationId xmlns:a16="http://schemas.microsoft.com/office/drawing/2014/main" id="{D56644E0-C649-3F95-A3CD-539F33ED4486}"/>
              </a:ext>
            </a:extLst>
          </p:cNvPr>
          <p:cNvSpPr txBox="1">
            <a:spLocks/>
          </p:cNvSpPr>
          <p:nvPr/>
        </p:nvSpPr>
        <p:spPr>
          <a:xfrm>
            <a:off x="581852" y="906118"/>
            <a:ext cx="3670833" cy="1891289"/>
          </a:xfrm>
          <a:prstGeom prst="rect">
            <a:avLst/>
          </a:prstGeom>
          <a:noFill/>
          <a:ln w="19050">
            <a:solidFill>
              <a:srgbClr val="600DB4"/>
            </a:solidFill>
          </a:ln>
        </p:spPr>
        <p:txBody>
          <a:bodyPr spcFirstLastPara="1" wrap="square" lIns="91425" tIns="91425" rIns="91425" bIns="91425" anchor="t" anchorCtr="0">
            <a:normAutofit fontScale="85000"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1900" b="1"/>
              <a:t>We added:</a:t>
            </a:r>
          </a:p>
          <a:p>
            <a:pPr marL="127000" indent="0">
              <a:buNone/>
            </a:pPr>
            <a:r>
              <a:rPr lang="en-US" sz="3300" b="1"/>
              <a:t>2</a:t>
            </a:r>
            <a:r>
              <a:rPr lang="en-US" sz="3400"/>
              <a:t> </a:t>
            </a:r>
            <a:r>
              <a:rPr lang="en-US" sz="1200"/>
              <a:t>accounts (CXP-TRV and CXP-PPT)</a:t>
            </a:r>
          </a:p>
          <a:p>
            <a:pPr marL="127000" indent="0">
              <a:buNone/>
            </a:pPr>
            <a:r>
              <a:rPr lang="en-US" sz="3300" b="1"/>
              <a:t>1</a:t>
            </a:r>
            <a:r>
              <a:rPr lang="en-US" sz="1000"/>
              <a:t> </a:t>
            </a:r>
            <a:r>
              <a:rPr lang="en-US" sz="1200"/>
              <a:t>sign-in wizard (to help users find their account)</a:t>
            </a:r>
          </a:p>
          <a:p>
            <a:pPr marL="127000" indent="0">
              <a:buNone/>
            </a:pPr>
            <a:r>
              <a:rPr lang="en-US" sz="3300" b="1"/>
              <a:t>1</a:t>
            </a:r>
            <a:r>
              <a:rPr lang="en-US" sz="1000"/>
              <a:t> </a:t>
            </a:r>
            <a:r>
              <a:rPr lang="en-US" sz="1200"/>
              <a:t>program finder (because Come to Canada is outdated)</a:t>
            </a:r>
          </a:p>
        </p:txBody>
      </p:sp>
      <p:sp>
        <p:nvSpPr>
          <p:cNvPr id="5" name="Text Placeholder 2">
            <a:extLst>
              <a:ext uri="{FF2B5EF4-FFF2-40B4-BE49-F238E27FC236}">
                <a16:creationId xmlns:a16="http://schemas.microsoft.com/office/drawing/2014/main" id="{7104C48B-3BA2-B228-108F-E36B7F5851FC}"/>
              </a:ext>
            </a:extLst>
          </p:cNvPr>
          <p:cNvSpPr txBox="1">
            <a:spLocks/>
          </p:cNvSpPr>
          <p:nvPr/>
        </p:nvSpPr>
        <p:spPr>
          <a:xfrm>
            <a:off x="4947734" y="900425"/>
            <a:ext cx="3670833" cy="1891289"/>
          </a:xfrm>
          <a:prstGeom prst="rect">
            <a:avLst/>
          </a:prstGeom>
          <a:noFill/>
          <a:ln w="19050">
            <a:solidFill>
              <a:srgbClr val="600DB4"/>
            </a:solid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b="1"/>
              <a:t>We removed:</a:t>
            </a:r>
          </a:p>
          <a:p>
            <a:pPr marL="127000" indent="0">
              <a:buFont typeface="Heebo"/>
              <a:buNone/>
            </a:pPr>
            <a:r>
              <a:rPr lang="en-US" sz="4800" b="1"/>
              <a:t>0</a:t>
            </a:r>
          </a:p>
          <a:p>
            <a:pPr marL="127000" indent="0">
              <a:buFont typeface="Heebo"/>
              <a:buNone/>
            </a:pPr>
            <a:r>
              <a:rPr lang="en-US" sz="1400"/>
              <a:t>No accounts decommissioned. </a:t>
            </a:r>
          </a:p>
          <a:p>
            <a:pPr marL="127000" indent="0">
              <a:buFont typeface="Heebo"/>
              <a:buNone/>
            </a:pPr>
            <a:r>
              <a:rPr lang="en-US" sz="1400"/>
              <a:t>No secure spaces or tools retired.</a:t>
            </a:r>
          </a:p>
        </p:txBody>
      </p:sp>
      <p:grpSp>
        <p:nvGrpSpPr>
          <p:cNvPr id="15" name="Group 14">
            <a:extLst>
              <a:ext uri="{FF2B5EF4-FFF2-40B4-BE49-F238E27FC236}">
                <a16:creationId xmlns:a16="http://schemas.microsoft.com/office/drawing/2014/main" id="{C09D75A5-72B6-D500-3CC5-6D576C148861}"/>
              </a:ext>
            </a:extLst>
          </p:cNvPr>
          <p:cNvGrpSpPr/>
          <p:nvPr/>
        </p:nvGrpSpPr>
        <p:grpSpPr>
          <a:xfrm>
            <a:off x="581851" y="3415273"/>
            <a:ext cx="7120707" cy="1193013"/>
            <a:chOff x="581852" y="3342702"/>
            <a:chExt cx="7120707" cy="1193013"/>
          </a:xfrm>
        </p:grpSpPr>
        <p:sp>
          <p:nvSpPr>
            <p:cNvPr id="8" name="Text Placeholder 2">
              <a:extLst>
                <a:ext uri="{FF2B5EF4-FFF2-40B4-BE49-F238E27FC236}">
                  <a16:creationId xmlns:a16="http://schemas.microsoft.com/office/drawing/2014/main" id="{482A9113-46F4-EFBB-B447-81F7CB3BC1DB}"/>
                </a:ext>
              </a:extLst>
            </p:cNvPr>
            <p:cNvSpPr txBox="1">
              <a:spLocks/>
            </p:cNvSpPr>
            <p:nvPr/>
          </p:nvSpPr>
          <p:spPr>
            <a:xfrm>
              <a:off x="581852" y="3342702"/>
              <a:ext cx="2193467" cy="1193013"/>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3600">
                  <a:solidFill>
                    <a:srgbClr val="600DB4"/>
                  </a:solidFill>
                </a:rPr>
                <a:t>50%</a:t>
              </a:r>
            </a:p>
            <a:p>
              <a:pPr marL="127000" indent="0">
                <a:buFont typeface="Heebo"/>
                <a:buNone/>
              </a:pPr>
              <a:r>
                <a:rPr lang="en-US" sz="1000"/>
                <a:t>TRV applications submitted in </a:t>
              </a:r>
            </a:p>
            <a:p>
              <a:pPr marL="127000" indent="0">
                <a:buFont typeface="Heebo"/>
                <a:buNone/>
              </a:pPr>
              <a:r>
                <a:rPr lang="en-US" sz="1000" b="1"/>
                <a:t>IRCC secure account</a:t>
              </a:r>
            </a:p>
          </p:txBody>
        </p:sp>
        <p:sp>
          <p:nvSpPr>
            <p:cNvPr id="9" name="Text Placeholder 2">
              <a:extLst>
                <a:ext uri="{FF2B5EF4-FFF2-40B4-BE49-F238E27FC236}">
                  <a16:creationId xmlns:a16="http://schemas.microsoft.com/office/drawing/2014/main" id="{7D7509F1-91E8-898C-659C-BB3E79D3B4C9}"/>
                </a:ext>
              </a:extLst>
            </p:cNvPr>
            <p:cNvSpPr txBox="1">
              <a:spLocks/>
            </p:cNvSpPr>
            <p:nvPr/>
          </p:nvSpPr>
          <p:spPr>
            <a:xfrm>
              <a:off x="3045470" y="3342702"/>
              <a:ext cx="2193469" cy="1193013"/>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3600">
                  <a:solidFill>
                    <a:srgbClr val="600DB4"/>
                  </a:solidFill>
                </a:rPr>
                <a:t>46%</a:t>
              </a:r>
            </a:p>
            <a:p>
              <a:pPr marL="127000" indent="0">
                <a:buFont typeface="Heebo"/>
                <a:buNone/>
              </a:pPr>
              <a:r>
                <a:rPr lang="en-US" sz="1000"/>
                <a:t>TRV applications submitted in </a:t>
              </a:r>
            </a:p>
            <a:p>
              <a:pPr marL="127000" indent="0">
                <a:buFont typeface="Heebo"/>
                <a:buNone/>
              </a:pPr>
              <a:r>
                <a:rPr lang="en-US" sz="1000" b="1"/>
                <a:t>IRCC portal</a:t>
              </a:r>
            </a:p>
          </p:txBody>
        </p:sp>
        <p:sp>
          <p:nvSpPr>
            <p:cNvPr id="10" name="Text Placeholder 2">
              <a:extLst>
                <a:ext uri="{FF2B5EF4-FFF2-40B4-BE49-F238E27FC236}">
                  <a16:creationId xmlns:a16="http://schemas.microsoft.com/office/drawing/2014/main" id="{3261335D-4FC4-298B-AF2C-5B8A4D799BE5}"/>
                </a:ext>
              </a:extLst>
            </p:cNvPr>
            <p:cNvSpPr txBox="1">
              <a:spLocks/>
            </p:cNvSpPr>
            <p:nvPr/>
          </p:nvSpPr>
          <p:spPr>
            <a:xfrm>
              <a:off x="5509090" y="3342702"/>
              <a:ext cx="2193469" cy="1193013"/>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3600">
                  <a:solidFill>
                    <a:srgbClr val="FF0000"/>
                  </a:solidFill>
                </a:rPr>
                <a:t>4%</a:t>
              </a:r>
            </a:p>
            <a:p>
              <a:pPr marL="127000" indent="0">
                <a:buFont typeface="Heebo"/>
                <a:buNone/>
              </a:pPr>
              <a:r>
                <a:rPr lang="en-US" sz="1000"/>
                <a:t>TRV applications submitted in </a:t>
              </a:r>
            </a:p>
            <a:p>
              <a:pPr marL="127000" indent="0">
                <a:buFont typeface="Heebo"/>
                <a:buNone/>
              </a:pPr>
              <a:r>
                <a:rPr lang="en-US" sz="1000" b="1"/>
                <a:t>CXP (IRCC portal – new version)</a:t>
              </a:r>
            </a:p>
          </p:txBody>
        </p:sp>
      </p:grpSp>
      <p:cxnSp>
        <p:nvCxnSpPr>
          <p:cNvPr id="12" name="Straight Connector 11">
            <a:extLst>
              <a:ext uri="{FF2B5EF4-FFF2-40B4-BE49-F238E27FC236}">
                <a16:creationId xmlns:a16="http://schemas.microsoft.com/office/drawing/2014/main" id="{B086168A-5BBD-94C8-A28F-A01B686A38F0}"/>
              </a:ext>
            </a:extLst>
          </p:cNvPr>
          <p:cNvCxnSpPr>
            <a:cxnSpLocks/>
          </p:cNvCxnSpPr>
          <p:nvPr/>
        </p:nvCxnSpPr>
        <p:spPr>
          <a:xfrm>
            <a:off x="1694543" y="2945612"/>
            <a:ext cx="575491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9F72B99-325C-995B-F1C3-439D1BA673D3}"/>
              </a:ext>
            </a:extLst>
          </p:cNvPr>
          <p:cNvSpPr txBox="1"/>
          <p:nvPr/>
        </p:nvSpPr>
        <p:spPr>
          <a:xfrm>
            <a:off x="581890" y="4696667"/>
            <a:ext cx="1839068" cy="30777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i="1"/>
              <a:t>* Data for all of 2025</a:t>
            </a:r>
          </a:p>
        </p:txBody>
      </p:sp>
    </p:spTree>
    <p:extLst>
      <p:ext uri="{BB962C8B-B14F-4D97-AF65-F5344CB8AC3E}">
        <p14:creationId xmlns:p14="http://schemas.microsoft.com/office/powerpoint/2010/main" val="3226794794"/>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1873B9D-8339-5C63-6098-C17C13C41BC5}"/>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48A87903-B35B-218C-86D8-45175F3394E7}"/>
              </a:ext>
            </a:extLst>
          </p:cNvPr>
          <p:cNvPicPr>
            <a:picLocks noChangeAspect="1"/>
          </p:cNvPicPr>
          <p:nvPr/>
        </p:nvPicPr>
        <p:blipFill>
          <a:blip r:embed="rId4"/>
          <a:stretch>
            <a:fillRect/>
          </a:stretch>
        </p:blipFill>
        <p:spPr>
          <a:xfrm>
            <a:off x="2944293" y="1453298"/>
            <a:ext cx="5874153" cy="2030789"/>
          </a:xfrm>
          <a:prstGeom prst="rect">
            <a:avLst/>
          </a:prstGeom>
        </p:spPr>
      </p:pic>
      <p:sp>
        <p:nvSpPr>
          <p:cNvPr id="132" name="Google Shape;132;p23">
            <a:extLst>
              <a:ext uri="{FF2B5EF4-FFF2-40B4-BE49-F238E27FC236}">
                <a16:creationId xmlns:a16="http://schemas.microsoft.com/office/drawing/2014/main" id="{1813AF12-7FE5-9AA1-6DA2-AEB3D697E937}"/>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What users are still telling us</a:t>
            </a:r>
          </a:p>
        </p:txBody>
      </p:sp>
      <p:grpSp>
        <p:nvGrpSpPr>
          <p:cNvPr id="7" name="Group 6">
            <a:extLst>
              <a:ext uri="{FF2B5EF4-FFF2-40B4-BE49-F238E27FC236}">
                <a16:creationId xmlns:a16="http://schemas.microsoft.com/office/drawing/2014/main" id="{F5FF4F1F-EBFC-9C29-5664-9AAF4F751A1B}"/>
              </a:ext>
            </a:extLst>
          </p:cNvPr>
          <p:cNvGrpSpPr/>
          <p:nvPr/>
        </p:nvGrpSpPr>
        <p:grpSpPr>
          <a:xfrm>
            <a:off x="423218" y="1526961"/>
            <a:ext cx="2406147" cy="1891289"/>
            <a:chOff x="581852" y="906118"/>
            <a:chExt cx="2406147" cy="1891289"/>
          </a:xfrm>
        </p:grpSpPr>
        <p:sp>
          <p:nvSpPr>
            <p:cNvPr id="3" name="Text Placeholder 2">
              <a:extLst>
                <a:ext uri="{FF2B5EF4-FFF2-40B4-BE49-F238E27FC236}">
                  <a16:creationId xmlns:a16="http://schemas.microsoft.com/office/drawing/2014/main" id="{A8DD318D-F162-6673-2887-528A6472730D}"/>
                </a:ext>
              </a:extLst>
            </p:cNvPr>
            <p:cNvSpPr txBox="1">
              <a:spLocks/>
            </p:cNvSpPr>
            <p:nvPr/>
          </p:nvSpPr>
          <p:spPr>
            <a:xfrm>
              <a:off x="581852" y="906118"/>
              <a:ext cx="2406147" cy="1891289"/>
            </a:xfrm>
            <a:prstGeom prst="rect">
              <a:avLst/>
            </a:prstGeom>
            <a:noFill/>
            <a:ln w="19050">
              <a:solidFill>
                <a:srgbClr val="600DB4"/>
              </a:solid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endParaRPr lang="en-US" sz="1900"/>
            </a:p>
            <a:p>
              <a:pPr marL="127000" indent="0">
                <a:buNone/>
              </a:pPr>
              <a:r>
                <a:rPr lang="en-US" sz="3900" b="1"/>
                <a:t>13-17%</a:t>
              </a:r>
            </a:p>
            <a:p>
              <a:pPr marL="127000" indent="0">
                <a:buNone/>
              </a:pPr>
              <a:r>
                <a:rPr lang="en-US" sz="1300"/>
                <a:t>of feedback comments tied to account problems and confusion</a:t>
              </a:r>
            </a:p>
            <a:p>
              <a:pPr marL="127000" indent="0">
                <a:buNone/>
              </a:pPr>
              <a:endParaRPr lang="en-US" sz="900"/>
            </a:p>
            <a:p>
              <a:pPr marL="127000" indent="0">
                <a:buNone/>
              </a:pPr>
              <a:r>
                <a:rPr lang="en-US" sz="900"/>
                <a:t>(March 6-12, 2026)</a:t>
              </a:r>
            </a:p>
          </p:txBody>
        </p:sp>
        <p:pic>
          <p:nvPicPr>
            <p:cNvPr id="6" name="Picture 5">
              <a:extLst>
                <a:ext uri="{FF2B5EF4-FFF2-40B4-BE49-F238E27FC236}">
                  <a16:creationId xmlns:a16="http://schemas.microsoft.com/office/drawing/2014/main" id="{3B65E6D7-EC2F-EC5F-8671-27AD42712074}"/>
                </a:ext>
              </a:extLst>
            </p:cNvPr>
            <p:cNvPicPr>
              <a:picLocks noChangeAspect="1"/>
            </p:cNvPicPr>
            <p:nvPr/>
          </p:nvPicPr>
          <p:blipFill>
            <a:blip r:embed="rId5">
              <a:grayscl/>
            </a:blip>
            <a:stretch>
              <a:fillRect/>
            </a:stretch>
          </p:blipFill>
          <p:spPr>
            <a:xfrm>
              <a:off x="775035" y="1021797"/>
              <a:ext cx="247365" cy="238299"/>
            </a:xfrm>
            <a:prstGeom prst="rect">
              <a:avLst/>
            </a:prstGeom>
          </p:spPr>
        </p:pic>
      </p:grpSp>
      <p:grpSp>
        <p:nvGrpSpPr>
          <p:cNvPr id="11" name="Group 10">
            <a:extLst>
              <a:ext uri="{FF2B5EF4-FFF2-40B4-BE49-F238E27FC236}">
                <a16:creationId xmlns:a16="http://schemas.microsoft.com/office/drawing/2014/main" id="{66E3A09F-6B7E-0965-5752-CAD67B188449}"/>
              </a:ext>
            </a:extLst>
          </p:cNvPr>
          <p:cNvGrpSpPr/>
          <p:nvPr/>
        </p:nvGrpSpPr>
        <p:grpSpPr>
          <a:xfrm>
            <a:off x="2971749" y="1555188"/>
            <a:ext cx="5735179" cy="1780060"/>
            <a:chOff x="3063189" y="745648"/>
            <a:chExt cx="5735179" cy="1780060"/>
          </a:xfrm>
        </p:grpSpPr>
        <p:sp>
          <p:nvSpPr>
            <p:cNvPr id="16" name="Text Placeholder 2">
              <a:extLst>
                <a:ext uri="{FF2B5EF4-FFF2-40B4-BE49-F238E27FC236}">
                  <a16:creationId xmlns:a16="http://schemas.microsoft.com/office/drawing/2014/main" id="{053ED0F3-D77A-6E56-B859-A6339A622329}"/>
                </a:ext>
              </a:extLst>
            </p:cNvPr>
            <p:cNvSpPr txBox="1">
              <a:spLocks/>
            </p:cNvSpPr>
            <p:nvPr/>
          </p:nvSpPr>
          <p:spPr>
            <a:xfrm>
              <a:off x="3147250" y="826336"/>
              <a:ext cx="5651118" cy="1665632"/>
            </a:xfrm>
            <a:prstGeom prst="rect">
              <a:avLst/>
            </a:prstGeom>
            <a:noFill/>
            <a:ln w="19050">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i="1"/>
                <a:t>I don’t know whether I have an IRCC account of not. How can I check it.</a:t>
              </a:r>
            </a:p>
            <a:p>
              <a:pPr marL="127000" indent="0">
                <a:buNone/>
              </a:pPr>
              <a:endParaRPr lang="en-US" sz="1200" i="1"/>
            </a:p>
            <a:p>
              <a:pPr marL="127000" indent="0">
                <a:buNone/>
              </a:pPr>
              <a:r>
                <a:rPr lang="en-US" sz="1200" i="1"/>
                <a:t>I forget that I apply from which account its either account r portal</a:t>
              </a:r>
            </a:p>
            <a:p>
              <a:pPr marL="127000" indent="0">
                <a:buNone/>
              </a:pPr>
              <a:endParaRPr lang="en-US" sz="1200" i="1"/>
            </a:p>
            <a:p>
              <a:pPr marL="127000" indent="0">
                <a:buNone/>
              </a:pPr>
              <a:r>
                <a:rPr lang="en-US" sz="1200" i="1"/>
                <a:t>Bonjour! </a:t>
              </a:r>
              <a:r>
                <a:rPr lang="en-US" sz="1200" i="1" err="1"/>
                <a:t>Désolé</a:t>
              </a:r>
              <a:r>
                <a:rPr lang="en-US" sz="1200" i="1"/>
                <a:t> </a:t>
              </a:r>
              <a:r>
                <a:rPr lang="en-US" sz="1200" i="1" err="1"/>
                <a:t>ça</a:t>
              </a:r>
              <a:r>
                <a:rPr lang="en-US" sz="1200" i="1"/>
                <a:t> fait </a:t>
              </a:r>
              <a:r>
                <a:rPr lang="en-US" sz="1200" i="1" err="1"/>
                <a:t>longtemps</a:t>
              </a:r>
              <a:r>
                <a:rPr lang="en-US" sz="1200" i="1"/>
                <a:t> </a:t>
              </a:r>
              <a:r>
                <a:rPr lang="en-US" sz="1200" i="1" err="1"/>
                <a:t>j’arrive</a:t>
              </a:r>
              <a:r>
                <a:rPr lang="en-US" sz="1200" i="1"/>
                <a:t> pas à connecter à </a:t>
              </a:r>
              <a:r>
                <a:rPr lang="en-US" sz="1200" i="1" err="1"/>
                <a:t>mon</a:t>
              </a:r>
              <a:r>
                <a:rPr lang="en-US" sz="1200" i="1"/>
                <a:t> </a:t>
              </a:r>
              <a:r>
                <a:rPr lang="en-US" sz="1200" i="1" err="1"/>
                <a:t>compte</a:t>
              </a:r>
              <a:r>
                <a:rPr lang="en-US" sz="1200" i="1"/>
                <a:t> IRCC</a:t>
              </a:r>
            </a:p>
            <a:p>
              <a:pPr marL="127000" indent="0">
                <a:buNone/>
              </a:pPr>
              <a:endParaRPr lang="en-US" sz="1200" i="1"/>
            </a:p>
            <a:p>
              <a:pPr marL="127000" indent="0">
                <a:buNone/>
              </a:pPr>
              <a:r>
                <a:rPr lang="en-US" sz="1200" i="1"/>
                <a:t>Je </a:t>
              </a:r>
              <a:r>
                <a:rPr lang="en-US" sz="1200" i="1" err="1"/>
                <a:t>cherche</a:t>
              </a:r>
              <a:r>
                <a:rPr lang="en-US" sz="1200" i="1"/>
                <a:t> quel </a:t>
              </a:r>
              <a:r>
                <a:rPr lang="en-US" sz="1200" i="1" err="1"/>
                <a:t>compte</a:t>
              </a:r>
              <a:r>
                <a:rPr lang="en-US" sz="1200" i="1"/>
                <a:t> </a:t>
              </a:r>
              <a:r>
                <a:rPr lang="en-US" sz="1200" i="1" err="1"/>
                <a:t>qu’elle</a:t>
              </a:r>
              <a:r>
                <a:rPr lang="en-US" sz="1200" i="1"/>
                <a:t> </a:t>
              </a:r>
              <a:r>
                <a:rPr lang="en-US" sz="1200" i="1" err="1"/>
                <a:t>dois</a:t>
              </a:r>
              <a:r>
                <a:rPr lang="en-US" sz="1200" i="1"/>
                <a:t> </a:t>
              </a:r>
              <a:r>
                <a:rPr lang="en-US" sz="1200" i="1" err="1"/>
                <a:t>choicsir</a:t>
              </a:r>
              <a:r>
                <a:rPr lang="en-US" sz="1200" i="1"/>
                <a:t> pour le </a:t>
              </a:r>
              <a:r>
                <a:rPr lang="en-US" sz="1200" i="1" err="1"/>
                <a:t>parrainage</a:t>
              </a:r>
              <a:r>
                <a:rPr lang="en-US" sz="1200" i="1"/>
                <a:t> de ma femme</a:t>
              </a:r>
            </a:p>
          </p:txBody>
        </p:sp>
        <p:grpSp>
          <p:nvGrpSpPr>
            <p:cNvPr id="5" name="Group 4">
              <a:extLst>
                <a:ext uri="{FF2B5EF4-FFF2-40B4-BE49-F238E27FC236}">
                  <a16:creationId xmlns:a16="http://schemas.microsoft.com/office/drawing/2014/main" id="{FB15B1F2-40AD-BF8C-5CB5-32056510B85C}"/>
                </a:ext>
              </a:extLst>
            </p:cNvPr>
            <p:cNvGrpSpPr/>
            <p:nvPr/>
          </p:nvGrpSpPr>
          <p:grpSpPr>
            <a:xfrm>
              <a:off x="3063189" y="745648"/>
              <a:ext cx="280800" cy="1780060"/>
              <a:chOff x="3063189" y="745648"/>
              <a:chExt cx="280800" cy="1780060"/>
            </a:xfrm>
          </p:grpSpPr>
          <p:sp>
            <p:nvSpPr>
              <p:cNvPr id="18" name="TextBox 17">
                <a:extLst>
                  <a:ext uri="{FF2B5EF4-FFF2-40B4-BE49-F238E27FC236}">
                    <a16:creationId xmlns:a16="http://schemas.microsoft.com/office/drawing/2014/main" id="{0698C333-7620-BBC7-3961-B0F705EDF267}"/>
                  </a:ext>
                </a:extLst>
              </p:cNvPr>
              <p:cNvSpPr txBox="1"/>
              <p:nvPr/>
            </p:nvSpPr>
            <p:spPr>
              <a:xfrm>
                <a:off x="3063189" y="745648"/>
                <a:ext cx="280800" cy="523220"/>
              </a:xfrm>
              <a:prstGeom prst="rect">
                <a:avLst/>
              </a:prstGeom>
              <a:noFill/>
            </p:spPr>
            <p:txBody>
              <a:bodyPr wrap="square" rtlCol="0">
                <a:spAutoFit/>
              </a:bodyPr>
              <a:lstStyle/>
              <a:p>
                <a:r>
                  <a:rPr lang="en-US" sz="2800" b="1">
                    <a:solidFill>
                      <a:srgbClr val="600DB4"/>
                    </a:solidFill>
                  </a:rPr>
                  <a:t>“</a:t>
                </a:r>
              </a:p>
            </p:txBody>
          </p:sp>
          <p:sp>
            <p:nvSpPr>
              <p:cNvPr id="19" name="TextBox 18">
                <a:extLst>
                  <a:ext uri="{FF2B5EF4-FFF2-40B4-BE49-F238E27FC236}">
                    <a16:creationId xmlns:a16="http://schemas.microsoft.com/office/drawing/2014/main" id="{979C7A18-4A76-FB2D-03FB-B404C5F8070D}"/>
                  </a:ext>
                </a:extLst>
              </p:cNvPr>
              <p:cNvSpPr txBox="1"/>
              <p:nvPr/>
            </p:nvSpPr>
            <p:spPr>
              <a:xfrm>
                <a:off x="3063189" y="1155463"/>
                <a:ext cx="280800" cy="523220"/>
              </a:xfrm>
              <a:prstGeom prst="rect">
                <a:avLst/>
              </a:prstGeom>
              <a:noFill/>
            </p:spPr>
            <p:txBody>
              <a:bodyPr wrap="square" rtlCol="0">
                <a:spAutoFit/>
              </a:bodyPr>
              <a:lstStyle/>
              <a:p>
                <a:r>
                  <a:rPr lang="en-US" sz="2800" b="1">
                    <a:solidFill>
                      <a:srgbClr val="600DB4"/>
                    </a:solidFill>
                  </a:rPr>
                  <a:t>“</a:t>
                </a:r>
              </a:p>
            </p:txBody>
          </p:sp>
          <p:sp>
            <p:nvSpPr>
              <p:cNvPr id="20" name="TextBox 19">
                <a:extLst>
                  <a:ext uri="{FF2B5EF4-FFF2-40B4-BE49-F238E27FC236}">
                    <a16:creationId xmlns:a16="http://schemas.microsoft.com/office/drawing/2014/main" id="{5C1D19EC-2555-64CB-EB27-35A3A272B24E}"/>
                  </a:ext>
                </a:extLst>
              </p:cNvPr>
              <p:cNvSpPr txBox="1"/>
              <p:nvPr/>
            </p:nvSpPr>
            <p:spPr>
              <a:xfrm>
                <a:off x="3063189" y="1596673"/>
                <a:ext cx="280800" cy="523220"/>
              </a:xfrm>
              <a:prstGeom prst="rect">
                <a:avLst/>
              </a:prstGeom>
              <a:noFill/>
            </p:spPr>
            <p:txBody>
              <a:bodyPr wrap="square" rtlCol="0">
                <a:spAutoFit/>
              </a:bodyPr>
              <a:lstStyle/>
              <a:p>
                <a:r>
                  <a:rPr lang="en-US" sz="2800" b="1">
                    <a:solidFill>
                      <a:srgbClr val="600DB4"/>
                    </a:solidFill>
                  </a:rPr>
                  <a:t>“</a:t>
                </a:r>
              </a:p>
            </p:txBody>
          </p:sp>
          <p:sp>
            <p:nvSpPr>
              <p:cNvPr id="4" name="TextBox 3">
                <a:extLst>
                  <a:ext uri="{FF2B5EF4-FFF2-40B4-BE49-F238E27FC236}">
                    <a16:creationId xmlns:a16="http://schemas.microsoft.com/office/drawing/2014/main" id="{1F818EC6-9EF4-9DD8-0555-8D82B3E28DA5}"/>
                  </a:ext>
                </a:extLst>
              </p:cNvPr>
              <p:cNvSpPr txBox="1"/>
              <p:nvPr/>
            </p:nvSpPr>
            <p:spPr>
              <a:xfrm>
                <a:off x="3063189" y="2002488"/>
                <a:ext cx="280800" cy="523220"/>
              </a:xfrm>
              <a:prstGeom prst="rect">
                <a:avLst/>
              </a:prstGeom>
              <a:noFill/>
            </p:spPr>
            <p:txBody>
              <a:bodyPr wrap="square" rtlCol="0">
                <a:spAutoFit/>
              </a:bodyPr>
              <a:lstStyle/>
              <a:p>
                <a:r>
                  <a:rPr lang="en-US" sz="2800" b="1">
                    <a:solidFill>
                      <a:srgbClr val="600DB4"/>
                    </a:solidFill>
                  </a:rPr>
                  <a:t>“</a:t>
                </a:r>
              </a:p>
            </p:txBody>
          </p:sp>
        </p:grpSp>
      </p:grpSp>
      <p:sp>
        <p:nvSpPr>
          <p:cNvPr id="17" name="Text Placeholder 2">
            <a:extLst>
              <a:ext uri="{FF2B5EF4-FFF2-40B4-BE49-F238E27FC236}">
                <a16:creationId xmlns:a16="http://schemas.microsoft.com/office/drawing/2014/main" id="{4F10CA0F-F300-20ED-142C-2B9525445D6C}"/>
              </a:ext>
            </a:extLst>
          </p:cNvPr>
          <p:cNvSpPr txBox="1">
            <a:spLocks/>
          </p:cNvSpPr>
          <p:nvPr/>
        </p:nvSpPr>
        <p:spPr>
          <a:xfrm>
            <a:off x="423218" y="3693102"/>
            <a:ext cx="7545125" cy="710758"/>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0" indent="0">
              <a:lnSpc>
                <a:spcPct val="114999"/>
              </a:lnSpc>
              <a:buNone/>
            </a:pPr>
            <a:r>
              <a:rPr lang="en-US" sz="1400" b="1">
                <a:solidFill>
                  <a:schemeClr val="tx1"/>
                </a:solidFill>
                <a:latin typeface="Arial"/>
                <a:cs typeface="Arial"/>
              </a:rPr>
              <a:t>The issue will worsen as processing times increase on some major lines of business.</a:t>
            </a:r>
          </a:p>
        </p:txBody>
      </p:sp>
      <p:sp>
        <p:nvSpPr>
          <p:cNvPr id="21" name="TextBox 20">
            <a:extLst>
              <a:ext uri="{FF2B5EF4-FFF2-40B4-BE49-F238E27FC236}">
                <a16:creationId xmlns:a16="http://schemas.microsoft.com/office/drawing/2014/main" id="{EEE2125B-AA23-DB31-3D87-3ECEC7A47B64}"/>
              </a:ext>
            </a:extLst>
          </p:cNvPr>
          <p:cNvSpPr txBox="1"/>
          <p:nvPr/>
        </p:nvSpPr>
        <p:spPr>
          <a:xfrm>
            <a:off x="311700" y="938850"/>
            <a:ext cx="8287390" cy="318998"/>
          </a:xfrm>
          <a:prstGeom prst="rect">
            <a:avLst/>
          </a:prstGeom>
          <a:noFill/>
        </p:spPr>
        <p:txBody>
          <a:bodyPr wrap="square">
            <a:spAutoFit/>
          </a:bodyPr>
          <a:lstStyle/>
          <a:p>
            <a:pPr>
              <a:lnSpc>
                <a:spcPct val="114999"/>
              </a:lnSpc>
              <a:buNone/>
            </a:pPr>
            <a:r>
              <a:rPr lang="en-US" sz="1400">
                <a:solidFill>
                  <a:schemeClr val="tx1"/>
                </a:solidFill>
                <a:latin typeface="Arial"/>
                <a:cs typeface="Arial"/>
              </a:rPr>
              <a:t>They’re stuck on our front porch, unsure of which door to pick:</a:t>
            </a:r>
          </a:p>
        </p:txBody>
      </p:sp>
    </p:spTree>
    <p:extLst>
      <p:ext uri="{BB962C8B-B14F-4D97-AF65-F5344CB8AC3E}">
        <p14:creationId xmlns:p14="http://schemas.microsoft.com/office/powerpoint/2010/main" val="2468163637"/>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F5A016BA-12BD-1712-AE31-2D6E8E5E6F6A}"/>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852C839F-CA62-7B74-D61E-36EE7E6F61F3}"/>
              </a:ext>
            </a:extLst>
          </p:cNvPr>
          <p:cNvPicPr>
            <a:picLocks noChangeAspect="1"/>
          </p:cNvPicPr>
          <p:nvPr/>
        </p:nvPicPr>
        <p:blipFill>
          <a:blip r:embed="rId4"/>
          <a:stretch>
            <a:fillRect/>
          </a:stretch>
        </p:blipFill>
        <p:spPr>
          <a:xfrm>
            <a:off x="5155200" y="1101490"/>
            <a:ext cx="3603008" cy="2940520"/>
          </a:xfrm>
          <a:prstGeom prst="rect">
            <a:avLst/>
          </a:prstGeom>
          <a:effectLst>
            <a:outerShdw blurRad="50800" dist="38100" dir="2700000" algn="tl" rotWithShape="0">
              <a:prstClr val="black">
                <a:alpha val="40000"/>
              </a:prstClr>
            </a:outerShdw>
          </a:effectLst>
        </p:spPr>
      </p:pic>
      <p:sp>
        <p:nvSpPr>
          <p:cNvPr id="132" name="Google Shape;132;p23">
            <a:extLst>
              <a:ext uri="{FF2B5EF4-FFF2-40B4-BE49-F238E27FC236}">
                <a16:creationId xmlns:a16="http://schemas.microsoft.com/office/drawing/2014/main" id="{EE4674F8-C558-6DB5-8E07-968A83779D7F}"/>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Why Web introduced the account wizard in 2024</a:t>
            </a:r>
          </a:p>
        </p:txBody>
      </p:sp>
      <p:sp>
        <p:nvSpPr>
          <p:cNvPr id="4" name="Text Placeholder 1">
            <a:extLst>
              <a:ext uri="{FF2B5EF4-FFF2-40B4-BE49-F238E27FC236}">
                <a16:creationId xmlns:a16="http://schemas.microsoft.com/office/drawing/2014/main" id="{5806DE35-63D0-54BC-D7E9-B48F97B2D79F}"/>
              </a:ext>
            </a:extLst>
          </p:cNvPr>
          <p:cNvSpPr>
            <a:spLocks noGrp="1"/>
          </p:cNvSpPr>
          <p:nvPr>
            <p:ph type="body" idx="1"/>
          </p:nvPr>
        </p:nvSpPr>
        <p:spPr>
          <a:xfrm>
            <a:off x="592708" y="4136822"/>
            <a:ext cx="3864168" cy="725999"/>
          </a:xfrm>
          <a:ln w="19050">
            <a:solidFill>
              <a:srgbClr val="600DB4"/>
            </a:solidFill>
          </a:ln>
        </p:spPr>
        <p:txBody>
          <a:bodyPr anchor="ctr">
            <a:noAutofit/>
          </a:bodyPr>
          <a:lstStyle/>
          <a:p>
            <a:pPr marL="626745" indent="0">
              <a:buNone/>
            </a:pPr>
            <a:r>
              <a:rPr lang="en-US" b="1"/>
              <a:t>37.7 million visits to the wizard</a:t>
            </a:r>
          </a:p>
          <a:p>
            <a:pPr marL="626745" indent="0">
              <a:buNone/>
            </a:pPr>
            <a:r>
              <a:rPr lang="en-US" sz="1000"/>
              <a:t>(Since September 2024)</a:t>
            </a:r>
          </a:p>
        </p:txBody>
      </p:sp>
      <p:sp>
        <p:nvSpPr>
          <p:cNvPr id="2" name="Text Placeholder 1">
            <a:extLst>
              <a:ext uri="{FF2B5EF4-FFF2-40B4-BE49-F238E27FC236}">
                <a16:creationId xmlns:a16="http://schemas.microsoft.com/office/drawing/2014/main" id="{9766A8C7-C042-677D-1712-77162AFB76E5}"/>
              </a:ext>
            </a:extLst>
          </p:cNvPr>
          <p:cNvSpPr txBox="1">
            <a:spLocks/>
          </p:cNvSpPr>
          <p:nvPr/>
        </p:nvSpPr>
        <p:spPr>
          <a:xfrm>
            <a:off x="385792" y="1006678"/>
            <a:ext cx="4663500" cy="829379"/>
          </a:xfrm>
          <a:prstGeom prst="rect">
            <a:avLst/>
          </a:prstGeom>
          <a:noFill/>
          <a:ln>
            <a:noFill/>
          </a:ln>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1700" b="1"/>
              <a:t>Too many paths</a:t>
            </a:r>
          </a:p>
          <a:p>
            <a:pPr marL="127000" indent="0">
              <a:buNone/>
            </a:pPr>
            <a:r>
              <a:rPr lang="en-US" sz="1300"/>
              <a:t>With 10 accounts, we can’t easily point users to a single sign-in page</a:t>
            </a:r>
          </a:p>
        </p:txBody>
      </p:sp>
      <p:sp>
        <p:nvSpPr>
          <p:cNvPr id="5" name="Text Placeholder 1">
            <a:extLst>
              <a:ext uri="{FF2B5EF4-FFF2-40B4-BE49-F238E27FC236}">
                <a16:creationId xmlns:a16="http://schemas.microsoft.com/office/drawing/2014/main" id="{E41B3EEF-0BC5-838D-6C0C-102908C636D0}"/>
              </a:ext>
            </a:extLst>
          </p:cNvPr>
          <p:cNvSpPr txBox="1">
            <a:spLocks/>
          </p:cNvSpPr>
          <p:nvPr/>
        </p:nvSpPr>
        <p:spPr>
          <a:xfrm>
            <a:off x="385792" y="1951647"/>
            <a:ext cx="4663500" cy="9276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b="1"/>
              <a:t>Sometimes multiple valid paths</a:t>
            </a:r>
          </a:p>
          <a:p>
            <a:pPr marL="127000" indent="0">
              <a:buNone/>
            </a:pPr>
            <a:r>
              <a:rPr lang="en-US" sz="1200"/>
              <a:t>For visitor visas, users have 3 accounts to choose from, and some types of application can be one in any of the 3 accounts.</a:t>
            </a:r>
          </a:p>
        </p:txBody>
      </p:sp>
      <p:sp>
        <p:nvSpPr>
          <p:cNvPr id="6" name="Text Placeholder 1">
            <a:extLst>
              <a:ext uri="{FF2B5EF4-FFF2-40B4-BE49-F238E27FC236}">
                <a16:creationId xmlns:a16="http://schemas.microsoft.com/office/drawing/2014/main" id="{A9610E26-9EE8-AA3E-EF58-BFEFB3DF0A0F}"/>
              </a:ext>
            </a:extLst>
          </p:cNvPr>
          <p:cNvSpPr txBox="1">
            <a:spLocks/>
          </p:cNvSpPr>
          <p:nvPr/>
        </p:nvSpPr>
        <p:spPr>
          <a:xfrm>
            <a:off x="385792" y="2994837"/>
            <a:ext cx="4663500" cy="92760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b="1"/>
              <a:t>Help needed to reduce cognitive load</a:t>
            </a:r>
          </a:p>
          <a:p>
            <a:pPr marL="127000" indent="0">
              <a:buFont typeface="Heebo"/>
              <a:buNone/>
            </a:pPr>
            <a:r>
              <a:rPr lang="en-US" sz="1200"/>
              <a:t>The account wizard helps users navigate our maze of accounts. But it’s not a solution: It treats the symptom, not the problem.</a:t>
            </a:r>
          </a:p>
        </p:txBody>
      </p:sp>
      <p:pic>
        <p:nvPicPr>
          <p:cNvPr id="10" name="Picture 9">
            <a:extLst>
              <a:ext uri="{FF2B5EF4-FFF2-40B4-BE49-F238E27FC236}">
                <a16:creationId xmlns:a16="http://schemas.microsoft.com/office/drawing/2014/main" id="{CA578398-7FAE-6073-5495-4802318E3BCF}"/>
              </a:ext>
            </a:extLst>
          </p:cNvPr>
          <p:cNvPicPr>
            <a:picLocks noChangeAspect="1"/>
          </p:cNvPicPr>
          <p:nvPr/>
        </p:nvPicPr>
        <p:blipFill>
          <a:blip r:embed="rId5">
            <a:grayscl/>
          </a:blip>
          <a:stretch>
            <a:fillRect/>
          </a:stretch>
        </p:blipFill>
        <p:spPr>
          <a:xfrm>
            <a:off x="715108" y="4296453"/>
            <a:ext cx="472891" cy="406735"/>
          </a:xfrm>
          <a:prstGeom prst="rect">
            <a:avLst/>
          </a:prstGeom>
        </p:spPr>
      </p:pic>
    </p:spTree>
    <p:extLst>
      <p:ext uri="{BB962C8B-B14F-4D97-AF65-F5344CB8AC3E}">
        <p14:creationId xmlns:p14="http://schemas.microsoft.com/office/powerpoint/2010/main" val="526958219"/>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CCC815BF-93FD-D5C7-9A5C-209F4982FE73}"/>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C4F07D74-7B9D-01A6-63A7-F6531CBBA7D4}"/>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The maintenance trap</a:t>
            </a:r>
          </a:p>
        </p:txBody>
      </p:sp>
      <p:grpSp>
        <p:nvGrpSpPr>
          <p:cNvPr id="35" name="Group 34">
            <a:extLst>
              <a:ext uri="{FF2B5EF4-FFF2-40B4-BE49-F238E27FC236}">
                <a16:creationId xmlns:a16="http://schemas.microsoft.com/office/drawing/2014/main" id="{24D6AF9E-FF9C-58D5-0CB4-58A127D29E70}"/>
              </a:ext>
            </a:extLst>
          </p:cNvPr>
          <p:cNvGrpSpPr/>
          <p:nvPr/>
        </p:nvGrpSpPr>
        <p:grpSpPr>
          <a:xfrm>
            <a:off x="311700" y="1020899"/>
            <a:ext cx="8408827" cy="2656113"/>
            <a:chOff x="311700" y="1074058"/>
            <a:chExt cx="8408827" cy="2656113"/>
          </a:xfrm>
        </p:grpSpPr>
        <p:grpSp>
          <p:nvGrpSpPr>
            <p:cNvPr id="22" name="Group 21">
              <a:extLst>
                <a:ext uri="{FF2B5EF4-FFF2-40B4-BE49-F238E27FC236}">
                  <a16:creationId xmlns:a16="http://schemas.microsoft.com/office/drawing/2014/main" id="{109BE607-05B3-D104-EAAE-8883FB92695B}"/>
                </a:ext>
              </a:extLst>
            </p:cNvPr>
            <p:cNvGrpSpPr/>
            <p:nvPr/>
          </p:nvGrpSpPr>
          <p:grpSpPr>
            <a:xfrm>
              <a:off x="311700" y="1074058"/>
              <a:ext cx="2605671" cy="2656113"/>
              <a:chOff x="311700" y="1074058"/>
              <a:chExt cx="2605671" cy="2656113"/>
            </a:xfrm>
          </p:grpSpPr>
          <p:grpSp>
            <p:nvGrpSpPr>
              <p:cNvPr id="21" name="Group 20">
                <a:extLst>
                  <a:ext uri="{FF2B5EF4-FFF2-40B4-BE49-F238E27FC236}">
                    <a16:creationId xmlns:a16="http://schemas.microsoft.com/office/drawing/2014/main" id="{5187CFE8-41E2-F825-EF65-D3A81C42B155}"/>
                  </a:ext>
                </a:extLst>
              </p:cNvPr>
              <p:cNvGrpSpPr/>
              <p:nvPr/>
            </p:nvGrpSpPr>
            <p:grpSpPr>
              <a:xfrm>
                <a:off x="311700" y="1074058"/>
                <a:ext cx="2605671" cy="2656113"/>
                <a:chOff x="311700" y="1074058"/>
                <a:chExt cx="2605671" cy="2656113"/>
              </a:xfrm>
            </p:grpSpPr>
            <p:sp>
              <p:nvSpPr>
                <p:cNvPr id="3" name="Text Placeholder 2">
                  <a:extLst>
                    <a:ext uri="{FF2B5EF4-FFF2-40B4-BE49-F238E27FC236}">
                      <a16:creationId xmlns:a16="http://schemas.microsoft.com/office/drawing/2014/main" id="{3F0F54FA-DB4C-9070-BA04-2DBB67392998}"/>
                    </a:ext>
                  </a:extLst>
                </p:cNvPr>
                <p:cNvSpPr txBox="1">
                  <a:spLocks/>
                </p:cNvSpPr>
                <p:nvPr/>
              </p:nvSpPr>
              <p:spPr>
                <a:xfrm>
                  <a:off x="311700" y="1074058"/>
                  <a:ext cx="2605671" cy="2656113"/>
                </a:xfrm>
                <a:prstGeom prst="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endParaRPr lang="en-US" sz="1200" b="1"/>
                </a:p>
                <a:p>
                  <a:pPr marL="127000" indent="0">
                    <a:buNone/>
                  </a:pPr>
                  <a:endParaRPr lang="en-US" sz="1200" b="1"/>
                </a:p>
                <a:p>
                  <a:pPr marL="127000" indent="0">
                    <a:buNone/>
                  </a:pPr>
                  <a:endParaRPr lang="en-US" sz="1200" b="1"/>
                </a:p>
                <a:p>
                  <a:pPr marL="127000" indent="0">
                    <a:buNone/>
                  </a:pPr>
                  <a:r>
                    <a:rPr lang="en-US" b="1"/>
                    <a:t>Legacy accounts in maintenance mode</a:t>
                  </a:r>
                </a:p>
                <a:p>
                  <a:pPr marL="127000" indent="0">
                    <a:buNone/>
                  </a:pPr>
                  <a:endParaRPr lang="en-US" sz="1200"/>
                </a:p>
                <a:p>
                  <a:pPr marL="127000" indent="0">
                    <a:buNone/>
                  </a:pPr>
                  <a:r>
                    <a:rPr lang="en-US" sz="1200"/>
                    <a:t>Department resources shifted to the DPM3 project, leaving bulk of account and secure space needs with a much smaller team.</a:t>
                  </a:r>
                </a:p>
              </p:txBody>
            </p:sp>
            <p:cxnSp>
              <p:nvCxnSpPr>
                <p:cNvPr id="11" name="Straight Connector 10">
                  <a:extLst>
                    <a:ext uri="{FF2B5EF4-FFF2-40B4-BE49-F238E27FC236}">
                      <a16:creationId xmlns:a16="http://schemas.microsoft.com/office/drawing/2014/main" id="{D28D3C14-1184-9C27-7759-7E858B30368F}"/>
                    </a:ext>
                  </a:extLst>
                </p:cNvPr>
                <p:cNvCxnSpPr>
                  <a:cxnSpLocks/>
                </p:cNvCxnSpPr>
                <p:nvPr/>
              </p:nvCxnSpPr>
              <p:spPr>
                <a:xfrm>
                  <a:off x="311700" y="1074058"/>
                  <a:ext cx="2605671" cy="0"/>
                </a:xfrm>
                <a:prstGeom prst="line">
                  <a:avLst/>
                </a:prstGeom>
                <a:ln w="76200">
                  <a:solidFill>
                    <a:srgbClr val="600DB4"/>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1C72831C-EC0D-A458-69FA-D76E887AEC07}"/>
                  </a:ext>
                </a:extLst>
              </p:cNvPr>
              <p:cNvSpPr txBox="1"/>
              <p:nvPr/>
            </p:nvSpPr>
            <p:spPr>
              <a:xfrm>
                <a:off x="423471" y="1209960"/>
                <a:ext cx="406400" cy="389513"/>
              </a:xfrm>
              <a:prstGeom prst="ellipse">
                <a:avLst/>
              </a:prstGeom>
              <a:solidFill>
                <a:srgbClr val="600DB4"/>
              </a:solidFill>
            </p:spPr>
            <p:txBody>
              <a:bodyPr wrap="square" rtlCol="0" anchor="ctr">
                <a:spAutoFit/>
              </a:bodyPr>
              <a:lstStyle/>
              <a:p>
                <a:pPr algn="ctr"/>
                <a:r>
                  <a:rPr lang="en-US" sz="1200" b="1">
                    <a:solidFill>
                      <a:schemeClr val="bg1"/>
                    </a:solidFill>
                    <a:latin typeface="Heebo" pitchFamily="2" charset="-79"/>
                    <a:cs typeface="Heebo" pitchFamily="2" charset="-79"/>
                  </a:rPr>
                  <a:t>1</a:t>
                </a:r>
              </a:p>
            </p:txBody>
          </p:sp>
        </p:grpSp>
        <p:grpSp>
          <p:nvGrpSpPr>
            <p:cNvPr id="24" name="Group 23">
              <a:extLst>
                <a:ext uri="{FF2B5EF4-FFF2-40B4-BE49-F238E27FC236}">
                  <a16:creationId xmlns:a16="http://schemas.microsoft.com/office/drawing/2014/main" id="{87042C5F-7AB9-DD9D-4B4E-169FFA9FF0CE}"/>
                </a:ext>
              </a:extLst>
            </p:cNvPr>
            <p:cNvGrpSpPr/>
            <p:nvPr/>
          </p:nvGrpSpPr>
          <p:grpSpPr>
            <a:xfrm>
              <a:off x="3213278" y="1074058"/>
              <a:ext cx="2605671" cy="2656113"/>
              <a:chOff x="311700" y="1074058"/>
              <a:chExt cx="2605671" cy="2656113"/>
            </a:xfrm>
          </p:grpSpPr>
          <p:grpSp>
            <p:nvGrpSpPr>
              <p:cNvPr id="25" name="Group 24">
                <a:extLst>
                  <a:ext uri="{FF2B5EF4-FFF2-40B4-BE49-F238E27FC236}">
                    <a16:creationId xmlns:a16="http://schemas.microsoft.com/office/drawing/2014/main" id="{AE9FD6C0-6729-9C5D-CD65-F4ADEADCC95D}"/>
                  </a:ext>
                </a:extLst>
              </p:cNvPr>
              <p:cNvGrpSpPr/>
              <p:nvPr/>
            </p:nvGrpSpPr>
            <p:grpSpPr>
              <a:xfrm>
                <a:off x="311700" y="1074058"/>
                <a:ext cx="2605671" cy="2656113"/>
                <a:chOff x="311700" y="1074058"/>
                <a:chExt cx="2605671" cy="2656113"/>
              </a:xfrm>
            </p:grpSpPr>
            <p:sp>
              <p:nvSpPr>
                <p:cNvPr id="27" name="Text Placeholder 2">
                  <a:extLst>
                    <a:ext uri="{FF2B5EF4-FFF2-40B4-BE49-F238E27FC236}">
                      <a16:creationId xmlns:a16="http://schemas.microsoft.com/office/drawing/2014/main" id="{E7A350FD-5BC2-FA0C-EA65-F73005ADE3E3}"/>
                    </a:ext>
                  </a:extLst>
                </p:cNvPr>
                <p:cNvSpPr txBox="1">
                  <a:spLocks/>
                </p:cNvSpPr>
                <p:nvPr/>
              </p:nvSpPr>
              <p:spPr>
                <a:xfrm>
                  <a:off x="311700" y="1074058"/>
                  <a:ext cx="2605671" cy="2656113"/>
                </a:xfrm>
                <a:prstGeom prst="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endParaRPr lang="en-US" sz="1200" b="1"/>
                </a:p>
                <a:p>
                  <a:pPr marL="127000" indent="0">
                    <a:buNone/>
                  </a:pPr>
                  <a:endParaRPr lang="en-US" sz="1200" b="1"/>
                </a:p>
                <a:p>
                  <a:pPr marL="127000" indent="0">
                    <a:buNone/>
                  </a:pPr>
                  <a:endParaRPr lang="en-US" sz="1200" b="1"/>
                </a:p>
                <a:p>
                  <a:pPr marL="127000" indent="0">
                    <a:buNone/>
                  </a:pPr>
                  <a:r>
                    <a:rPr lang="en-US" b="1"/>
                    <a:t>Department develops new policies/measures</a:t>
                  </a:r>
                </a:p>
                <a:p>
                  <a:pPr marL="127000" indent="0">
                    <a:buNone/>
                  </a:pPr>
                  <a:endParaRPr lang="en-US" sz="1200"/>
                </a:p>
                <a:p>
                  <a:pPr marL="127000" indent="0">
                    <a:buNone/>
                  </a:pPr>
                  <a:r>
                    <a:rPr lang="en-US" sz="1200"/>
                    <a:t>Systems may not all be updated to integrate them, leading to workarounds: creative form answers, different instructions and special codes.</a:t>
                  </a:r>
                </a:p>
              </p:txBody>
            </p:sp>
            <p:cxnSp>
              <p:nvCxnSpPr>
                <p:cNvPr id="28" name="Straight Connector 27">
                  <a:extLst>
                    <a:ext uri="{FF2B5EF4-FFF2-40B4-BE49-F238E27FC236}">
                      <a16:creationId xmlns:a16="http://schemas.microsoft.com/office/drawing/2014/main" id="{6CAC4594-4167-6E99-9B48-891BCE1AEC71}"/>
                    </a:ext>
                  </a:extLst>
                </p:cNvPr>
                <p:cNvCxnSpPr>
                  <a:cxnSpLocks/>
                </p:cNvCxnSpPr>
                <p:nvPr/>
              </p:nvCxnSpPr>
              <p:spPr>
                <a:xfrm>
                  <a:off x="311700" y="1074058"/>
                  <a:ext cx="2605671" cy="0"/>
                </a:xfrm>
                <a:prstGeom prst="line">
                  <a:avLst/>
                </a:prstGeom>
                <a:ln w="76200">
                  <a:solidFill>
                    <a:srgbClr val="600DB4"/>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207C4DF0-32BA-05A3-0FCB-2E261E46FFFB}"/>
                  </a:ext>
                </a:extLst>
              </p:cNvPr>
              <p:cNvSpPr txBox="1"/>
              <p:nvPr/>
            </p:nvSpPr>
            <p:spPr>
              <a:xfrm>
                <a:off x="423471" y="1209960"/>
                <a:ext cx="406400" cy="389513"/>
              </a:xfrm>
              <a:prstGeom prst="ellipse">
                <a:avLst/>
              </a:prstGeom>
              <a:solidFill>
                <a:srgbClr val="600DB4"/>
              </a:solidFill>
            </p:spPr>
            <p:txBody>
              <a:bodyPr wrap="square" rtlCol="0" anchor="ctr">
                <a:spAutoFit/>
              </a:bodyPr>
              <a:lstStyle/>
              <a:p>
                <a:pPr algn="ctr"/>
                <a:r>
                  <a:rPr lang="en-US" sz="1200" b="1">
                    <a:solidFill>
                      <a:schemeClr val="bg1"/>
                    </a:solidFill>
                    <a:latin typeface="Heebo" pitchFamily="2" charset="-79"/>
                    <a:cs typeface="Heebo" pitchFamily="2" charset="-79"/>
                  </a:rPr>
                  <a:t>2</a:t>
                </a:r>
              </a:p>
            </p:txBody>
          </p:sp>
        </p:grpSp>
        <p:grpSp>
          <p:nvGrpSpPr>
            <p:cNvPr id="29" name="Group 28">
              <a:extLst>
                <a:ext uri="{FF2B5EF4-FFF2-40B4-BE49-F238E27FC236}">
                  <a16:creationId xmlns:a16="http://schemas.microsoft.com/office/drawing/2014/main" id="{DA3A7920-571F-643F-5BF2-1698EC82844F}"/>
                </a:ext>
              </a:extLst>
            </p:cNvPr>
            <p:cNvGrpSpPr/>
            <p:nvPr/>
          </p:nvGrpSpPr>
          <p:grpSpPr>
            <a:xfrm>
              <a:off x="6114856" y="1074058"/>
              <a:ext cx="2605671" cy="2656113"/>
              <a:chOff x="311700" y="1074058"/>
              <a:chExt cx="2605671" cy="2656113"/>
            </a:xfrm>
          </p:grpSpPr>
          <p:grpSp>
            <p:nvGrpSpPr>
              <p:cNvPr id="30" name="Group 29">
                <a:extLst>
                  <a:ext uri="{FF2B5EF4-FFF2-40B4-BE49-F238E27FC236}">
                    <a16:creationId xmlns:a16="http://schemas.microsoft.com/office/drawing/2014/main" id="{BF9F0D4F-F0DC-9DF6-3382-26FE49150721}"/>
                  </a:ext>
                </a:extLst>
              </p:cNvPr>
              <p:cNvGrpSpPr/>
              <p:nvPr/>
            </p:nvGrpSpPr>
            <p:grpSpPr>
              <a:xfrm>
                <a:off x="311700" y="1074058"/>
                <a:ext cx="2605671" cy="2656113"/>
                <a:chOff x="311700" y="1074058"/>
                <a:chExt cx="2605671" cy="2656113"/>
              </a:xfrm>
            </p:grpSpPr>
            <p:sp>
              <p:nvSpPr>
                <p:cNvPr id="32" name="Text Placeholder 2">
                  <a:extLst>
                    <a:ext uri="{FF2B5EF4-FFF2-40B4-BE49-F238E27FC236}">
                      <a16:creationId xmlns:a16="http://schemas.microsoft.com/office/drawing/2014/main" id="{D0183E6B-58A6-0172-6DE8-BA8D29C78C61}"/>
                    </a:ext>
                  </a:extLst>
                </p:cNvPr>
                <p:cNvSpPr txBox="1">
                  <a:spLocks/>
                </p:cNvSpPr>
                <p:nvPr/>
              </p:nvSpPr>
              <p:spPr>
                <a:xfrm>
                  <a:off x="311700" y="1074059"/>
                  <a:ext cx="2605671" cy="2656112"/>
                </a:xfrm>
                <a:prstGeom prst="rect">
                  <a:avLst/>
                </a:prstGeom>
                <a:solidFill>
                  <a:schemeClr val="bg1"/>
                </a:solidFill>
                <a:ln w="12700">
                  <a:solidFill>
                    <a:schemeClr val="bg1">
                      <a:lumMod val="95000"/>
                    </a:schemeClr>
                  </a:solidFill>
                </a:ln>
                <a:effectLst>
                  <a:outerShdw blurRad="50800" dist="38100" dir="2700000" algn="tl" rotWithShape="0">
                    <a:prstClr val="black">
                      <a:alpha val="40000"/>
                    </a:prstClr>
                  </a:outerShdw>
                </a:effectLst>
              </p:spPr>
              <p:txBody>
                <a:bodyPr spcFirstLastPara="1" wrap="square" lIns="91425" tIns="91425" rIns="91425" bIns="91425" anchor="t" anchorCtr="0">
                  <a:normAutofit fontScale="92500"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endParaRPr lang="en-US" sz="1300" b="1"/>
                </a:p>
                <a:p>
                  <a:pPr marL="127000" indent="0">
                    <a:buNone/>
                  </a:pPr>
                  <a:endParaRPr lang="en-US" sz="1300" b="1"/>
                </a:p>
                <a:p>
                  <a:pPr marL="127000" indent="0">
                    <a:buNone/>
                  </a:pPr>
                  <a:endParaRPr lang="en-US" sz="1300" b="1"/>
                </a:p>
                <a:p>
                  <a:pPr marL="127000" indent="0">
                    <a:buNone/>
                  </a:pPr>
                  <a:r>
                    <a:rPr lang="en-US" sz="1700" b="1"/>
                    <a:t>Web band-aids with content</a:t>
                  </a:r>
                </a:p>
                <a:p>
                  <a:pPr marL="127000" indent="0">
                    <a:buNone/>
                  </a:pPr>
                  <a:endParaRPr lang="en-US" sz="1300"/>
                </a:p>
                <a:p>
                  <a:pPr marL="127000" indent="0">
                    <a:buNone/>
                  </a:pPr>
                  <a:r>
                    <a:rPr lang="en-US" sz="1300"/>
                    <a:t>Web communicates these workarounds to users: competing instructions; more to read, understand and remember.</a:t>
                  </a:r>
                </a:p>
                <a:p>
                  <a:pPr marL="127000" indent="0">
                    <a:buNone/>
                  </a:pPr>
                  <a:endParaRPr lang="en-US" sz="1300"/>
                </a:p>
                <a:p>
                  <a:pPr marL="127000" indent="0">
                    <a:buNone/>
                  </a:pPr>
                  <a:r>
                    <a:rPr lang="en-US" sz="1300"/>
                    <a:t>The cognitive load compounds.</a:t>
                  </a:r>
                </a:p>
              </p:txBody>
            </p:sp>
            <p:cxnSp>
              <p:nvCxnSpPr>
                <p:cNvPr id="33" name="Straight Connector 32">
                  <a:extLst>
                    <a:ext uri="{FF2B5EF4-FFF2-40B4-BE49-F238E27FC236}">
                      <a16:creationId xmlns:a16="http://schemas.microsoft.com/office/drawing/2014/main" id="{2AADF9D3-0105-CA79-9E5B-BDA36697155B}"/>
                    </a:ext>
                  </a:extLst>
                </p:cNvPr>
                <p:cNvCxnSpPr>
                  <a:cxnSpLocks/>
                </p:cNvCxnSpPr>
                <p:nvPr/>
              </p:nvCxnSpPr>
              <p:spPr>
                <a:xfrm>
                  <a:off x="311700" y="1074058"/>
                  <a:ext cx="2605671" cy="0"/>
                </a:xfrm>
                <a:prstGeom prst="line">
                  <a:avLst/>
                </a:prstGeom>
                <a:ln w="76200">
                  <a:solidFill>
                    <a:srgbClr val="600DB4"/>
                  </a:solidFill>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DEADDC14-2E5A-9AC9-33F8-43E15A80FCF6}"/>
                  </a:ext>
                </a:extLst>
              </p:cNvPr>
              <p:cNvSpPr txBox="1"/>
              <p:nvPr/>
            </p:nvSpPr>
            <p:spPr>
              <a:xfrm>
                <a:off x="423471" y="1209960"/>
                <a:ext cx="406400" cy="389513"/>
              </a:xfrm>
              <a:prstGeom prst="ellipse">
                <a:avLst/>
              </a:prstGeom>
              <a:solidFill>
                <a:srgbClr val="600DB4"/>
              </a:solidFill>
            </p:spPr>
            <p:txBody>
              <a:bodyPr wrap="square" rtlCol="0" anchor="ctr">
                <a:spAutoFit/>
              </a:bodyPr>
              <a:lstStyle/>
              <a:p>
                <a:pPr algn="ctr"/>
                <a:r>
                  <a:rPr lang="en-US" sz="1200" b="1">
                    <a:solidFill>
                      <a:schemeClr val="bg1"/>
                    </a:solidFill>
                    <a:latin typeface="Heebo" pitchFamily="2" charset="-79"/>
                    <a:cs typeface="Heebo" pitchFamily="2" charset="-79"/>
                  </a:rPr>
                  <a:t>3</a:t>
                </a:r>
              </a:p>
            </p:txBody>
          </p:sp>
        </p:grpSp>
      </p:grpSp>
      <p:sp>
        <p:nvSpPr>
          <p:cNvPr id="34" name="Text Placeholder 2">
            <a:extLst>
              <a:ext uri="{FF2B5EF4-FFF2-40B4-BE49-F238E27FC236}">
                <a16:creationId xmlns:a16="http://schemas.microsoft.com/office/drawing/2014/main" id="{6366E80F-9DB2-AAD7-9E6A-22236A51C41B}"/>
              </a:ext>
            </a:extLst>
          </p:cNvPr>
          <p:cNvSpPr txBox="1">
            <a:spLocks/>
          </p:cNvSpPr>
          <p:nvPr/>
        </p:nvSpPr>
        <p:spPr>
          <a:xfrm>
            <a:off x="311700" y="3954511"/>
            <a:ext cx="8408827" cy="473699"/>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Font typeface="Heebo"/>
              <a:buNone/>
            </a:pPr>
            <a:r>
              <a:rPr lang="en-US" sz="1200" b="1">
                <a:solidFill>
                  <a:schemeClr val="tx1"/>
                </a:solidFill>
              </a:rPr>
              <a:t>Result: More complexity, more choices, more frustration</a:t>
            </a:r>
          </a:p>
        </p:txBody>
      </p:sp>
    </p:spTree>
    <p:extLst>
      <p:ext uri="{BB962C8B-B14F-4D97-AF65-F5344CB8AC3E}">
        <p14:creationId xmlns:p14="http://schemas.microsoft.com/office/powerpoint/2010/main" val="2738900948"/>
      </p:ext>
    </p:extLst>
  </p:cSld>
  <p:clrMapOvr>
    <a:masterClrMapping/>
  </p:clrMapOvr>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BCF39CB6-54BA-5D45-5B29-60680F293261}"/>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8DE988CA-1AD8-40C5-DC39-0209F937F407}"/>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sz="2000"/>
              <a:t>Web band aids: Convoluted instructions in the wrong place</a:t>
            </a:r>
            <a:endParaRPr lang="en-US" sz="2000"/>
          </a:p>
        </p:txBody>
      </p:sp>
      <p:grpSp>
        <p:nvGrpSpPr>
          <p:cNvPr id="12" name="Group 11">
            <a:extLst>
              <a:ext uri="{FF2B5EF4-FFF2-40B4-BE49-F238E27FC236}">
                <a16:creationId xmlns:a16="http://schemas.microsoft.com/office/drawing/2014/main" id="{358F3710-5821-87DF-F6CC-65F589C7663A}"/>
              </a:ext>
            </a:extLst>
          </p:cNvPr>
          <p:cNvGrpSpPr/>
          <p:nvPr/>
        </p:nvGrpSpPr>
        <p:grpSpPr>
          <a:xfrm>
            <a:off x="6266650" y="1036779"/>
            <a:ext cx="2471150" cy="2571662"/>
            <a:chOff x="602658" y="970616"/>
            <a:chExt cx="2471150" cy="2571662"/>
          </a:xfrm>
        </p:grpSpPr>
        <p:pic>
          <p:nvPicPr>
            <p:cNvPr id="5" name="Picture 4" descr="A screenshot of a computer screen&#10;&#10;AI-generated content may be incorrect.">
              <a:extLst>
                <a:ext uri="{FF2B5EF4-FFF2-40B4-BE49-F238E27FC236}">
                  <a16:creationId xmlns:a16="http://schemas.microsoft.com/office/drawing/2014/main" id="{938A0D19-D3BB-D295-29B8-B27D70D8ABB6}"/>
                </a:ext>
              </a:extLst>
            </p:cNvPr>
            <p:cNvPicPr>
              <a:picLocks noChangeAspect="1"/>
            </p:cNvPicPr>
            <p:nvPr/>
          </p:nvPicPr>
          <p:blipFill>
            <a:blip r:embed="rId3"/>
            <a:stretch>
              <a:fillRect/>
            </a:stretch>
          </p:blipFill>
          <p:spPr>
            <a:xfrm>
              <a:off x="602658" y="1432281"/>
              <a:ext cx="2471149" cy="2109997"/>
            </a:xfrm>
            <a:prstGeom prst="rect">
              <a:avLst/>
            </a:prstGeom>
            <a:effectLst>
              <a:outerShdw blurRad="50800" dist="38100" dir="2700000">
                <a:srgbClr val="000000">
                  <a:alpha val="40000"/>
                </a:srgbClr>
              </a:outerShdw>
            </a:effectLst>
          </p:spPr>
        </p:pic>
        <p:sp>
          <p:nvSpPr>
            <p:cNvPr id="16" name="TextBox 15">
              <a:extLst>
                <a:ext uri="{FF2B5EF4-FFF2-40B4-BE49-F238E27FC236}">
                  <a16:creationId xmlns:a16="http://schemas.microsoft.com/office/drawing/2014/main" id="{9B30FFE3-8266-5A9E-035B-CB726F7BE0F7}"/>
                </a:ext>
              </a:extLst>
            </p:cNvPr>
            <p:cNvSpPr txBox="1"/>
            <p:nvPr/>
          </p:nvSpPr>
          <p:spPr>
            <a:xfrm>
              <a:off x="602658" y="970616"/>
              <a:ext cx="2471150" cy="461665"/>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Heebo" pitchFamily="2" charset="-79"/>
                  <a:cs typeface="Heebo" pitchFamily="2" charset="-79"/>
                </a:rPr>
                <a:t>PGWP: System doesn't ask for all required documents</a:t>
              </a:r>
            </a:p>
          </p:txBody>
        </p:sp>
      </p:grpSp>
      <p:grpSp>
        <p:nvGrpSpPr>
          <p:cNvPr id="11" name="Group 10">
            <a:extLst>
              <a:ext uri="{FF2B5EF4-FFF2-40B4-BE49-F238E27FC236}">
                <a16:creationId xmlns:a16="http://schemas.microsoft.com/office/drawing/2014/main" id="{C7679A03-85BE-026B-2A6A-D49C57F5A384}"/>
              </a:ext>
            </a:extLst>
          </p:cNvPr>
          <p:cNvGrpSpPr/>
          <p:nvPr/>
        </p:nvGrpSpPr>
        <p:grpSpPr>
          <a:xfrm>
            <a:off x="5240220" y="3165579"/>
            <a:ext cx="3497580" cy="1306350"/>
            <a:chOff x="4138775" y="1262602"/>
            <a:chExt cx="3497580" cy="1306350"/>
          </a:xfrm>
          <a:solidFill>
            <a:srgbClr val="FFFFFF"/>
          </a:solidFill>
        </p:grpSpPr>
        <p:pic>
          <p:nvPicPr>
            <p:cNvPr id="15" name="Picture 14" descr="A white background with black text&#10;&#10;AI-generated content may be incorrect.">
              <a:extLst>
                <a:ext uri="{FF2B5EF4-FFF2-40B4-BE49-F238E27FC236}">
                  <a16:creationId xmlns:a16="http://schemas.microsoft.com/office/drawing/2014/main" id="{3A1F2103-890D-BA51-EAD1-08E1B0F07276}"/>
                </a:ext>
              </a:extLst>
            </p:cNvPr>
            <p:cNvPicPr>
              <a:picLocks noChangeAspect="1"/>
            </p:cNvPicPr>
            <p:nvPr/>
          </p:nvPicPr>
          <p:blipFill>
            <a:blip r:embed="rId4"/>
            <a:stretch>
              <a:fillRect/>
            </a:stretch>
          </p:blipFill>
          <p:spPr>
            <a:xfrm>
              <a:off x="4138775" y="1724267"/>
              <a:ext cx="3497580" cy="844685"/>
            </a:xfrm>
            <a:prstGeom prst="rect">
              <a:avLst/>
            </a:prstGeom>
            <a:grpFill/>
            <a:effectLst>
              <a:outerShdw blurRad="50800" dist="38100" dir="2700000">
                <a:srgbClr val="000000">
                  <a:alpha val="40000"/>
                </a:srgbClr>
              </a:outerShdw>
            </a:effectLst>
          </p:spPr>
        </p:pic>
        <p:sp>
          <p:nvSpPr>
            <p:cNvPr id="17" name="TextBox 16">
              <a:extLst>
                <a:ext uri="{FF2B5EF4-FFF2-40B4-BE49-F238E27FC236}">
                  <a16:creationId xmlns:a16="http://schemas.microsoft.com/office/drawing/2014/main" id="{6C8FC967-087D-B389-DCE2-3753B0FDAE44}"/>
                </a:ext>
              </a:extLst>
            </p:cNvPr>
            <p:cNvSpPr txBox="1"/>
            <p:nvPr/>
          </p:nvSpPr>
          <p:spPr>
            <a:xfrm>
              <a:off x="4138775" y="1262602"/>
              <a:ext cx="3497580" cy="461665"/>
            </a:xfrm>
            <a:prstGeom prst="rect">
              <a:avLst/>
            </a:prstGeom>
            <a:grp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a:latin typeface="Heebo" pitchFamily="2" charset="-79"/>
                  <a:cs typeface="Heebo" pitchFamily="2" charset="-79"/>
                </a:rPr>
                <a:t>Haiti special measures: special contact code, not found directly in the web form</a:t>
              </a:r>
            </a:p>
          </p:txBody>
        </p:sp>
      </p:grpSp>
      <p:sp>
        <p:nvSpPr>
          <p:cNvPr id="4" name="Text Placeholder 2">
            <a:extLst>
              <a:ext uri="{FF2B5EF4-FFF2-40B4-BE49-F238E27FC236}">
                <a16:creationId xmlns:a16="http://schemas.microsoft.com/office/drawing/2014/main" id="{2A319A0C-56BF-EFFB-8AD7-5D843C1014A1}"/>
              </a:ext>
            </a:extLst>
          </p:cNvPr>
          <p:cNvSpPr txBox="1">
            <a:spLocks/>
          </p:cNvSpPr>
          <p:nvPr/>
        </p:nvSpPr>
        <p:spPr>
          <a:xfrm>
            <a:off x="312600" y="907200"/>
            <a:ext cx="5217000" cy="2987999"/>
          </a:xfrm>
          <a:prstGeom prst="rect">
            <a:avLst/>
          </a:prstGeom>
          <a:noFill/>
          <a:ln w="19050">
            <a:noFill/>
          </a:ln>
          <a:effectLst/>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solidFill>
                  <a:schemeClr val="tx1"/>
                </a:solidFill>
              </a:rPr>
              <a:t>Maintenance mode also prevents us from implementing needed usability improvements.</a:t>
            </a:r>
          </a:p>
          <a:p>
            <a:pPr marL="127000" indent="0">
              <a:lnSpc>
                <a:spcPct val="114999"/>
              </a:lnSpc>
              <a:buNone/>
            </a:pPr>
            <a:endParaRPr lang="en-US" sz="1200">
              <a:solidFill>
                <a:schemeClr val="tx1"/>
              </a:solidFill>
            </a:endParaRPr>
          </a:p>
          <a:p>
            <a:pPr marL="127000" indent="0">
              <a:lnSpc>
                <a:spcPct val="114999"/>
              </a:lnSpc>
              <a:buNone/>
            </a:pPr>
            <a:r>
              <a:rPr lang="en-US" sz="1200">
                <a:solidFill>
                  <a:schemeClr val="tx1"/>
                </a:solidFill>
              </a:rPr>
              <a:t>Web provides instructions to help users complete their task, but not where they </a:t>
            </a:r>
            <a:r>
              <a:rPr lang="en-US" sz="1200" b="1">
                <a:solidFill>
                  <a:schemeClr val="tx1"/>
                </a:solidFill>
              </a:rPr>
              <a:t>actually complete the task</a:t>
            </a:r>
            <a:r>
              <a:rPr lang="en-US" sz="1200">
                <a:solidFill>
                  <a:schemeClr val="tx1"/>
                </a:solidFill>
              </a:rPr>
              <a:t>. We can’t update those spaces.</a:t>
            </a:r>
          </a:p>
          <a:p>
            <a:pPr marL="127000" indent="0">
              <a:lnSpc>
                <a:spcPct val="114999"/>
              </a:lnSpc>
              <a:buNone/>
            </a:pPr>
            <a:endParaRPr lang="en-US" sz="1200">
              <a:solidFill>
                <a:schemeClr val="tx1"/>
              </a:solidFill>
            </a:endParaRPr>
          </a:p>
          <a:p>
            <a:pPr marL="127000" indent="0">
              <a:buNone/>
            </a:pPr>
            <a:r>
              <a:rPr lang="en-US" sz="1200" b="1"/>
              <a:t>The result: </a:t>
            </a:r>
          </a:p>
          <a:p>
            <a:r>
              <a:rPr lang="en-US" sz="1200"/>
              <a:t>Incomplete applications</a:t>
            </a:r>
          </a:p>
          <a:p>
            <a:r>
              <a:rPr lang="en-US" sz="1200"/>
              <a:t>Increased frustration</a:t>
            </a:r>
          </a:p>
          <a:p>
            <a:r>
              <a:rPr lang="en-US" sz="1200"/>
              <a:t>Additional enquiries (web forms, calls, etc.)</a:t>
            </a:r>
          </a:p>
          <a:p>
            <a:pPr marL="127000" indent="0">
              <a:buNone/>
            </a:pPr>
            <a:endParaRPr lang="en-US" sz="1200"/>
          </a:p>
          <a:p>
            <a:pPr marL="127000" indent="0">
              <a:buNone/>
            </a:pPr>
            <a:r>
              <a:rPr lang="en-US" sz="1200"/>
              <a:t>The examples on the right are 2 of </a:t>
            </a:r>
            <a:r>
              <a:rPr lang="en-US" sz="1200" b="1"/>
              <a:t>many</a:t>
            </a:r>
            <a:r>
              <a:rPr lang="en-US" sz="1200"/>
              <a:t> workarounds found across most lines of business.</a:t>
            </a:r>
          </a:p>
        </p:txBody>
      </p:sp>
      <p:sp>
        <p:nvSpPr>
          <p:cNvPr id="10" name="Text Placeholder 2">
            <a:extLst>
              <a:ext uri="{FF2B5EF4-FFF2-40B4-BE49-F238E27FC236}">
                <a16:creationId xmlns:a16="http://schemas.microsoft.com/office/drawing/2014/main" id="{F746A58B-CE19-C314-EF91-48B7F274E18F}"/>
              </a:ext>
            </a:extLst>
          </p:cNvPr>
          <p:cNvSpPr txBox="1">
            <a:spLocks/>
          </p:cNvSpPr>
          <p:nvPr/>
        </p:nvSpPr>
        <p:spPr>
          <a:xfrm>
            <a:off x="311700" y="3895200"/>
            <a:ext cx="4260300" cy="576729"/>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lnSpc>
                <a:spcPct val="114999"/>
              </a:lnSpc>
              <a:buNone/>
            </a:pPr>
            <a:r>
              <a:rPr lang="en-US" sz="1200" b="1">
                <a:solidFill>
                  <a:schemeClr val="tx1"/>
                </a:solidFill>
              </a:rPr>
              <a:t>Workarounds hurt user trust in our web presence.</a:t>
            </a:r>
          </a:p>
        </p:txBody>
      </p:sp>
    </p:spTree>
    <p:extLst>
      <p:ext uri="{BB962C8B-B14F-4D97-AF65-F5344CB8AC3E}">
        <p14:creationId xmlns:p14="http://schemas.microsoft.com/office/powerpoint/2010/main" val="7737256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93597040-4E7C-4E53-A50C-0F518F4C2142}"/>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D5E46D58-7C73-BF7B-F39D-3F03236BDA46}"/>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sz="2000"/>
              <a:t>Web band aids: How to answer questions so users get the right application</a:t>
            </a:r>
            <a:endParaRPr lang="en-US" sz="2000"/>
          </a:p>
        </p:txBody>
      </p:sp>
      <p:sp>
        <p:nvSpPr>
          <p:cNvPr id="4" name="Text Placeholder 2">
            <a:extLst>
              <a:ext uri="{FF2B5EF4-FFF2-40B4-BE49-F238E27FC236}">
                <a16:creationId xmlns:a16="http://schemas.microsoft.com/office/drawing/2014/main" id="{FE2CD52C-775A-8B74-04B4-0EF379597BB3}"/>
              </a:ext>
            </a:extLst>
          </p:cNvPr>
          <p:cNvSpPr txBox="1">
            <a:spLocks/>
          </p:cNvSpPr>
          <p:nvPr/>
        </p:nvSpPr>
        <p:spPr>
          <a:xfrm>
            <a:off x="311700" y="826060"/>
            <a:ext cx="8519700" cy="572701"/>
          </a:xfrm>
          <a:prstGeom prst="rect">
            <a:avLst/>
          </a:prstGeom>
          <a:noFill/>
          <a:ln w="19050">
            <a:noFill/>
          </a:ln>
          <a:effectLst/>
        </p:spPr>
        <p:txBody>
          <a:bodyPr spcFirstLastPara="1" wrap="square" lIns="91425" tIns="91425" rIns="91425" bIns="91425" anchor="t" anchorCtr="0">
            <a:normAutofit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t>With C2C outdated (outside of emergency patches), web is left telling users </a:t>
            </a:r>
            <a:r>
              <a:rPr lang="en-US" sz="1200" b="1"/>
              <a:t>how to answer specific questions, sometimes incorrectly</a:t>
            </a:r>
            <a:r>
              <a:rPr lang="en-US" sz="1200"/>
              <a:t>, so they still get the correct application and checklist.</a:t>
            </a:r>
          </a:p>
        </p:txBody>
      </p:sp>
      <p:sp>
        <p:nvSpPr>
          <p:cNvPr id="10" name="Text Placeholder 2">
            <a:extLst>
              <a:ext uri="{FF2B5EF4-FFF2-40B4-BE49-F238E27FC236}">
                <a16:creationId xmlns:a16="http://schemas.microsoft.com/office/drawing/2014/main" id="{E7F04852-6BBE-1810-9B9B-4D221DEC54E7}"/>
              </a:ext>
            </a:extLst>
          </p:cNvPr>
          <p:cNvSpPr txBox="1">
            <a:spLocks/>
          </p:cNvSpPr>
          <p:nvPr/>
        </p:nvSpPr>
        <p:spPr>
          <a:xfrm>
            <a:off x="264612" y="4164258"/>
            <a:ext cx="7248301" cy="808541"/>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lnSpc>
                <a:spcPct val="114999"/>
              </a:lnSpc>
              <a:buNone/>
            </a:pPr>
            <a:r>
              <a:rPr lang="en-US" sz="1200" b="1">
                <a:solidFill>
                  <a:schemeClr val="tx1"/>
                </a:solidFill>
              </a:rPr>
              <a:t>Users expect systems to be up to date. But, instead, we ask them to answer in unintuitive ways, and sometimes to lie, to make an outdated, inaccurate system work properly for them. </a:t>
            </a:r>
            <a:r>
              <a:rPr lang="en-US" sz="1200">
                <a:solidFill>
                  <a:schemeClr val="tx1"/>
                </a:solidFill>
              </a:rPr>
              <a:t>How can we ask for accuracy and truth from applicants when we start by telling them how to lie to us?</a:t>
            </a:r>
          </a:p>
        </p:txBody>
      </p:sp>
      <p:cxnSp>
        <p:nvCxnSpPr>
          <p:cNvPr id="8" name="Straight Connector 7">
            <a:extLst>
              <a:ext uri="{FF2B5EF4-FFF2-40B4-BE49-F238E27FC236}">
                <a16:creationId xmlns:a16="http://schemas.microsoft.com/office/drawing/2014/main" id="{CD69A6AC-A118-8AB1-3FA0-E9C332F8E1CD}"/>
              </a:ext>
            </a:extLst>
          </p:cNvPr>
          <p:cNvCxnSpPr>
            <a:cxnSpLocks/>
          </p:cNvCxnSpPr>
          <p:nvPr/>
        </p:nvCxnSpPr>
        <p:spPr>
          <a:xfrm>
            <a:off x="1694543" y="1431259"/>
            <a:ext cx="575491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0E33BF44-6EE5-1885-AA01-3112CB1A3E1E}"/>
              </a:ext>
            </a:extLst>
          </p:cNvPr>
          <p:cNvGrpSpPr/>
          <p:nvPr/>
        </p:nvGrpSpPr>
        <p:grpSpPr>
          <a:xfrm>
            <a:off x="264612" y="1552827"/>
            <a:ext cx="8614777" cy="2499128"/>
            <a:chOff x="282237" y="1639227"/>
            <a:chExt cx="8614777" cy="2499128"/>
          </a:xfrm>
        </p:grpSpPr>
        <p:grpSp>
          <p:nvGrpSpPr>
            <p:cNvPr id="7" name="Group 6">
              <a:extLst>
                <a:ext uri="{FF2B5EF4-FFF2-40B4-BE49-F238E27FC236}">
                  <a16:creationId xmlns:a16="http://schemas.microsoft.com/office/drawing/2014/main" id="{A7CAC4BB-3C0B-B106-E0F2-1ECCF00198B3}"/>
                </a:ext>
              </a:extLst>
            </p:cNvPr>
            <p:cNvGrpSpPr/>
            <p:nvPr/>
          </p:nvGrpSpPr>
          <p:grpSpPr>
            <a:xfrm>
              <a:off x="2935009" y="1639227"/>
              <a:ext cx="2839081" cy="2110383"/>
              <a:chOff x="5451034" y="1763430"/>
              <a:chExt cx="2840271" cy="2111268"/>
            </a:xfrm>
          </p:grpSpPr>
          <p:pic>
            <p:nvPicPr>
              <p:cNvPr id="3" name="Picture 2">
                <a:extLst>
                  <a:ext uri="{FF2B5EF4-FFF2-40B4-BE49-F238E27FC236}">
                    <a16:creationId xmlns:a16="http://schemas.microsoft.com/office/drawing/2014/main" id="{72A6C04E-251C-65E7-0AB7-F48F2CFF2E98}"/>
                  </a:ext>
                </a:extLst>
              </p:cNvPr>
              <p:cNvPicPr>
                <a:picLocks noChangeAspect="1"/>
              </p:cNvPicPr>
              <p:nvPr/>
            </p:nvPicPr>
            <p:blipFill>
              <a:blip r:embed="rId3"/>
              <a:srcRect t="19382"/>
              <a:stretch/>
            </p:blipFill>
            <p:spPr>
              <a:xfrm>
                <a:off x="5451034" y="2040546"/>
                <a:ext cx="2840271" cy="1834152"/>
              </a:xfrm>
              <a:prstGeom prst="rect">
                <a:avLst/>
              </a:prstGeom>
              <a:effectLst>
                <a:outerShdw blurRad="50800" dist="38100" dir="2700000" algn="tl" rotWithShape="0">
                  <a:prstClr val="black">
                    <a:alpha val="40000"/>
                  </a:prstClr>
                </a:outerShdw>
              </a:effectLst>
            </p:spPr>
          </p:pic>
          <p:sp>
            <p:nvSpPr>
              <p:cNvPr id="6" name="TextBox 5">
                <a:extLst>
                  <a:ext uri="{FF2B5EF4-FFF2-40B4-BE49-F238E27FC236}">
                    <a16:creationId xmlns:a16="http://schemas.microsoft.com/office/drawing/2014/main" id="{1F853054-A23A-6D89-F719-0D8EF0AD8705}"/>
                  </a:ext>
                </a:extLst>
              </p:cNvPr>
              <p:cNvSpPr txBox="1"/>
              <p:nvPr/>
            </p:nvSpPr>
            <p:spPr>
              <a:xfrm>
                <a:off x="5451034" y="1763430"/>
                <a:ext cx="2840271" cy="246324"/>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Heebo" pitchFamily="2" charset="-79"/>
                    <a:cs typeface="Heebo" pitchFamily="2" charset="-79"/>
                  </a:rPr>
                  <a:t>Open work permit for family members</a:t>
                </a:r>
              </a:p>
            </p:txBody>
          </p:sp>
        </p:grpSp>
        <p:grpSp>
          <p:nvGrpSpPr>
            <p:cNvPr id="18" name="Group 17">
              <a:extLst>
                <a:ext uri="{FF2B5EF4-FFF2-40B4-BE49-F238E27FC236}">
                  <a16:creationId xmlns:a16="http://schemas.microsoft.com/office/drawing/2014/main" id="{468E6DEB-0C85-76A3-51F7-82E32D47B7A9}"/>
                </a:ext>
              </a:extLst>
            </p:cNvPr>
            <p:cNvGrpSpPr/>
            <p:nvPr/>
          </p:nvGrpSpPr>
          <p:grpSpPr>
            <a:xfrm>
              <a:off x="282237" y="1639227"/>
              <a:ext cx="2424963" cy="2499128"/>
              <a:chOff x="282237" y="1639227"/>
              <a:chExt cx="2424963" cy="2499128"/>
            </a:xfrm>
          </p:grpSpPr>
          <p:pic>
            <p:nvPicPr>
              <p:cNvPr id="13" name="Picture 12">
                <a:extLst>
                  <a:ext uri="{FF2B5EF4-FFF2-40B4-BE49-F238E27FC236}">
                    <a16:creationId xmlns:a16="http://schemas.microsoft.com/office/drawing/2014/main" id="{8392EFB2-6BE7-7A68-AABC-A712E64B88EC}"/>
                  </a:ext>
                </a:extLst>
              </p:cNvPr>
              <p:cNvPicPr>
                <a:picLocks noChangeAspect="1"/>
              </p:cNvPicPr>
              <p:nvPr/>
            </p:nvPicPr>
            <p:blipFill>
              <a:blip r:embed="rId4"/>
              <a:stretch>
                <a:fillRect/>
              </a:stretch>
            </p:blipFill>
            <p:spPr>
              <a:xfrm>
                <a:off x="282237" y="1911350"/>
                <a:ext cx="2367363" cy="2227005"/>
              </a:xfrm>
              <a:prstGeom prst="rect">
                <a:avLst/>
              </a:prstGeom>
              <a:effectLst>
                <a:outerShdw blurRad="50800" dist="38100" dir="2700000" algn="tl" rotWithShape="0">
                  <a:prstClr val="black">
                    <a:alpha val="40000"/>
                  </a:prstClr>
                </a:outerShdw>
              </a:effectLst>
            </p:spPr>
          </p:pic>
          <p:sp>
            <p:nvSpPr>
              <p:cNvPr id="14" name="TextBox 13">
                <a:extLst>
                  <a:ext uri="{FF2B5EF4-FFF2-40B4-BE49-F238E27FC236}">
                    <a16:creationId xmlns:a16="http://schemas.microsoft.com/office/drawing/2014/main" id="{298765A4-48FF-687A-A1A6-C1C800242F0C}"/>
                  </a:ext>
                </a:extLst>
              </p:cNvPr>
              <p:cNvSpPr txBox="1"/>
              <p:nvPr/>
            </p:nvSpPr>
            <p:spPr>
              <a:xfrm>
                <a:off x="282237" y="1639227"/>
                <a:ext cx="2424963" cy="246221"/>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Heebo" pitchFamily="2" charset="-79"/>
                    <a:cs typeface="Heebo" pitchFamily="2" charset="-79"/>
                  </a:rPr>
                  <a:t>Open work permit for Quebec investors</a:t>
                </a:r>
              </a:p>
            </p:txBody>
          </p:sp>
        </p:grpSp>
        <p:grpSp>
          <p:nvGrpSpPr>
            <p:cNvPr id="24" name="Group 23">
              <a:extLst>
                <a:ext uri="{FF2B5EF4-FFF2-40B4-BE49-F238E27FC236}">
                  <a16:creationId xmlns:a16="http://schemas.microsoft.com/office/drawing/2014/main" id="{CC1A74B9-D14B-4176-0A27-3A3E5298720F}"/>
                </a:ext>
              </a:extLst>
            </p:cNvPr>
            <p:cNvGrpSpPr/>
            <p:nvPr/>
          </p:nvGrpSpPr>
          <p:grpSpPr>
            <a:xfrm>
              <a:off x="6001899" y="1639227"/>
              <a:ext cx="2895115" cy="1534685"/>
              <a:chOff x="5914348" y="2099957"/>
              <a:chExt cx="2895115" cy="1534685"/>
            </a:xfrm>
          </p:grpSpPr>
          <p:sp>
            <p:nvSpPr>
              <p:cNvPr id="21" name="TextBox 20">
                <a:extLst>
                  <a:ext uri="{FF2B5EF4-FFF2-40B4-BE49-F238E27FC236}">
                    <a16:creationId xmlns:a16="http://schemas.microsoft.com/office/drawing/2014/main" id="{2D957C80-DA5E-BA0A-041A-4D60768DD46F}"/>
                  </a:ext>
                </a:extLst>
              </p:cNvPr>
              <p:cNvSpPr txBox="1"/>
              <p:nvPr/>
            </p:nvSpPr>
            <p:spPr>
              <a:xfrm>
                <a:off x="5914348" y="2099957"/>
                <a:ext cx="2839081" cy="246221"/>
              </a:xfrm>
              <a:prstGeom prst="rect">
                <a:avLst/>
              </a:prstGeom>
              <a:solidFill>
                <a:srgbClr val="FFFFFF"/>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Heebo" pitchFamily="2" charset="-79"/>
                    <a:cs typeface="Heebo" pitchFamily="2" charset="-79"/>
                  </a:rPr>
                  <a:t>Applying for a work permit as a PR applicant:</a:t>
                </a:r>
              </a:p>
            </p:txBody>
          </p:sp>
          <p:pic>
            <p:nvPicPr>
              <p:cNvPr id="23" name="Picture 22">
                <a:extLst>
                  <a:ext uri="{FF2B5EF4-FFF2-40B4-BE49-F238E27FC236}">
                    <a16:creationId xmlns:a16="http://schemas.microsoft.com/office/drawing/2014/main" id="{AE517D2A-1E83-ABF0-A245-0CC122C6B90B}"/>
                  </a:ext>
                </a:extLst>
              </p:cNvPr>
              <p:cNvPicPr>
                <a:picLocks noChangeAspect="1"/>
              </p:cNvPicPr>
              <p:nvPr/>
            </p:nvPicPr>
            <p:blipFill>
              <a:blip r:embed="rId5"/>
              <a:stretch>
                <a:fillRect/>
              </a:stretch>
            </p:blipFill>
            <p:spPr>
              <a:xfrm>
                <a:off x="5914348" y="2346178"/>
                <a:ext cx="2895115" cy="1288464"/>
              </a:xfrm>
              <a:prstGeom prst="rect">
                <a:avLst/>
              </a:prstGeom>
              <a:effectLst>
                <a:outerShdw blurRad="50800" dist="38100" dir="2700000" algn="tl" rotWithShape="0">
                  <a:prstClr val="black">
                    <a:alpha val="40000"/>
                  </a:prstClr>
                </a:outerShdw>
              </a:effectLst>
            </p:spPr>
          </p:pic>
        </p:grpSp>
      </p:grpSp>
    </p:spTree>
    <p:extLst>
      <p:ext uri="{BB962C8B-B14F-4D97-AF65-F5344CB8AC3E}">
        <p14:creationId xmlns:p14="http://schemas.microsoft.com/office/powerpoint/2010/main" val="3876434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78608623-0041-4C99-835B-3AA9833E6501}"/>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16192849-196C-A1E6-F0FE-78A74BC2F3A8}"/>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sz="2000"/>
              <a:t>Web band aids: Trying to help users find their account</a:t>
            </a:r>
            <a:endParaRPr lang="en-US" sz="2000"/>
          </a:p>
        </p:txBody>
      </p:sp>
      <p:sp>
        <p:nvSpPr>
          <p:cNvPr id="4" name="Text Placeholder 2">
            <a:extLst>
              <a:ext uri="{FF2B5EF4-FFF2-40B4-BE49-F238E27FC236}">
                <a16:creationId xmlns:a16="http://schemas.microsoft.com/office/drawing/2014/main" id="{FDA14A95-06BA-7710-9E9B-A55E32C403C9}"/>
              </a:ext>
            </a:extLst>
          </p:cNvPr>
          <p:cNvSpPr txBox="1">
            <a:spLocks/>
          </p:cNvSpPr>
          <p:nvPr/>
        </p:nvSpPr>
        <p:spPr>
          <a:xfrm>
            <a:off x="311700" y="851359"/>
            <a:ext cx="8457300" cy="572700"/>
          </a:xfrm>
          <a:prstGeom prst="rect">
            <a:avLst/>
          </a:prstGeom>
          <a:noFill/>
          <a:ln w="19050">
            <a:noFill/>
          </a:ln>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solidFill>
                  <a:schemeClr val="tx1"/>
                </a:solidFill>
              </a:rPr>
              <a:t>For some lines of business, we can’t easily point users to the account they used. With it being possible to apply in multiple accounts (across an entire LOB, and even for one application alone), </a:t>
            </a:r>
            <a:r>
              <a:rPr lang="en-US" sz="1200" b="1">
                <a:solidFill>
                  <a:schemeClr val="tx1"/>
                </a:solidFill>
              </a:rPr>
              <a:t>we just don’t know</a:t>
            </a:r>
            <a:r>
              <a:rPr lang="en-US" sz="1200">
                <a:solidFill>
                  <a:schemeClr val="tx1"/>
                </a:solidFill>
              </a:rPr>
              <a:t>.</a:t>
            </a:r>
            <a:endParaRPr lang="en-US" sz="1200"/>
          </a:p>
        </p:txBody>
      </p:sp>
      <p:sp>
        <p:nvSpPr>
          <p:cNvPr id="10" name="Text Placeholder 2">
            <a:extLst>
              <a:ext uri="{FF2B5EF4-FFF2-40B4-BE49-F238E27FC236}">
                <a16:creationId xmlns:a16="http://schemas.microsoft.com/office/drawing/2014/main" id="{1776E6CA-FDEF-0B9F-96B1-77E0D754DC03}"/>
              </a:ext>
            </a:extLst>
          </p:cNvPr>
          <p:cNvSpPr txBox="1">
            <a:spLocks/>
          </p:cNvSpPr>
          <p:nvPr/>
        </p:nvSpPr>
        <p:spPr>
          <a:xfrm>
            <a:off x="374100" y="3950142"/>
            <a:ext cx="6458700" cy="683997"/>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lnSpc>
                <a:spcPct val="114999"/>
              </a:lnSpc>
              <a:buNone/>
            </a:pPr>
            <a:r>
              <a:rPr lang="en-US" sz="1200" b="1">
                <a:solidFill>
                  <a:schemeClr val="tx1"/>
                </a:solidFill>
              </a:rPr>
              <a:t>Multiple accounts hurt user trust and increase cognitive load. </a:t>
            </a:r>
            <a:r>
              <a:rPr lang="en-US" sz="1200">
                <a:solidFill>
                  <a:schemeClr val="tx1"/>
                </a:solidFill>
              </a:rPr>
              <a:t>We need to prioritize integrating entire LOBs into the CXP to reduce this burden on users.</a:t>
            </a:r>
          </a:p>
        </p:txBody>
      </p:sp>
      <p:grpSp>
        <p:nvGrpSpPr>
          <p:cNvPr id="22" name="Group 21">
            <a:extLst>
              <a:ext uri="{FF2B5EF4-FFF2-40B4-BE49-F238E27FC236}">
                <a16:creationId xmlns:a16="http://schemas.microsoft.com/office/drawing/2014/main" id="{734BDC04-8F2E-EB7C-0F4C-8E63F18AC56C}"/>
              </a:ext>
            </a:extLst>
          </p:cNvPr>
          <p:cNvGrpSpPr/>
          <p:nvPr/>
        </p:nvGrpSpPr>
        <p:grpSpPr>
          <a:xfrm>
            <a:off x="374100" y="1540319"/>
            <a:ext cx="4681457" cy="2211824"/>
            <a:chOff x="3894700" y="1128977"/>
            <a:chExt cx="4681457" cy="2211824"/>
          </a:xfrm>
        </p:grpSpPr>
        <p:grpSp>
          <p:nvGrpSpPr>
            <p:cNvPr id="20" name="Group 19">
              <a:extLst>
                <a:ext uri="{FF2B5EF4-FFF2-40B4-BE49-F238E27FC236}">
                  <a16:creationId xmlns:a16="http://schemas.microsoft.com/office/drawing/2014/main" id="{19B2D9DE-AD1F-A26C-D493-C7917D7FDB01}"/>
                </a:ext>
              </a:extLst>
            </p:cNvPr>
            <p:cNvGrpSpPr/>
            <p:nvPr/>
          </p:nvGrpSpPr>
          <p:grpSpPr>
            <a:xfrm>
              <a:off x="3894700" y="1375199"/>
              <a:ext cx="4681457" cy="1965602"/>
              <a:chOff x="3442839" y="1072799"/>
              <a:chExt cx="5195900" cy="2181601"/>
            </a:xfrm>
          </p:grpSpPr>
          <p:pic>
            <p:nvPicPr>
              <p:cNvPr id="3" name="Picture 2">
                <a:extLst>
                  <a:ext uri="{FF2B5EF4-FFF2-40B4-BE49-F238E27FC236}">
                    <a16:creationId xmlns:a16="http://schemas.microsoft.com/office/drawing/2014/main" id="{38A9F1CC-BA01-390B-9E20-38DA4AD7F607}"/>
                  </a:ext>
                </a:extLst>
              </p:cNvPr>
              <p:cNvPicPr>
                <a:picLocks noChangeAspect="1"/>
              </p:cNvPicPr>
              <p:nvPr/>
            </p:nvPicPr>
            <p:blipFill>
              <a:blip r:embed="rId3"/>
              <a:stretch>
                <a:fillRect/>
              </a:stretch>
            </p:blipFill>
            <p:spPr>
              <a:xfrm>
                <a:off x="3442839" y="1072799"/>
                <a:ext cx="2979516" cy="2181601"/>
              </a:xfrm>
              <a:prstGeom prst="rect">
                <a:avLst/>
              </a:prstGeom>
              <a:effectLst>
                <a:outerShdw blurRad="50800" dist="38100" dir="2700000" algn="tl" rotWithShape="0">
                  <a:prstClr val="black">
                    <a:alpha val="40000"/>
                  </a:prstClr>
                </a:outerShdw>
              </a:effectLst>
            </p:spPr>
          </p:pic>
          <p:pic>
            <p:nvPicPr>
              <p:cNvPr id="7" name="Picture 6">
                <a:extLst>
                  <a:ext uri="{FF2B5EF4-FFF2-40B4-BE49-F238E27FC236}">
                    <a16:creationId xmlns:a16="http://schemas.microsoft.com/office/drawing/2014/main" id="{EC7448D9-F6C9-1B96-CAFA-4B2D13C508A8}"/>
                  </a:ext>
                </a:extLst>
              </p:cNvPr>
              <p:cNvPicPr>
                <a:picLocks noChangeAspect="1"/>
              </p:cNvPicPr>
              <p:nvPr/>
            </p:nvPicPr>
            <p:blipFill>
              <a:blip r:embed="rId4"/>
              <a:stretch>
                <a:fillRect/>
              </a:stretch>
            </p:blipFill>
            <p:spPr>
              <a:xfrm>
                <a:off x="6131977" y="1466153"/>
                <a:ext cx="2506762" cy="1394892"/>
              </a:xfrm>
              <a:prstGeom prst="rect">
                <a:avLst/>
              </a:prstGeom>
              <a:effectLst>
                <a:outerShdw blurRad="50800" dist="38100" dir="2700000" algn="tl" rotWithShape="0">
                  <a:prstClr val="black">
                    <a:alpha val="40000"/>
                  </a:prstClr>
                </a:outerShdw>
              </a:effectLst>
            </p:spPr>
          </p:pic>
          <p:cxnSp>
            <p:nvCxnSpPr>
              <p:cNvPr id="9" name="Straight Arrow Connector 8">
                <a:extLst>
                  <a:ext uri="{FF2B5EF4-FFF2-40B4-BE49-F238E27FC236}">
                    <a16:creationId xmlns:a16="http://schemas.microsoft.com/office/drawing/2014/main" id="{15FD3FB9-7415-0FC6-66CC-26A8D57DE769}"/>
                  </a:ext>
                </a:extLst>
              </p:cNvPr>
              <p:cNvCxnSpPr>
                <a:cxnSpLocks/>
              </p:cNvCxnSpPr>
              <p:nvPr/>
            </p:nvCxnSpPr>
            <p:spPr>
              <a:xfrm flipV="1">
                <a:off x="4622400" y="2462400"/>
                <a:ext cx="1656000" cy="61920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50B99F6-0354-96B2-EB8A-F4E275C83139}"/>
                </a:ext>
              </a:extLst>
            </p:cNvPr>
            <p:cNvSpPr txBox="1"/>
            <p:nvPr/>
          </p:nvSpPr>
          <p:spPr>
            <a:xfrm>
              <a:off x="3894700" y="1128977"/>
              <a:ext cx="4681457" cy="246221"/>
            </a:xfrm>
            <a:prstGeom prst="rect">
              <a:avLst/>
            </a:prstGeom>
            <a:noFill/>
          </p:spPr>
          <p:txBody>
            <a:bodyPr wrap="square" rtlCol="0">
              <a:spAutoFit/>
            </a:bodyPr>
            <a:lstStyle/>
            <a:p>
              <a:r>
                <a:rPr lang="en-CA" sz="1000" b="1">
                  <a:latin typeface="Heebo" pitchFamily="2" charset="-79"/>
                  <a:cs typeface="Heebo" pitchFamily="2" charset="-79"/>
                </a:rPr>
                <a:t>Visitor visa: 3 accounts possible, no way to know exactly which was used </a:t>
              </a:r>
            </a:p>
          </p:txBody>
        </p:sp>
      </p:grpSp>
      <p:grpSp>
        <p:nvGrpSpPr>
          <p:cNvPr id="16" name="Group 15">
            <a:extLst>
              <a:ext uri="{FF2B5EF4-FFF2-40B4-BE49-F238E27FC236}">
                <a16:creationId xmlns:a16="http://schemas.microsoft.com/office/drawing/2014/main" id="{3E3954CB-DC1C-A4ED-AB6C-3A5FAE983801}"/>
              </a:ext>
            </a:extLst>
          </p:cNvPr>
          <p:cNvGrpSpPr/>
          <p:nvPr/>
        </p:nvGrpSpPr>
        <p:grpSpPr>
          <a:xfrm>
            <a:off x="5256000" y="1544836"/>
            <a:ext cx="3765600" cy="2856458"/>
            <a:chOff x="5256000" y="1420522"/>
            <a:chExt cx="3765600" cy="2856458"/>
          </a:xfrm>
        </p:grpSpPr>
        <p:grpSp>
          <p:nvGrpSpPr>
            <p:cNvPr id="15" name="Group 14">
              <a:extLst>
                <a:ext uri="{FF2B5EF4-FFF2-40B4-BE49-F238E27FC236}">
                  <a16:creationId xmlns:a16="http://schemas.microsoft.com/office/drawing/2014/main" id="{047CA419-0ADB-5E2F-7431-106918B0215C}"/>
                </a:ext>
              </a:extLst>
            </p:cNvPr>
            <p:cNvGrpSpPr/>
            <p:nvPr/>
          </p:nvGrpSpPr>
          <p:grpSpPr>
            <a:xfrm>
              <a:off x="5256000" y="1822215"/>
              <a:ext cx="3765600" cy="2454765"/>
              <a:chOff x="5256000" y="1781510"/>
              <a:chExt cx="3765600" cy="2454765"/>
            </a:xfrm>
          </p:grpSpPr>
          <p:pic>
            <p:nvPicPr>
              <p:cNvPr id="8" name="Picture 7">
                <a:extLst>
                  <a:ext uri="{FF2B5EF4-FFF2-40B4-BE49-F238E27FC236}">
                    <a16:creationId xmlns:a16="http://schemas.microsoft.com/office/drawing/2014/main" id="{15079FC1-8050-3B93-8FBB-3AFBDD08B232}"/>
                  </a:ext>
                </a:extLst>
              </p:cNvPr>
              <p:cNvPicPr>
                <a:picLocks noChangeAspect="1"/>
              </p:cNvPicPr>
              <p:nvPr/>
            </p:nvPicPr>
            <p:blipFill>
              <a:blip r:embed="rId5"/>
              <a:stretch>
                <a:fillRect/>
              </a:stretch>
            </p:blipFill>
            <p:spPr>
              <a:xfrm>
                <a:off x="5256000" y="1781510"/>
                <a:ext cx="3340800" cy="1476835"/>
              </a:xfrm>
              <a:prstGeom prst="rect">
                <a:avLst/>
              </a:prstGeom>
              <a:effectLst>
                <a:outerShdw blurRad="50800" dist="38100" dir="2700000" algn="tl" rotWithShape="0">
                  <a:prstClr val="black">
                    <a:alpha val="40000"/>
                  </a:prstClr>
                </a:outerShdw>
              </a:effectLst>
            </p:spPr>
          </p:pic>
          <p:pic>
            <p:nvPicPr>
              <p:cNvPr id="5" name="Picture 4">
                <a:extLst>
                  <a:ext uri="{FF2B5EF4-FFF2-40B4-BE49-F238E27FC236}">
                    <a16:creationId xmlns:a16="http://schemas.microsoft.com/office/drawing/2014/main" id="{A77705EC-9594-6B08-DE5C-B5E255674DF5}"/>
                  </a:ext>
                </a:extLst>
              </p:cNvPr>
              <p:cNvPicPr>
                <a:picLocks noChangeAspect="1"/>
              </p:cNvPicPr>
              <p:nvPr/>
            </p:nvPicPr>
            <p:blipFill>
              <a:blip r:embed="rId6"/>
              <a:srcRect r="7819"/>
              <a:stretch/>
            </p:blipFill>
            <p:spPr>
              <a:xfrm>
                <a:off x="6976800" y="2759440"/>
                <a:ext cx="2044800" cy="1476835"/>
              </a:xfrm>
              <a:prstGeom prst="rect">
                <a:avLst/>
              </a:prstGeom>
              <a:effectLst>
                <a:outerShdw blurRad="50800" dist="38100" dir="2700000" algn="tl" rotWithShape="0">
                  <a:prstClr val="black">
                    <a:alpha val="40000"/>
                  </a:prstClr>
                </a:outerShdw>
              </a:effectLst>
            </p:spPr>
          </p:pic>
          <p:cxnSp>
            <p:nvCxnSpPr>
              <p:cNvPr id="11" name="Straight Arrow Connector 10">
                <a:extLst>
                  <a:ext uri="{FF2B5EF4-FFF2-40B4-BE49-F238E27FC236}">
                    <a16:creationId xmlns:a16="http://schemas.microsoft.com/office/drawing/2014/main" id="{79E64A10-F4A2-CE30-79CC-4BA9612760FD}"/>
                  </a:ext>
                </a:extLst>
              </p:cNvPr>
              <p:cNvCxnSpPr>
                <a:cxnSpLocks/>
              </p:cNvCxnSpPr>
              <p:nvPr/>
            </p:nvCxnSpPr>
            <p:spPr>
              <a:xfrm>
                <a:off x="6717600" y="3030978"/>
                <a:ext cx="259200" cy="108222"/>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14" name="TextBox 13">
              <a:extLst>
                <a:ext uri="{FF2B5EF4-FFF2-40B4-BE49-F238E27FC236}">
                  <a16:creationId xmlns:a16="http://schemas.microsoft.com/office/drawing/2014/main" id="{1CB96EF9-F3B9-25A0-55C6-CF6446298928}"/>
                </a:ext>
              </a:extLst>
            </p:cNvPr>
            <p:cNvSpPr txBox="1"/>
            <p:nvPr/>
          </p:nvSpPr>
          <p:spPr>
            <a:xfrm>
              <a:off x="5256000" y="1420522"/>
              <a:ext cx="3765600" cy="400110"/>
            </a:xfrm>
            <a:prstGeom prst="rect">
              <a:avLst/>
            </a:prstGeom>
            <a:noFill/>
          </p:spPr>
          <p:txBody>
            <a:bodyPr wrap="square" rtlCol="0">
              <a:spAutoFit/>
            </a:bodyPr>
            <a:lstStyle/>
            <a:p>
              <a:r>
                <a:rPr lang="en-CA" sz="1000" b="1">
                  <a:latin typeface="Heebo" pitchFamily="2" charset="-79"/>
                  <a:cs typeface="Heebo" pitchFamily="2" charset="-79"/>
                </a:rPr>
                <a:t>Visiting Canada: Account possibilities change depending on what they applied for </a:t>
              </a:r>
            </a:p>
          </p:txBody>
        </p:sp>
      </p:grpSp>
      <p:cxnSp>
        <p:nvCxnSpPr>
          <p:cNvPr id="17" name="Straight Connector 16">
            <a:extLst>
              <a:ext uri="{FF2B5EF4-FFF2-40B4-BE49-F238E27FC236}">
                <a16:creationId xmlns:a16="http://schemas.microsoft.com/office/drawing/2014/main" id="{B5411066-3A04-5ADE-84B3-B6513A2C48AE}"/>
              </a:ext>
            </a:extLst>
          </p:cNvPr>
          <p:cNvCxnSpPr>
            <a:cxnSpLocks/>
          </p:cNvCxnSpPr>
          <p:nvPr/>
        </p:nvCxnSpPr>
        <p:spPr>
          <a:xfrm>
            <a:off x="1694543" y="1431259"/>
            <a:ext cx="575491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52713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D45D587E-790C-0B0B-EE5B-DB167F8B060B}"/>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94576F94-5422-9D5C-35CA-C6C2F42AADEF}"/>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sz="2000"/>
              <a:t>Web band aids: Users try to find where to check their status</a:t>
            </a:r>
            <a:endParaRPr lang="en-US" sz="2000"/>
          </a:p>
        </p:txBody>
      </p:sp>
      <p:sp>
        <p:nvSpPr>
          <p:cNvPr id="4" name="Text Placeholder 2">
            <a:extLst>
              <a:ext uri="{FF2B5EF4-FFF2-40B4-BE49-F238E27FC236}">
                <a16:creationId xmlns:a16="http://schemas.microsoft.com/office/drawing/2014/main" id="{72624FFE-7CB0-8B5A-94A8-B2DD5996B0B4}"/>
              </a:ext>
            </a:extLst>
          </p:cNvPr>
          <p:cNvSpPr txBox="1">
            <a:spLocks/>
          </p:cNvSpPr>
          <p:nvPr/>
        </p:nvSpPr>
        <p:spPr>
          <a:xfrm>
            <a:off x="311700" y="851359"/>
            <a:ext cx="8457300" cy="572700"/>
          </a:xfrm>
          <a:prstGeom prst="rect">
            <a:avLst/>
          </a:prstGeom>
          <a:noFill/>
          <a:ln w="19050">
            <a:noFill/>
          </a:ln>
          <a:effectLst/>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solidFill>
                  <a:schemeClr val="tx1"/>
                </a:solidFill>
              </a:rPr>
              <a:t>Many lines of business now offer multiple places to check application status. Sometimes the user’s account is an option. Sometimes they can also use an entirely different account. Sometimes their original account isn’t even an option.</a:t>
            </a:r>
            <a:endParaRPr lang="en-US" sz="1200"/>
          </a:p>
        </p:txBody>
      </p:sp>
      <p:sp>
        <p:nvSpPr>
          <p:cNvPr id="10" name="Text Placeholder 2">
            <a:extLst>
              <a:ext uri="{FF2B5EF4-FFF2-40B4-BE49-F238E27FC236}">
                <a16:creationId xmlns:a16="http://schemas.microsoft.com/office/drawing/2014/main" id="{E5506682-0CB3-CEB9-107D-B0EB1408ABD6}"/>
              </a:ext>
            </a:extLst>
          </p:cNvPr>
          <p:cNvSpPr txBox="1">
            <a:spLocks/>
          </p:cNvSpPr>
          <p:nvPr/>
        </p:nvSpPr>
        <p:spPr>
          <a:xfrm>
            <a:off x="374099" y="4154403"/>
            <a:ext cx="7075358" cy="779268"/>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lnSpc>
                <a:spcPct val="114999"/>
              </a:lnSpc>
              <a:buNone/>
            </a:pPr>
            <a:r>
              <a:rPr lang="en-US" sz="1200" b="1">
                <a:solidFill>
                  <a:schemeClr val="tx1"/>
                </a:solidFill>
              </a:rPr>
              <a:t>Multiple options and no clear idea why one account has something more or different than another.</a:t>
            </a:r>
          </a:p>
          <a:p>
            <a:pPr marL="127000" indent="0">
              <a:lnSpc>
                <a:spcPct val="114999"/>
              </a:lnSpc>
              <a:buNone/>
            </a:pPr>
            <a:r>
              <a:rPr lang="en-US" sz="1200">
                <a:solidFill>
                  <a:schemeClr val="tx1"/>
                </a:solidFill>
              </a:rPr>
              <a:t>Which to use: the account you used to apply (if it’s an option), a new account that maybe offers something more, or a different new account with daily updates? Or both? Or all three?</a:t>
            </a:r>
          </a:p>
        </p:txBody>
      </p:sp>
      <p:grpSp>
        <p:nvGrpSpPr>
          <p:cNvPr id="26" name="Group 25">
            <a:extLst>
              <a:ext uri="{FF2B5EF4-FFF2-40B4-BE49-F238E27FC236}">
                <a16:creationId xmlns:a16="http://schemas.microsoft.com/office/drawing/2014/main" id="{042236B7-3743-DED0-F5A4-66EAF71EBBC2}"/>
              </a:ext>
            </a:extLst>
          </p:cNvPr>
          <p:cNvGrpSpPr/>
          <p:nvPr/>
        </p:nvGrpSpPr>
        <p:grpSpPr>
          <a:xfrm>
            <a:off x="110400" y="1627393"/>
            <a:ext cx="2644077" cy="2382212"/>
            <a:chOff x="5850473" y="1438413"/>
            <a:chExt cx="2835477" cy="2558126"/>
          </a:xfrm>
        </p:grpSpPr>
        <p:pic>
          <p:nvPicPr>
            <p:cNvPr id="24" name="Picture 23">
              <a:extLst>
                <a:ext uri="{FF2B5EF4-FFF2-40B4-BE49-F238E27FC236}">
                  <a16:creationId xmlns:a16="http://schemas.microsoft.com/office/drawing/2014/main" id="{71E8FF7E-6B15-DB4B-DAA7-EAFF8A2635DB}"/>
                </a:ext>
              </a:extLst>
            </p:cNvPr>
            <p:cNvPicPr>
              <a:picLocks noChangeAspect="1"/>
            </p:cNvPicPr>
            <p:nvPr/>
          </p:nvPicPr>
          <p:blipFill>
            <a:blip r:embed="rId3"/>
            <a:srcRect b="10820"/>
            <a:stretch/>
          </p:blipFill>
          <p:spPr>
            <a:xfrm>
              <a:off x="5850473" y="1868484"/>
              <a:ext cx="2835477" cy="2128055"/>
            </a:xfrm>
            <a:prstGeom prst="rect">
              <a:avLst/>
            </a:prstGeom>
            <a:effectLst>
              <a:outerShdw blurRad="50800" dist="38100" dir="2700000" algn="tl" rotWithShape="0">
                <a:prstClr val="black">
                  <a:alpha val="40000"/>
                </a:prstClr>
              </a:outerShdw>
            </a:effectLst>
          </p:spPr>
        </p:pic>
        <p:sp>
          <p:nvSpPr>
            <p:cNvPr id="25" name="TextBox 24">
              <a:extLst>
                <a:ext uri="{FF2B5EF4-FFF2-40B4-BE49-F238E27FC236}">
                  <a16:creationId xmlns:a16="http://schemas.microsoft.com/office/drawing/2014/main" id="{87800DFC-5AF8-852C-3225-296C939BE00A}"/>
                </a:ext>
              </a:extLst>
            </p:cNvPr>
            <p:cNvSpPr txBox="1"/>
            <p:nvPr/>
          </p:nvSpPr>
          <p:spPr>
            <a:xfrm>
              <a:off x="5850473" y="1438413"/>
              <a:ext cx="2835477" cy="429656"/>
            </a:xfrm>
            <a:prstGeom prst="rect">
              <a:avLst/>
            </a:prstGeom>
            <a:noFill/>
          </p:spPr>
          <p:txBody>
            <a:bodyPr wrap="square" rtlCol="0">
              <a:spAutoFit/>
            </a:bodyPr>
            <a:lstStyle/>
            <a:p>
              <a:r>
                <a:rPr lang="en-CA" sz="1000" b="1">
                  <a:latin typeface="Heebo" pitchFamily="2" charset="-79"/>
                  <a:cs typeface="Heebo" pitchFamily="2" charset="-79"/>
                </a:rPr>
                <a:t>Visitor visa: 4 accounts, with varying levels of details shared</a:t>
              </a:r>
            </a:p>
          </p:txBody>
        </p:sp>
      </p:grpSp>
      <p:cxnSp>
        <p:nvCxnSpPr>
          <p:cNvPr id="27" name="Straight Connector 26">
            <a:extLst>
              <a:ext uri="{FF2B5EF4-FFF2-40B4-BE49-F238E27FC236}">
                <a16:creationId xmlns:a16="http://schemas.microsoft.com/office/drawing/2014/main" id="{DCF4A916-4673-603A-9FFA-DFE9694C550D}"/>
              </a:ext>
            </a:extLst>
          </p:cNvPr>
          <p:cNvCxnSpPr>
            <a:cxnSpLocks/>
          </p:cNvCxnSpPr>
          <p:nvPr/>
        </p:nvCxnSpPr>
        <p:spPr>
          <a:xfrm>
            <a:off x="1694543" y="1503259"/>
            <a:ext cx="5754914" cy="0"/>
          </a:xfrm>
          <a:prstGeom prst="line">
            <a:avLst/>
          </a:prstGeom>
          <a:ln w="19050">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31" name="Group 30">
            <a:extLst>
              <a:ext uri="{FF2B5EF4-FFF2-40B4-BE49-F238E27FC236}">
                <a16:creationId xmlns:a16="http://schemas.microsoft.com/office/drawing/2014/main" id="{DF85683A-088E-B59E-3F38-D3772165930D}"/>
              </a:ext>
            </a:extLst>
          </p:cNvPr>
          <p:cNvGrpSpPr/>
          <p:nvPr/>
        </p:nvGrpSpPr>
        <p:grpSpPr>
          <a:xfrm>
            <a:off x="2961829" y="1627393"/>
            <a:ext cx="2834439" cy="1970128"/>
            <a:chOff x="3537561" y="1757549"/>
            <a:chExt cx="2834439" cy="1970128"/>
          </a:xfrm>
        </p:grpSpPr>
        <p:pic>
          <p:nvPicPr>
            <p:cNvPr id="29" name="Picture 28">
              <a:extLst>
                <a:ext uri="{FF2B5EF4-FFF2-40B4-BE49-F238E27FC236}">
                  <a16:creationId xmlns:a16="http://schemas.microsoft.com/office/drawing/2014/main" id="{1AC727C9-11B5-7319-9202-5AAE697CF917}"/>
                </a:ext>
              </a:extLst>
            </p:cNvPr>
            <p:cNvPicPr>
              <a:picLocks noChangeAspect="1"/>
            </p:cNvPicPr>
            <p:nvPr/>
          </p:nvPicPr>
          <p:blipFill>
            <a:blip r:embed="rId4"/>
            <a:stretch>
              <a:fillRect/>
            </a:stretch>
          </p:blipFill>
          <p:spPr>
            <a:xfrm>
              <a:off x="3537561" y="2163040"/>
              <a:ext cx="2834439" cy="1564637"/>
            </a:xfrm>
            <a:prstGeom prst="rect">
              <a:avLst/>
            </a:prstGeom>
            <a:effectLst>
              <a:outerShdw blurRad="50800" dist="38100" dir="2700000" algn="tl" rotWithShape="0">
                <a:prstClr val="black">
                  <a:alpha val="40000"/>
                </a:prstClr>
              </a:outerShdw>
            </a:effectLst>
          </p:spPr>
        </p:pic>
        <p:sp>
          <p:nvSpPr>
            <p:cNvPr id="30" name="TextBox 29">
              <a:extLst>
                <a:ext uri="{FF2B5EF4-FFF2-40B4-BE49-F238E27FC236}">
                  <a16:creationId xmlns:a16="http://schemas.microsoft.com/office/drawing/2014/main" id="{9A00F869-39E8-6FDE-BD6F-42079169523C}"/>
                </a:ext>
              </a:extLst>
            </p:cNvPr>
            <p:cNvSpPr txBox="1"/>
            <p:nvPr/>
          </p:nvSpPr>
          <p:spPr>
            <a:xfrm>
              <a:off x="3537561" y="1757549"/>
              <a:ext cx="2834439" cy="400110"/>
            </a:xfrm>
            <a:prstGeom prst="rect">
              <a:avLst/>
            </a:prstGeom>
            <a:noFill/>
          </p:spPr>
          <p:txBody>
            <a:bodyPr wrap="square" rtlCol="0">
              <a:spAutoFit/>
            </a:bodyPr>
            <a:lstStyle/>
            <a:p>
              <a:r>
                <a:rPr lang="en-CA" sz="1000" b="1">
                  <a:latin typeface="Heebo" pitchFamily="2" charset="-79"/>
                  <a:cs typeface="Heebo" pitchFamily="2" charset="-79"/>
                </a:rPr>
                <a:t>Express Entry: 2 accounts, but not the one they applied in (which is also an option)</a:t>
              </a:r>
            </a:p>
          </p:txBody>
        </p:sp>
      </p:grpSp>
      <p:grpSp>
        <p:nvGrpSpPr>
          <p:cNvPr id="35" name="Group 34">
            <a:extLst>
              <a:ext uri="{FF2B5EF4-FFF2-40B4-BE49-F238E27FC236}">
                <a16:creationId xmlns:a16="http://schemas.microsoft.com/office/drawing/2014/main" id="{3EAEF4FA-8826-7239-02D7-1A50A7BD8F1A}"/>
              </a:ext>
            </a:extLst>
          </p:cNvPr>
          <p:cNvGrpSpPr/>
          <p:nvPr/>
        </p:nvGrpSpPr>
        <p:grpSpPr>
          <a:xfrm>
            <a:off x="5983461" y="1627393"/>
            <a:ext cx="3021339" cy="2021512"/>
            <a:chOff x="5997861" y="1625387"/>
            <a:chExt cx="3021339" cy="2021512"/>
          </a:xfrm>
        </p:grpSpPr>
        <p:pic>
          <p:nvPicPr>
            <p:cNvPr id="33" name="Picture 32">
              <a:extLst>
                <a:ext uri="{FF2B5EF4-FFF2-40B4-BE49-F238E27FC236}">
                  <a16:creationId xmlns:a16="http://schemas.microsoft.com/office/drawing/2014/main" id="{A47C3339-AB1A-CF3D-0FE2-8176CBB5C864}"/>
                </a:ext>
              </a:extLst>
            </p:cNvPr>
            <p:cNvPicPr>
              <a:picLocks noChangeAspect="1"/>
            </p:cNvPicPr>
            <p:nvPr/>
          </p:nvPicPr>
          <p:blipFill>
            <a:blip r:embed="rId5"/>
            <a:stretch>
              <a:fillRect/>
            </a:stretch>
          </p:blipFill>
          <p:spPr>
            <a:xfrm>
              <a:off x="6018020" y="2025883"/>
              <a:ext cx="3001180" cy="1621016"/>
            </a:xfrm>
            <a:prstGeom prst="rect">
              <a:avLst/>
            </a:prstGeom>
            <a:effectLst>
              <a:outerShdw blurRad="50800" dist="38100" dir="2700000" algn="tl" rotWithShape="0">
                <a:prstClr val="black">
                  <a:alpha val="40000"/>
                </a:prstClr>
              </a:outerShdw>
            </a:effectLst>
          </p:spPr>
        </p:pic>
        <p:sp>
          <p:nvSpPr>
            <p:cNvPr id="34" name="TextBox 33">
              <a:extLst>
                <a:ext uri="{FF2B5EF4-FFF2-40B4-BE49-F238E27FC236}">
                  <a16:creationId xmlns:a16="http://schemas.microsoft.com/office/drawing/2014/main" id="{862F7055-D560-222C-02C5-50EF0DCB2BB9}"/>
                </a:ext>
              </a:extLst>
            </p:cNvPr>
            <p:cNvSpPr txBox="1"/>
            <p:nvPr/>
          </p:nvSpPr>
          <p:spPr>
            <a:xfrm>
              <a:off x="5997861" y="1625387"/>
              <a:ext cx="2834439" cy="400110"/>
            </a:xfrm>
            <a:prstGeom prst="rect">
              <a:avLst/>
            </a:prstGeom>
            <a:noFill/>
          </p:spPr>
          <p:txBody>
            <a:bodyPr wrap="square" rtlCol="0">
              <a:spAutoFit/>
            </a:bodyPr>
            <a:lstStyle/>
            <a:p>
              <a:r>
                <a:rPr lang="en-CA" sz="1000" b="1">
                  <a:latin typeface="Heebo" pitchFamily="2" charset="-79"/>
                  <a:cs typeface="Heebo" pitchFamily="2" charset="-79"/>
                </a:rPr>
                <a:t>Other PR programs: 2 accounts, but not the one they applied in (which isn’t an option)</a:t>
              </a:r>
            </a:p>
          </p:txBody>
        </p:sp>
      </p:grpSp>
    </p:spTree>
    <p:extLst>
      <p:ext uri="{BB962C8B-B14F-4D97-AF65-F5344CB8AC3E}">
        <p14:creationId xmlns:p14="http://schemas.microsoft.com/office/powerpoint/2010/main" val="25104071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2670D09E-3DBC-03D5-9E67-97E21DE9878A}"/>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87B23F7B-2DAC-0E36-6EFD-D3DE3D28872A}"/>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Internal confusion = external challenges</a:t>
            </a:r>
          </a:p>
        </p:txBody>
      </p:sp>
      <p:sp>
        <p:nvSpPr>
          <p:cNvPr id="34" name="Text Placeholder 2">
            <a:extLst>
              <a:ext uri="{FF2B5EF4-FFF2-40B4-BE49-F238E27FC236}">
                <a16:creationId xmlns:a16="http://schemas.microsoft.com/office/drawing/2014/main" id="{7E022383-DC1F-9804-5012-8595A33FAC02}"/>
              </a:ext>
            </a:extLst>
          </p:cNvPr>
          <p:cNvSpPr txBox="1">
            <a:spLocks/>
          </p:cNvSpPr>
          <p:nvPr/>
        </p:nvSpPr>
        <p:spPr>
          <a:xfrm>
            <a:off x="311699" y="1227071"/>
            <a:ext cx="7315558" cy="2626472"/>
          </a:xfrm>
          <a:prstGeom prst="rect">
            <a:avLst/>
          </a:prstGeom>
          <a:noFill/>
          <a:ln w="19050">
            <a:solidFill>
              <a:srgbClr val="600DB4"/>
            </a:solidFill>
          </a:ln>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a:lnSpc>
                <a:spcPct val="114999"/>
              </a:lnSpc>
              <a:buNone/>
            </a:pPr>
            <a:r>
              <a:rPr lang="en-US" sz="1200">
                <a:latin typeface="Heebo" pitchFamily="2" charset="-79"/>
                <a:cs typeface="Heebo" pitchFamily="2" charset="-79"/>
              </a:rPr>
              <a:t>The account sprawl creates internal confusion too.</a:t>
            </a:r>
          </a:p>
          <a:p>
            <a:pPr>
              <a:lnSpc>
                <a:spcPct val="114999"/>
              </a:lnSpc>
              <a:buNone/>
            </a:pPr>
            <a:endParaRPr lang="en-US" sz="1200">
              <a:latin typeface="Heebo" pitchFamily="2" charset="-79"/>
              <a:cs typeface="Heebo" pitchFamily="2" charset="-79"/>
            </a:endParaRPr>
          </a:p>
          <a:p>
            <a:pPr>
              <a:lnSpc>
                <a:spcPct val="114999"/>
              </a:lnSpc>
            </a:pPr>
            <a:r>
              <a:rPr lang="en-US" sz="1200" b="1">
                <a:latin typeface="Heebo" pitchFamily="2" charset="-79"/>
                <a:cs typeface="Heebo" pitchFamily="2" charset="-79"/>
              </a:rPr>
              <a:t>Ownership is unclear:</a:t>
            </a:r>
            <a:r>
              <a:rPr lang="en-US" sz="1200">
                <a:latin typeface="Heebo" pitchFamily="2" charset="-79"/>
                <a:cs typeface="Heebo" pitchFamily="2" charset="-79"/>
              </a:rPr>
              <a:t> </a:t>
            </a:r>
          </a:p>
          <a:p>
            <a:pPr indent="0">
              <a:lnSpc>
                <a:spcPct val="114999"/>
              </a:lnSpc>
              <a:buNone/>
            </a:pPr>
            <a:r>
              <a:rPr lang="en-US" sz="1200">
                <a:latin typeface="Heebo" pitchFamily="2" charset="-79"/>
                <a:cs typeface="Heebo" pitchFamily="2" charset="-79"/>
              </a:rPr>
              <a:t>It’s difficult to find out who owns an account or tool, and who to contact when there’s a problem.</a:t>
            </a:r>
          </a:p>
          <a:p>
            <a:pPr marL="127000" indent="0">
              <a:lnSpc>
                <a:spcPct val="114999"/>
              </a:lnSpc>
              <a:buNone/>
            </a:pPr>
            <a:endParaRPr lang="en-US" sz="1200">
              <a:latin typeface="Heebo" pitchFamily="2" charset="-79"/>
              <a:cs typeface="Heebo" pitchFamily="2" charset="-79"/>
            </a:endParaRPr>
          </a:p>
          <a:p>
            <a:pPr>
              <a:lnSpc>
                <a:spcPct val="114999"/>
              </a:lnSpc>
            </a:pPr>
            <a:r>
              <a:rPr lang="en-US" sz="1200" b="1">
                <a:latin typeface="Heebo" pitchFamily="2" charset="-79"/>
                <a:cs typeface="Heebo" pitchFamily="2" charset="-79"/>
              </a:rPr>
              <a:t>Capabilities are a mystery:</a:t>
            </a:r>
            <a:r>
              <a:rPr lang="en-US" sz="1200">
                <a:latin typeface="Heebo" pitchFamily="2" charset="-79"/>
                <a:cs typeface="Heebo" pitchFamily="2" charset="-79"/>
              </a:rPr>
              <a:t> </a:t>
            </a:r>
          </a:p>
          <a:p>
            <a:pPr indent="0">
              <a:lnSpc>
                <a:spcPct val="114999"/>
              </a:lnSpc>
              <a:buNone/>
            </a:pPr>
            <a:r>
              <a:rPr lang="en-US" sz="1200">
                <a:latin typeface="Heebo" pitchFamily="2" charset="-79"/>
                <a:cs typeface="Heebo" pitchFamily="2" charset="-79"/>
              </a:rPr>
              <a:t>Teams across the department don’t know or can’t consistently explain what each system does.</a:t>
            </a:r>
          </a:p>
          <a:p>
            <a:pPr marL="127000" indent="0">
              <a:lnSpc>
                <a:spcPct val="114999"/>
              </a:lnSpc>
              <a:buNone/>
            </a:pPr>
            <a:endParaRPr lang="en-US" sz="1200" b="1">
              <a:latin typeface="Heebo" pitchFamily="2" charset="-79"/>
              <a:cs typeface="Heebo" pitchFamily="2" charset="-79"/>
            </a:endParaRPr>
          </a:p>
          <a:p>
            <a:pPr>
              <a:lnSpc>
                <a:spcPct val="114999"/>
              </a:lnSpc>
            </a:pPr>
            <a:r>
              <a:rPr lang="en-US" sz="1200" b="1">
                <a:latin typeface="Heebo" pitchFamily="2" charset="-79"/>
                <a:cs typeface="Heebo" pitchFamily="2" charset="-79"/>
              </a:rPr>
              <a:t>Timelines are unknown:</a:t>
            </a:r>
            <a:r>
              <a:rPr lang="en-US" sz="1200">
                <a:latin typeface="Heebo" pitchFamily="2" charset="-79"/>
                <a:cs typeface="Heebo" pitchFamily="2" charset="-79"/>
              </a:rPr>
              <a:t> </a:t>
            </a:r>
          </a:p>
          <a:p>
            <a:pPr indent="0">
              <a:lnSpc>
                <a:spcPct val="114999"/>
              </a:lnSpc>
              <a:buNone/>
            </a:pPr>
            <a:r>
              <a:rPr lang="en-US" sz="1200">
                <a:latin typeface="Heebo" pitchFamily="2" charset="-79"/>
                <a:cs typeface="Heebo" pitchFamily="2" charset="-79"/>
              </a:rPr>
              <a:t>We don’t know how long we’ll be in this interim stage of having multiple accounts that we don’t update.</a:t>
            </a:r>
          </a:p>
        </p:txBody>
      </p:sp>
      <p:sp>
        <p:nvSpPr>
          <p:cNvPr id="2" name="Text Placeholder 2">
            <a:extLst>
              <a:ext uri="{FF2B5EF4-FFF2-40B4-BE49-F238E27FC236}">
                <a16:creationId xmlns:a16="http://schemas.microsoft.com/office/drawing/2014/main" id="{F0F105E4-E5CE-E7FA-51FA-1912532BA941}"/>
              </a:ext>
            </a:extLst>
          </p:cNvPr>
          <p:cNvSpPr txBox="1">
            <a:spLocks/>
          </p:cNvSpPr>
          <p:nvPr/>
        </p:nvSpPr>
        <p:spPr>
          <a:xfrm>
            <a:off x="311699" y="3989744"/>
            <a:ext cx="8408827" cy="464716"/>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a:lnSpc>
                <a:spcPct val="114999"/>
              </a:lnSpc>
              <a:buNone/>
            </a:pPr>
            <a:r>
              <a:rPr lang="en-US" sz="1200" b="1">
                <a:latin typeface="Heebo" pitchFamily="2" charset="-79"/>
                <a:cs typeface="Heebo" pitchFamily="2" charset="-79"/>
              </a:rPr>
              <a:t>If we can’t explain it internally, we can't explain it to users.</a:t>
            </a:r>
            <a:endParaRPr lang="en-US" sz="1200">
              <a:latin typeface="Heebo" pitchFamily="2" charset="-79"/>
              <a:cs typeface="Heebo" pitchFamily="2" charset="-79"/>
            </a:endParaRPr>
          </a:p>
        </p:txBody>
      </p:sp>
    </p:spTree>
    <p:extLst>
      <p:ext uri="{BB962C8B-B14F-4D97-AF65-F5344CB8AC3E}">
        <p14:creationId xmlns:p14="http://schemas.microsoft.com/office/powerpoint/2010/main" val="254737448"/>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091CB994-5736-8824-645E-F60EFCBF5FC0}"/>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CCB92D58-FBE6-50AB-5FF1-B1DDA1115949}"/>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The strategic path forward</a:t>
            </a:r>
          </a:p>
        </p:txBody>
      </p:sp>
      <p:sp>
        <p:nvSpPr>
          <p:cNvPr id="2" name="Text Placeholder 2">
            <a:extLst>
              <a:ext uri="{FF2B5EF4-FFF2-40B4-BE49-F238E27FC236}">
                <a16:creationId xmlns:a16="http://schemas.microsoft.com/office/drawing/2014/main" id="{3886AA4A-AECB-3319-C52A-7CEFACDBF451}"/>
              </a:ext>
            </a:extLst>
          </p:cNvPr>
          <p:cNvSpPr>
            <a:spLocks noGrp="1"/>
          </p:cNvSpPr>
          <p:nvPr>
            <p:ph type="body" idx="1"/>
          </p:nvPr>
        </p:nvSpPr>
        <p:spPr>
          <a:xfrm>
            <a:off x="311700" y="968025"/>
            <a:ext cx="8520600" cy="2459175"/>
          </a:xfrm>
        </p:spPr>
        <p:txBody>
          <a:bodyPr>
            <a:normAutofit/>
          </a:bodyPr>
          <a:lstStyle/>
          <a:p>
            <a:pPr>
              <a:buFont typeface="Wingdings" panose="05000000000000000000" pitchFamily="2" charset="2"/>
              <a:buChar char="ü"/>
            </a:pPr>
            <a:r>
              <a:rPr lang="en-US"/>
              <a:t>Complete a line of business in the CXP before expanding to new ones</a:t>
            </a:r>
          </a:p>
          <a:p>
            <a:pPr>
              <a:buFont typeface="Wingdings" panose="05000000000000000000" pitchFamily="2" charset="2"/>
              <a:buChar char="ü"/>
            </a:pPr>
            <a:endParaRPr lang="en-US"/>
          </a:p>
          <a:p>
            <a:pPr>
              <a:buFont typeface="Wingdings" panose="05000000000000000000" pitchFamily="2" charset="2"/>
              <a:buChar char="ü"/>
            </a:pPr>
            <a:r>
              <a:rPr lang="en-US"/>
              <a:t>Keep updating legacy accounts—they’re carrying the bulk of applications</a:t>
            </a:r>
          </a:p>
          <a:p>
            <a:pPr>
              <a:buFont typeface="Wingdings" panose="05000000000000000000" pitchFamily="2" charset="2"/>
              <a:buChar char="ü"/>
            </a:pPr>
            <a:endParaRPr lang="en-US"/>
          </a:p>
          <a:p>
            <a:pPr>
              <a:buFont typeface="Wingdings" panose="05000000000000000000" pitchFamily="2" charset="2"/>
              <a:buChar char="ü"/>
            </a:pPr>
            <a:r>
              <a:rPr lang="en-US"/>
              <a:t>Plan CXP program integration strategically to reduce number of accounts and systems</a:t>
            </a:r>
          </a:p>
          <a:p>
            <a:pPr>
              <a:buFont typeface="Wingdings" panose="05000000000000000000" pitchFamily="2" charset="2"/>
              <a:buChar char="ü"/>
            </a:pPr>
            <a:endParaRPr lang="en-US"/>
          </a:p>
          <a:p>
            <a:pPr>
              <a:buFont typeface="Wingdings" panose="05000000000000000000" pitchFamily="2" charset="2"/>
              <a:buChar char="ü"/>
            </a:pPr>
            <a:r>
              <a:rPr lang="en-US"/>
              <a:t>Web tools and web workarounds are not a solution to the complexity. </a:t>
            </a:r>
            <a:br>
              <a:rPr lang="en-US"/>
            </a:br>
            <a:r>
              <a:rPr lang="en-US" b="1"/>
              <a:t>Reduce the complexity itself.</a:t>
            </a:r>
          </a:p>
        </p:txBody>
      </p:sp>
      <p:sp>
        <p:nvSpPr>
          <p:cNvPr id="4" name="Text Placeholder 2">
            <a:extLst>
              <a:ext uri="{FF2B5EF4-FFF2-40B4-BE49-F238E27FC236}">
                <a16:creationId xmlns:a16="http://schemas.microsoft.com/office/drawing/2014/main" id="{5C0B7B95-12BF-DFB2-F80F-530427972B12}"/>
              </a:ext>
            </a:extLst>
          </p:cNvPr>
          <p:cNvSpPr txBox="1">
            <a:spLocks/>
          </p:cNvSpPr>
          <p:nvPr/>
        </p:nvSpPr>
        <p:spPr>
          <a:xfrm>
            <a:off x="311700" y="3954511"/>
            <a:ext cx="8408827" cy="473699"/>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b="1">
                <a:solidFill>
                  <a:schemeClr val="tx1"/>
                </a:solidFill>
              </a:rPr>
              <a:t>If we follow the current path, we'll </a:t>
            </a:r>
            <a:r>
              <a:rPr lang="en-US" sz="1200" b="1" err="1">
                <a:solidFill>
                  <a:schemeClr val="tx1"/>
                </a:solidFill>
              </a:rPr>
              <a:t>kee</a:t>
            </a:r>
            <a:r>
              <a:rPr lang="en-US" sz="1200" b="1">
                <a:solidFill>
                  <a:schemeClr val="tx1"/>
                </a:solidFill>
              </a:rPr>
              <a:t>p adding to the confusion.</a:t>
            </a:r>
          </a:p>
        </p:txBody>
      </p:sp>
    </p:spTree>
    <p:extLst>
      <p:ext uri="{BB962C8B-B14F-4D97-AF65-F5344CB8AC3E}">
        <p14:creationId xmlns:p14="http://schemas.microsoft.com/office/powerpoint/2010/main" val="3312166487"/>
      </p:ext>
    </p:extLst>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8">
          <a:extLst>
            <a:ext uri="{FF2B5EF4-FFF2-40B4-BE49-F238E27FC236}">
              <a16:creationId xmlns:a16="http://schemas.microsoft.com/office/drawing/2014/main" id="{592F3131-8A83-467B-1B33-45FE35E85C4D}"/>
            </a:ext>
          </a:extLst>
        </p:cNvPr>
        <p:cNvGrpSpPr/>
        <p:nvPr/>
      </p:nvGrpSpPr>
      <p:grpSpPr>
        <a:xfrm>
          <a:off x="0" y="0"/>
          <a:ext cx="0" cy="0"/>
          <a:chOff x="0" y="0"/>
          <a:chExt cx="0" cy="0"/>
        </a:xfrm>
      </p:grpSpPr>
      <p:sp>
        <p:nvSpPr>
          <p:cNvPr id="149" name="Google Shape;149;p26">
            <a:extLst>
              <a:ext uri="{FF2B5EF4-FFF2-40B4-BE49-F238E27FC236}">
                <a16:creationId xmlns:a16="http://schemas.microsoft.com/office/drawing/2014/main" id="{5306AF16-B84F-AF3E-FBDD-DB940D220ABD}"/>
              </a:ext>
            </a:extLst>
          </p:cNvPr>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Slide graveyard</a:t>
            </a:r>
            <a:endParaRPr/>
          </a:p>
        </p:txBody>
      </p:sp>
      <p:sp>
        <p:nvSpPr>
          <p:cNvPr id="150" name="Google Shape;150;p26">
            <a:extLst>
              <a:ext uri="{FF2B5EF4-FFF2-40B4-BE49-F238E27FC236}">
                <a16:creationId xmlns:a16="http://schemas.microsoft.com/office/drawing/2014/main" id="{CD567EAD-27A0-273C-1E16-499FD7410921}"/>
              </a:ext>
            </a:extLst>
          </p:cNvPr>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endParaRPr sz="1820"/>
          </a:p>
        </p:txBody>
      </p:sp>
    </p:spTree>
    <p:extLst>
      <p:ext uri="{BB962C8B-B14F-4D97-AF65-F5344CB8AC3E}">
        <p14:creationId xmlns:p14="http://schemas.microsoft.com/office/powerpoint/2010/main" val="16284806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CE960A33-EF1F-B4CF-7D43-00765627371B}"/>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18A881CA-10C5-DF64-0326-1C4935A5CC43}"/>
              </a:ext>
            </a:extLst>
          </p:cNvPr>
          <p:cNvPicPr>
            <a:picLocks noChangeAspect="1"/>
          </p:cNvPicPr>
          <p:nvPr/>
        </p:nvPicPr>
        <p:blipFill>
          <a:blip r:embed="rId3"/>
          <a:stretch>
            <a:fillRect/>
          </a:stretch>
        </p:blipFill>
        <p:spPr>
          <a:xfrm>
            <a:off x="3545764" y="1034807"/>
            <a:ext cx="5382236" cy="3578407"/>
          </a:xfrm>
          <a:prstGeom prst="rect">
            <a:avLst/>
          </a:prstGeom>
        </p:spPr>
      </p:pic>
      <p:sp>
        <p:nvSpPr>
          <p:cNvPr id="132" name="Google Shape;132;p23">
            <a:extLst>
              <a:ext uri="{FF2B5EF4-FFF2-40B4-BE49-F238E27FC236}">
                <a16:creationId xmlns:a16="http://schemas.microsoft.com/office/drawing/2014/main" id="{94F66294-AB7A-8356-8FD3-9101C53DE487}"/>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IRCC’s confusing web of accounts and secure spaces</a:t>
            </a:r>
          </a:p>
        </p:txBody>
      </p:sp>
      <p:sp>
        <p:nvSpPr>
          <p:cNvPr id="2" name="Text Placeholder 2">
            <a:extLst>
              <a:ext uri="{FF2B5EF4-FFF2-40B4-BE49-F238E27FC236}">
                <a16:creationId xmlns:a16="http://schemas.microsoft.com/office/drawing/2014/main" id="{BBC9FB95-E7A3-08D8-ECD7-18B405DCB858}"/>
              </a:ext>
            </a:extLst>
          </p:cNvPr>
          <p:cNvSpPr>
            <a:spLocks noGrp="1"/>
          </p:cNvSpPr>
          <p:nvPr>
            <p:ph type="body" idx="1"/>
          </p:nvPr>
        </p:nvSpPr>
        <p:spPr>
          <a:xfrm>
            <a:off x="311700" y="968024"/>
            <a:ext cx="3741900" cy="3711975"/>
          </a:xfrm>
        </p:spPr>
        <p:txBody>
          <a:bodyPr>
            <a:normAutofit lnSpcReduction="10000"/>
          </a:bodyPr>
          <a:lstStyle/>
          <a:p>
            <a:r>
              <a:rPr lang="en-US"/>
              <a:t>Too many options</a:t>
            </a:r>
          </a:p>
          <a:p>
            <a:pPr lvl="1"/>
            <a:r>
              <a:rPr lang="en-US"/>
              <a:t>10 possible accounts for users</a:t>
            </a:r>
          </a:p>
          <a:p>
            <a:pPr lvl="1"/>
            <a:r>
              <a:rPr lang="en-US"/>
              <a:t>3 accounts for reps</a:t>
            </a:r>
          </a:p>
          <a:p>
            <a:pPr lvl="1"/>
            <a:r>
              <a:rPr lang="en-US"/>
              <a:t>6 accounts for other partners</a:t>
            </a:r>
          </a:p>
          <a:p>
            <a:r>
              <a:rPr lang="en-US"/>
              <a:t>Multiple accounts possible for same task</a:t>
            </a:r>
          </a:p>
          <a:p>
            <a:r>
              <a:rPr lang="en-US"/>
              <a:t>Many application-related tasks must be completed outside of account spaces</a:t>
            </a:r>
          </a:p>
          <a:p>
            <a:r>
              <a:rPr lang="en-US"/>
              <a:t>Multiple accounts or secure tools needed to follow application from submission to decision</a:t>
            </a:r>
          </a:p>
        </p:txBody>
      </p:sp>
    </p:spTree>
    <p:extLst>
      <p:ext uri="{BB962C8B-B14F-4D97-AF65-F5344CB8AC3E}">
        <p14:creationId xmlns:p14="http://schemas.microsoft.com/office/powerpoint/2010/main" val="834015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a16="http://schemas.microsoft.com/office/drawing/2014/main" id="{972B2CDF-DB7F-F44E-2DD4-96662F897D9D}"/>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5404D061-968D-5596-0004-2AF34949F56A}"/>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Web band-aids don't solve the issue</a:t>
            </a:r>
            <a:endParaRPr lang="en-US"/>
          </a:p>
        </p:txBody>
      </p:sp>
      <p:sp>
        <p:nvSpPr>
          <p:cNvPr id="34" name="Text Placeholder 2">
            <a:extLst>
              <a:ext uri="{FF2B5EF4-FFF2-40B4-BE49-F238E27FC236}">
                <a16:creationId xmlns:a16="http://schemas.microsoft.com/office/drawing/2014/main" id="{CE8BDE7B-E649-AC53-78D8-30838D97C91F}"/>
              </a:ext>
            </a:extLst>
          </p:cNvPr>
          <p:cNvSpPr txBox="1">
            <a:spLocks/>
          </p:cNvSpPr>
          <p:nvPr/>
        </p:nvSpPr>
        <p:spPr>
          <a:xfrm>
            <a:off x="311700" y="812191"/>
            <a:ext cx="8408827" cy="1759559"/>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lnSpcReduction="1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b="1">
                <a:solidFill>
                  <a:schemeClr val="tx1"/>
                </a:solidFill>
              </a:rPr>
              <a:t>Second slide about maintenance trap where we mention?</a:t>
            </a:r>
          </a:p>
          <a:p>
            <a:r>
              <a:rPr lang="en-US" sz="1200"/>
              <a:t>non-urgent technical problems may not be resolved</a:t>
            </a:r>
          </a:p>
          <a:p>
            <a:r>
              <a:rPr lang="en-US" sz="1200"/>
              <a:t>client experience and usability updates are not considered</a:t>
            </a:r>
          </a:p>
          <a:p>
            <a:pPr marL="127000" indent="0">
              <a:buNone/>
            </a:pPr>
            <a:endParaRPr lang="en-US" sz="1200"/>
          </a:p>
          <a:p>
            <a:pPr marL="127000" indent="0">
              <a:buNone/>
            </a:pPr>
            <a:r>
              <a:rPr lang="en-US" sz="1200"/>
              <a:t>Maybe some visuals of how we communicate workarounds? Work examples below, can find PR ones and web form ones?</a:t>
            </a:r>
          </a:p>
          <a:p>
            <a:pPr marL="127000" indent="0">
              <a:buNone/>
            </a:pPr>
            <a:endParaRPr lang="en-US" sz="1200"/>
          </a:p>
          <a:p>
            <a:pPr marL="127000" indent="0">
              <a:buNone/>
            </a:pPr>
            <a:r>
              <a:rPr lang="en-US" sz="1200"/>
              <a:t>This needs a validation check to confirm what maintenance mode does look like (as with previous slide)</a:t>
            </a:r>
          </a:p>
        </p:txBody>
      </p:sp>
      <p:pic>
        <p:nvPicPr>
          <p:cNvPr id="6" name="Picture 5">
            <a:extLst>
              <a:ext uri="{FF2B5EF4-FFF2-40B4-BE49-F238E27FC236}">
                <a16:creationId xmlns:a16="http://schemas.microsoft.com/office/drawing/2014/main" id="{7DDFB2CF-BA7A-4EE8-782F-A842C4F32248}"/>
              </a:ext>
            </a:extLst>
          </p:cNvPr>
          <p:cNvPicPr>
            <a:picLocks noChangeAspect="1"/>
          </p:cNvPicPr>
          <p:nvPr/>
        </p:nvPicPr>
        <p:blipFill>
          <a:blip r:embed="rId3"/>
          <a:stretch>
            <a:fillRect/>
          </a:stretch>
        </p:blipFill>
        <p:spPr>
          <a:xfrm>
            <a:off x="6298823" y="2716073"/>
            <a:ext cx="1542661" cy="1378226"/>
          </a:xfrm>
          <a:prstGeom prst="rect">
            <a:avLst/>
          </a:prstGeom>
        </p:spPr>
      </p:pic>
      <p:pic>
        <p:nvPicPr>
          <p:cNvPr id="8" name="Picture 7">
            <a:extLst>
              <a:ext uri="{FF2B5EF4-FFF2-40B4-BE49-F238E27FC236}">
                <a16:creationId xmlns:a16="http://schemas.microsoft.com/office/drawing/2014/main" id="{FFC305DE-B875-219C-C94D-A5DD700B7B0B}"/>
              </a:ext>
            </a:extLst>
          </p:cNvPr>
          <p:cNvPicPr>
            <a:picLocks noChangeAspect="1"/>
          </p:cNvPicPr>
          <p:nvPr/>
        </p:nvPicPr>
        <p:blipFill>
          <a:blip r:embed="rId4"/>
          <a:stretch>
            <a:fillRect/>
          </a:stretch>
        </p:blipFill>
        <p:spPr>
          <a:xfrm>
            <a:off x="2472365" y="3563297"/>
            <a:ext cx="1167428" cy="1331922"/>
          </a:xfrm>
          <a:prstGeom prst="rect">
            <a:avLst/>
          </a:prstGeom>
        </p:spPr>
      </p:pic>
      <p:sp>
        <p:nvSpPr>
          <p:cNvPr id="9" name="Text Placeholder 2">
            <a:extLst>
              <a:ext uri="{FF2B5EF4-FFF2-40B4-BE49-F238E27FC236}">
                <a16:creationId xmlns:a16="http://schemas.microsoft.com/office/drawing/2014/main" id="{A19A078C-0B1F-EBDE-1F00-C828274AD8E9}"/>
              </a:ext>
            </a:extLst>
          </p:cNvPr>
          <p:cNvSpPr txBox="1">
            <a:spLocks/>
          </p:cNvSpPr>
          <p:nvPr/>
        </p:nvSpPr>
        <p:spPr>
          <a:xfrm>
            <a:off x="311699" y="2716073"/>
            <a:ext cx="2120351" cy="358432"/>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fontScale="32500" lnSpcReduction="2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hlinkClick r:id="rId5"/>
              </a:rPr>
              <a:t>https://www.canada.ca/en/immigration-refugees-citizenship/services/work-canada/special-instructions/camp-counsellor/apply.html</a:t>
            </a:r>
            <a:r>
              <a:rPr lang="en-US" sz="1200"/>
              <a:t>: </a:t>
            </a:r>
          </a:p>
        </p:txBody>
      </p:sp>
      <p:pic>
        <p:nvPicPr>
          <p:cNvPr id="4" name="Picture 3">
            <a:extLst>
              <a:ext uri="{FF2B5EF4-FFF2-40B4-BE49-F238E27FC236}">
                <a16:creationId xmlns:a16="http://schemas.microsoft.com/office/drawing/2014/main" id="{65B5BBD1-0BDA-3848-7496-7500C3A445B5}"/>
              </a:ext>
            </a:extLst>
          </p:cNvPr>
          <p:cNvPicPr>
            <a:picLocks noChangeAspect="1"/>
          </p:cNvPicPr>
          <p:nvPr/>
        </p:nvPicPr>
        <p:blipFill>
          <a:blip r:embed="rId6"/>
          <a:stretch>
            <a:fillRect/>
          </a:stretch>
        </p:blipFill>
        <p:spPr>
          <a:xfrm>
            <a:off x="2485964" y="2670307"/>
            <a:ext cx="896450" cy="841243"/>
          </a:xfrm>
          <a:prstGeom prst="rect">
            <a:avLst/>
          </a:prstGeom>
        </p:spPr>
      </p:pic>
      <p:sp>
        <p:nvSpPr>
          <p:cNvPr id="2" name="Text Placeholder 2">
            <a:extLst>
              <a:ext uri="{FF2B5EF4-FFF2-40B4-BE49-F238E27FC236}">
                <a16:creationId xmlns:a16="http://schemas.microsoft.com/office/drawing/2014/main" id="{124DA20F-F997-EE4B-505B-CFF41D2D0153}"/>
              </a:ext>
            </a:extLst>
          </p:cNvPr>
          <p:cNvSpPr txBox="1">
            <a:spLocks/>
          </p:cNvSpPr>
          <p:nvPr/>
        </p:nvSpPr>
        <p:spPr>
          <a:xfrm>
            <a:off x="4078091" y="2736540"/>
            <a:ext cx="2120351" cy="358432"/>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fontScale="32500" lnSpcReduction="2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t>https://www.canada.ca/en/immigration-refugees-citizenship/services/work-canada/special-instructions/spouses-dependent-children/apply.html: </a:t>
            </a:r>
          </a:p>
        </p:txBody>
      </p:sp>
      <p:sp>
        <p:nvSpPr>
          <p:cNvPr id="3" name="Text Placeholder 2">
            <a:extLst>
              <a:ext uri="{FF2B5EF4-FFF2-40B4-BE49-F238E27FC236}">
                <a16:creationId xmlns:a16="http://schemas.microsoft.com/office/drawing/2014/main" id="{0B3353E1-789E-A631-91C4-0134EDBCA281}"/>
              </a:ext>
            </a:extLst>
          </p:cNvPr>
          <p:cNvSpPr txBox="1">
            <a:spLocks/>
          </p:cNvSpPr>
          <p:nvPr/>
        </p:nvSpPr>
        <p:spPr>
          <a:xfrm>
            <a:off x="311698" y="3695544"/>
            <a:ext cx="2120351" cy="358432"/>
          </a:xfrm>
          <a:prstGeom prst="rect">
            <a:avLst/>
          </a:prstGeom>
          <a:solidFill>
            <a:srgbClr val="E9E5F2"/>
          </a:solidFill>
          <a:ln w="19050">
            <a:noFill/>
          </a:ln>
          <a:effectLst>
            <a:outerShdw blurRad="50800" dist="38100" dir="2700000" algn="tl" rotWithShape="0">
              <a:prstClr val="black">
                <a:alpha val="40000"/>
              </a:prstClr>
            </a:outerShdw>
          </a:effectLst>
        </p:spPr>
        <p:txBody>
          <a:bodyPr spcFirstLastPara="1" wrap="square" lIns="91425" tIns="91425" rIns="91425" bIns="91425" anchor="ctr" anchorCtr="0">
            <a:normAutofit fontScale="32500" lnSpcReduction="20000"/>
          </a:bodyPr>
          <a:lstStyle>
            <a:defPPr marR="0" lvl="0" algn="l" rtl="0">
              <a:lnSpc>
                <a:spcPct val="100000"/>
              </a:lnSpc>
              <a:spcBef>
                <a:spcPts val="0"/>
              </a:spcBef>
              <a:spcAft>
                <a:spcPts val="0"/>
              </a:spcAft>
            </a:defPPr>
            <a:lvl1pPr marL="457200" marR="0" lvl="0"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1pPr>
            <a:lvl2pPr marL="914400" marR="0" lvl="1"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2pPr>
            <a:lvl3pPr marL="1371600" marR="0" lvl="2"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3pPr>
            <a:lvl4pPr marL="1828800" marR="0" lvl="3"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4pPr>
            <a:lvl5pPr marL="2286000" marR="0" lvl="4"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5pPr>
            <a:lvl6pPr marL="2743200" marR="0" lvl="5"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6pPr>
            <a:lvl7pPr marL="3200400" marR="0" lvl="6"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7pPr>
            <a:lvl8pPr marL="3657600" marR="0" lvl="7"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8pPr>
            <a:lvl9pPr marL="4114800" marR="0" lvl="8" indent="-330200" algn="l" rtl="0">
              <a:lnSpc>
                <a:spcPct val="115000"/>
              </a:lnSpc>
              <a:spcBef>
                <a:spcPts val="0"/>
              </a:spcBef>
              <a:spcAft>
                <a:spcPts val="0"/>
              </a:spcAft>
              <a:buClr>
                <a:schemeClr val="dk1"/>
              </a:buClr>
              <a:buSzPts val="1600"/>
              <a:buFont typeface="Heebo"/>
              <a:buChar char="■"/>
              <a:defRPr sz="1600" b="0" i="0" u="none" strike="noStrike" cap="none">
                <a:solidFill>
                  <a:schemeClr val="dk1"/>
                </a:solidFill>
                <a:latin typeface="Heebo"/>
                <a:ea typeface="Heebo"/>
                <a:cs typeface="Heebo"/>
                <a:sym typeface="Heebo"/>
              </a:defRPr>
            </a:lvl9pPr>
          </a:lstStyle>
          <a:p>
            <a:pPr marL="127000" indent="0">
              <a:buNone/>
            </a:pPr>
            <a:r>
              <a:rPr lang="en-US" sz="1200"/>
              <a:t>https://www.canada.ca/en/immigration-refugees-citizenship/services/work-canada/special-instructions/quebec-investor/apply.html: </a:t>
            </a:r>
          </a:p>
        </p:txBody>
      </p:sp>
    </p:spTree>
    <p:extLst>
      <p:ext uri="{BB962C8B-B14F-4D97-AF65-F5344CB8AC3E}">
        <p14:creationId xmlns:p14="http://schemas.microsoft.com/office/powerpoint/2010/main" val="397405766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6DD5BCE2-0A14-8514-1F07-1C050B332D28}"/>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EC9A1B64-FE85-390A-A829-C4F82A2DEB51}"/>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endParaRPr lang="en"/>
          </a:p>
        </p:txBody>
      </p:sp>
      <p:grpSp>
        <p:nvGrpSpPr>
          <p:cNvPr id="5" name="Group 4">
            <a:extLst>
              <a:ext uri="{FF2B5EF4-FFF2-40B4-BE49-F238E27FC236}">
                <a16:creationId xmlns:a16="http://schemas.microsoft.com/office/drawing/2014/main" id="{A21E3FF7-7557-9637-46A7-BBF3CCA0B20D}"/>
              </a:ext>
            </a:extLst>
          </p:cNvPr>
          <p:cNvGrpSpPr/>
          <p:nvPr/>
        </p:nvGrpSpPr>
        <p:grpSpPr>
          <a:xfrm>
            <a:off x="5018156" y="1471877"/>
            <a:ext cx="3957693" cy="2607596"/>
            <a:chOff x="5104556" y="845875"/>
            <a:chExt cx="3957693" cy="2607596"/>
          </a:xfrm>
        </p:grpSpPr>
        <p:sp>
          <p:nvSpPr>
            <p:cNvPr id="6" name="Speech Bubble: Rectangle with Corners Rounded 5">
              <a:extLst>
                <a:ext uri="{FF2B5EF4-FFF2-40B4-BE49-F238E27FC236}">
                  <a16:creationId xmlns:a16="http://schemas.microsoft.com/office/drawing/2014/main" id="{D094FB06-4313-B3A9-3FE1-B2BC3E1AD36D}"/>
                </a:ext>
              </a:extLst>
            </p:cNvPr>
            <p:cNvSpPr/>
            <p:nvPr/>
          </p:nvSpPr>
          <p:spPr>
            <a:xfrm>
              <a:off x="5199872" y="2399396"/>
              <a:ext cx="1320900" cy="616219"/>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i="1">
                  <a:solidFill>
                    <a:schemeClr val="tx1"/>
                  </a:solidFill>
                </a:rPr>
                <a:t>It’s so hard to find the login portal</a:t>
              </a:r>
            </a:p>
          </p:txBody>
        </p:sp>
        <p:sp>
          <p:nvSpPr>
            <p:cNvPr id="7" name="Speech Bubble: Rectangle with Corners Rounded 6">
              <a:extLst>
                <a:ext uri="{FF2B5EF4-FFF2-40B4-BE49-F238E27FC236}">
                  <a16:creationId xmlns:a16="http://schemas.microsoft.com/office/drawing/2014/main" id="{FA42DBF1-0BF0-34E9-AE62-4F1713F91451}"/>
                </a:ext>
              </a:extLst>
            </p:cNvPr>
            <p:cNvSpPr/>
            <p:nvPr/>
          </p:nvSpPr>
          <p:spPr>
            <a:xfrm>
              <a:off x="7602449" y="2571750"/>
              <a:ext cx="1288800" cy="511200"/>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i="1">
                  <a:solidFill>
                    <a:schemeClr val="tx1"/>
                  </a:solidFill>
                </a:rPr>
                <a:t>Where is the IRCC portal sign in?</a:t>
              </a:r>
            </a:p>
          </p:txBody>
        </p:sp>
        <p:sp>
          <p:nvSpPr>
            <p:cNvPr id="9" name="Speech Bubble: Rectangle with Corners Rounded 8">
              <a:extLst>
                <a:ext uri="{FF2B5EF4-FFF2-40B4-BE49-F238E27FC236}">
                  <a16:creationId xmlns:a16="http://schemas.microsoft.com/office/drawing/2014/main" id="{B6E0AC78-5B47-723A-29BD-F7DA368CF804}"/>
                </a:ext>
              </a:extLst>
            </p:cNvPr>
            <p:cNvSpPr/>
            <p:nvPr/>
          </p:nvSpPr>
          <p:spPr>
            <a:xfrm>
              <a:off x="6444075" y="2942271"/>
              <a:ext cx="1288800" cy="511200"/>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i="1">
                  <a:solidFill>
                    <a:schemeClr val="tx1"/>
                  </a:solidFill>
                </a:rPr>
                <a:t>How can I get into my portal</a:t>
              </a:r>
            </a:p>
          </p:txBody>
        </p:sp>
        <p:sp>
          <p:nvSpPr>
            <p:cNvPr id="10" name="Speech Bubble: Rectangle with Corners Rounded 9">
              <a:extLst>
                <a:ext uri="{FF2B5EF4-FFF2-40B4-BE49-F238E27FC236}">
                  <a16:creationId xmlns:a16="http://schemas.microsoft.com/office/drawing/2014/main" id="{C344C8B1-ED00-0BFC-86A8-7ADAEA684C84}"/>
                </a:ext>
              </a:extLst>
            </p:cNvPr>
            <p:cNvSpPr/>
            <p:nvPr/>
          </p:nvSpPr>
          <p:spPr>
            <a:xfrm>
              <a:off x="7431450" y="1305032"/>
              <a:ext cx="1630799" cy="608945"/>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000" i="1">
                  <a:solidFill>
                    <a:schemeClr val="tx1"/>
                  </a:solidFill>
                </a:rPr>
                <a:t>Some portals or pages require too many steps to get to.</a:t>
              </a:r>
              <a:endParaRPr lang="en-US" sz="1000" i="1">
                <a:solidFill>
                  <a:schemeClr val="tx1"/>
                </a:solidFill>
              </a:endParaRPr>
            </a:p>
          </p:txBody>
        </p:sp>
        <p:sp>
          <p:nvSpPr>
            <p:cNvPr id="11" name="Speech Bubble: Rectangle with Corners Rounded 10">
              <a:extLst>
                <a:ext uri="{FF2B5EF4-FFF2-40B4-BE49-F238E27FC236}">
                  <a16:creationId xmlns:a16="http://schemas.microsoft.com/office/drawing/2014/main" id="{85EA11CD-EAB7-E197-0B1C-548323AB5FC4}"/>
                </a:ext>
              </a:extLst>
            </p:cNvPr>
            <p:cNvSpPr/>
            <p:nvPr/>
          </p:nvSpPr>
          <p:spPr>
            <a:xfrm>
              <a:off x="6830776" y="845875"/>
              <a:ext cx="1480800" cy="511200"/>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000" i="1">
                  <a:solidFill>
                    <a:schemeClr val="tx1"/>
                  </a:solidFill>
                </a:rPr>
                <a:t>I’m so confused with all these new portals!</a:t>
              </a:r>
              <a:endParaRPr lang="en-US" sz="1000" i="1">
                <a:solidFill>
                  <a:schemeClr val="tx1"/>
                </a:solidFill>
              </a:endParaRPr>
            </a:p>
          </p:txBody>
        </p:sp>
        <p:sp>
          <p:nvSpPr>
            <p:cNvPr id="12" name="Speech Bubble: Rectangle with Corners Rounded 11">
              <a:extLst>
                <a:ext uri="{FF2B5EF4-FFF2-40B4-BE49-F238E27FC236}">
                  <a16:creationId xmlns:a16="http://schemas.microsoft.com/office/drawing/2014/main" id="{E0DFA58D-FE14-4D14-234C-F669314A888F}"/>
                </a:ext>
              </a:extLst>
            </p:cNvPr>
            <p:cNvSpPr/>
            <p:nvPr/>
          </p:nvSpPr>
          <p:spPr>
            <a:xfrm>
              <a:off x="5104556" y="998769"/>
              <a:ext cx="1794338" cy="971982"/>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000" i="1">
                  <a:solidFill>
                    <a:schemeClr val="tx1"/>
                  </a:solidFill>
                </a:rPr>
                <a:t>I want to sign in to my </a:t>
              </a:r>
              <a:r>
                <a:rPr lang="en-CA" sz="1000" i="1" err="1">
                  <a:solidFill>
                    <a:schemeClr val="tx1"/>
                  </a:solidFill>
                </a:rPr>
                <a:t>ircc</a:t>
              </a:r>
              <a:r>
                <a:rPr lang="en-CA" sz="1000" i="1">
                  <a:solidFill>
                    <a:schemeClr val="tx1"/>
                  </a:solidFill>
                </a:rPr>
                <a:t> portal to complete my visit visa application, but I am unable to find login screen, please guide.</a:t>
              </a:r>
              <a:endParaRPr lang="en-US" sz="1000" i="1">
                <a:solidFill>
                  <a:schemeClr val="tx1"/>
                </a:solidFill>
              </a:endParaRPr>
            </a:p>
          </p:txBody>
        </p:sp>
        <p:sp>
          <p:nvSpPr>
            <p:cNvPr id="13" name="Speech Bubble: Rectangle with Corners Rounded 12">
              <a:extLst>
                <a:ext uri="{FF2B5EF4-FFF2-40B4-BE49-F238E27FC236}">
                  <a16:creationId xmlns:a16="http://schemas.microsoft.com/office/drawing/2014/main" id="{92A28721-A97F-C949-7424-00B1C4DE4F0A}"/>
                </a:ext>
              </a:extLst>
            </p:cNvPr>
            <p:cNvSpPr/>
            <p:nvPr/>
          </p:nvSpPr>
          <p:spPr>
            <a:xfrm>
              <a:off x="6349772" y="1785720"/>
              <a:ext cx="1630800" cy="880800"/>
            </a:xfrm>
            <a:prstGeom prst="wedgeRoundRectCallout">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CA" sz="1000" i="1">
                  <a:solidFill>
                    <a:schemeClr val="tx1"/>
                  </a:solidFill>
                </a:rPr>
                <a:t>It’s a feedback loop of itself and impossible to navigate deftly. Where are the submission portals?</a:t>
              </a:r>
              <a:endParaRPr lang="en-US" sz="1000" i="1">
                <a:solidFill>
                  <a:schemeClr val="tx1"/>
                </a:solidFill>
              </a:endParaRPr>
            </a:p>
          </p:txBody>
        </p:sp>
      </p:grpSp>
      <p:sp>
        <p:nvSpPr>
          <p:cNvPr id="3" name="Text Placeholder 2">
            <a:extLst>
              <a:ext uri="{FF2B5EF4-FFF2-40B4-BE49-F238E27FC236}">
                <a16:creationId xmlns:a16="http://schemas.microsoft.com/office/drawing/2014/main" id="{1384B498-2709-38A1-FBC2-F118B0DA39C0}"/>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244335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A398AF04-8217-EB9F-6252-F48311A583F7}"/>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5E48630B-7A88-FD72-B954-87C839DAF175}"/>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Since Digital Platform Modernization 3 started</a:t>
            </a:r>
          </a:p>
        </p:txBody>
      </p:sp>
      <p:sp>
        <p:nvSpPr>
          <p:cNvPr id="2" name="Text Placeholder 2">
            <a:extLst>
              <a:ext uri="{FF2B5EF4-FFF2-40B4-BE49-F238E27FC236}">
                <a16:creationId xmlns:a16="http://schemas.microsoft.com/office/drawing/2014/main" id="{F92995C5-7357-AEE2-16E2-714C0C0DA20E}"/>
              </a:ext>
            </a:extLst>
          </p:cNvPr>
          <p:cNvSpPr>
            <a:spLocks noGrp="1"/>
          </p:cNvSpPr>
          <p:nvPr>
            <p:ph type="body" idx="1"/>
          </p:nvPr>
        </p:nvSpPr>
        <p:spPr>
          <a:xfrm>
            <a:off x="311700" y="968025"/>
            <a:ext cx="5016300" cy="3600900"/>
          </a:xfrm>
        </p:spPr>
        <p:txBody>
          <a:bodyPr>
            <a:normAutofit/>
          </a:bodyPr>
          <a:lstStyle/>
          <a:p>
            <a:pPr marL="127000" indent="0">
              <a:buNone/>
            </a:pPr>
            <a:r>
              <a:rPr lang="en-US"/>
              <a:t>CXP is supposed to simplify this experience. </a:t>
            </a:r>
          </a:p>
          <a:p>
            <a:pPr marL="127000" indent="0">
              <a:buNone/>
            </a:pPr>
            <a:endParaRPr lang="en-US"/>
          </a:p>
          <a:p>
            <a:pPr marL="127000" indent="0">
              <a:buNone/>
            </a:pPr>
            <a:r>
              <a:rPr lang="en-US"/>
              <a:t>Nearly 2 years in, though:</a:t>
            </a:r>
          </a:p>
          <a:p>
            <a:r>
              <a:rPr lang="en-US"/>
              <a:t>2 new accounts introduced (TRV and passport)</a:t>
            </a:r>
          </a:p>
          <a:p>
            <a:r>
              <a:rPr lang="en-US"/>
              <a:t>no existing accounts decommissioned</a:t>
            </a:r>
          </a:p>
          <a:p>
            <a:pPr marL="127000" indent="0">
              <a:buNone/>
            </a:pPr>
            <a:endParaRPr lang="en-US"/>
          </a:p>
          <a:p>
            <a:pPr marL="127000" indent="0">
              <a:buNone/>
            </a:pPr>
            <a:r>
              <a:rPr lang="en-US"/>
              <a:t>With no reason to use the CXP and legacy accounts still available, users continue to favour them:</a:t>
            </a:r>
          </a:p>
          <a:p>
            <a:pPr marL="127000" indent="0">
              <a:buNone/>
            </a:pPr>
            <a:endParaRPr lang="en-US"/>
          </a:p>
          <a:p>
            <a:r>
              <a:rPr lang="en-US"/>
              <a:t>IRCC secure account: </a:t>
            </a:r>
            <a:r>
              <a:rPr lang="en-US" b="1"/>
              <a:t>49%</a:t>
            </a:r>
            <a:r>
              <a:rPr lang="en-US"/>
              <a:t> of TRV applications</a:t>
            </a:r>
          </a:p>
          <a:p>
            <a:r>
              <a:rPr lang="en-US"/>
              <a:t>IRCC portal: </a:t>
            </a:r>
            <a:r>
              <a:rPr lang="en-US" b="1"/>
              <a:t>46%</a:t>
            </a:r>
            <a:r>
              <a:rPr lang="en-US"/>
              <a:t> of TRV applications</a:t>
            </a:r>
          </a:p>
          <a:p>
            <a:r>
              <a:rPr lang="en-US"/>
              <a:t>CXP: </a:t>
            </a:r>
            <a:r>
              <a:rPr lang="en-US" b="1"/>
              <a:t>4%</a:t>
            </a:r>
            <a:r>
              <a:rPr lang="en-US"/>
              <a:t> of TRV applications</a:t>
            </a:r>
          </a:p>
        </p:txBody>
      </p:sp>
      <p:grpSp>
        <p:nvGrpSpPr>
          <p:cNvPr id="4" name="Group 3">
            <a:extLst>
              <a:ext uri="{FF2B5EF4-FFF2-40B4-BE49-F238E27FC236}">
                <a16:creationId xmlns:a16="http://schemas.microsoft.com/office/drawing/2014/main" id="{195A1871-83F1-3DA5-78DF-8C8905B403EA}"/>
              </a:ext>
            </a:extLst>
          </p:cNvPr>
          <p:cNvGrpSpPr/>
          <p:nvPr/>
        </p:nvGrpSpPr>
        <p:grpSpPr>
          <a:xfrm>
            <a:off x="5932800" y="1166400"/>
            <a:ext cx="2707200" cy="2952000"/>
            <a:chOff x="5932800" y="1166400"/>
            <a:chExt cx="2707200" cy="2952000"/>
          </a:xfrm>
        </p:grpSpPr>
        <p:sp>
          <p:nvSpPr>
            <p:cNvPr id="6" name="Frame 5">
              <a:extLst>
                <a:ext uri="{FF2B5EF4-FFF2-40B4-BE49-F238E27FC236}">
                  <a16:creationId xmlns:a16="http://schemas.microsoft.com/office/drawing/2014/main" id="{77EB485E-B74E-4164-0504-40D08396166E}"/>
                </a:ext>
              </a:extLst>
            </p:cNvPr>
            <p:cNvSpPr/>
            <p:nvPr/>
          </p:nvSpPr>
          <p:spPr>
            <a:xfrm>
              <a:off x="5932800" y="1166400"/>
              <a:ext cx="2707200" cy="2952000"/>
            </a:xfrm>
            <a:prstGeom prst="frame">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65D962AC-994A-22BB-0E77-66FD317559D2}"/>
                </a:ext>
              </a:extLst>
            </p:cNvPr>
            <p:cNvSpPr txBox="1"/>
            <p:nvPr/>
          </p:nvSpPr>
          <p:spPr>
            <a:xfrm>
              <a:off x="6895908" y="2334623"/>
              <a:ext cx="780983" cy="307777"/>
            </a:xfrm>
            <a:prstGeom prst="rect">
              <a:avLst/>
            </a:prstGeom>
            <a:noFill/>
          </p:spPr>
          <p:txBody>
            <a:bodyPr wrap="none" rtlCol="0">
              <a:spAutoFit/>
            </a:bodyPr>
            <a:lstStyle/>
            <a:p>
              <a:r>
                <a:rPr lang="en-US"/>
                <a:t>Image?</a:t>
              </a:r>
            </a:p>
          </p:txBody>
        </p:sp>
      </p:grpSp>
    </p:spTree>
    <p:extLst>
      <p:ext uri="{BB962C8B-B14F-4D97-AF65-F5344CB8AC3E}">
        <p14:creationId xmlns:p14="http://schemas.microsoft.com/office/powerpoint/2010/main" val="796998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4C850D01-1166-835A-D448-57A67F6A4E67}"/>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15B14C9D-E28A-5D6D-7738-11ABA32A839D}"/>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Legacy (older) accounts put in maintenance mode</a:t>
            </a:r>
          </a:p>
        </p:txBody>
      </p:sp>
      <p:grpSp>
        <p:nvGrpSpPr>
          <p:cNvPr id="4" name="Group 3">
            <a:extLst>
              <a:ext uri="{FF2B5EF4-FFF2-40B4-BE49-F238E27FC236}">
                <a16:creationId xmlns:a16="http://schemas.microsoft.com/office/drawing/2014/main" id="{1B7E2BFF-6907-4C3F-4DDE-D5614BF9C1BC}"/>
              </a:ext>
            </a:extLst>
          </p:cNvPr>
          <p:cNvGrpSpPr/>
          <p:nvPr/>
        </p:nvGrpSpPr>
        <p:grpSpPr>
          <a:xfrm>
            <a:off x="5932800" y="1166400"/>
            <a:ext cx="2707200" cy="2952000"/>
            <a:chOff x="5932800" y="1166400"/>
            <a:chExt cx="2707200" cy="2952000"/>
          </a:xfrm>
        </p:grpSpPr>
        <p:sp>
          <p:nvSpPr>
            <p:cNvPr id="6" name="Frame 5">
              <a:extLst>
                <a:ext uri="{FF2B5EF4-FFF2-40B4-BE49-F238E27FC236}">
                  <a16:creationId xmlns:a16="http://schemas.microsoft.com/office/drawing/2014/main" id="{818544E5-1F16-719D-F1FB-2E9A834C2DE6}"/>
                </a:ext>
              </a:extLst>
            </p:cNvPr>
            <p:cNvSpPr/>
            <p:nvPr/>
          </p:nvSpPr>
          <p:spPr>
            <a:xfrm>
              <a:off x="5932800" y="1166400"/>
              <a:ext cx="2707200" cy="2952000"/>
            </a:xfrm>
            <a:prstGeom prst="frame">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D0ACDAE2-5E9B-EA1C-E9C0-609883186572}"/>
                </a:ext>
              </a:extLst>
            </p:cNvPr>
            <p:cNvSpPr txBox="1"/>
            <p:nvPr/>
          </p:nvSpPr>
          <p:spPr>
            <a:xfrm>
              <a:off x="6895908" y="2334623"/>
              <a:ext cx="780983" cy="307777"/>
            </a:xfrm>
            <a:prstGeom prst="rect">
              <a:avLst/>
            </a:prstGeom>
            <a:noFill/>
          </p:spPr>
          <p:txBody>
            <a:bodyPr wrap="none" rtlCol="0">
              <a:spAutoFit/>
            </a:bodyPr>
            <a:lstStyle/>
            <a:p>
              <a:r>
                <a:rPr lang="en-US"/>
                <a:t>Image?</a:t>
              </a:r>
            </a:p>
          </p:txBody>
        </p:sp>
      </p:grpSp>
      <p:sp>
        <p:nvSpPr>
          <p:cNvPr id="12" name="Text Placeholder 2">
            <a:extLst>
              <a:ext uri="{FF2B5EF4-FFF2-40B4-BE49-F238E27FC236}">
                <a16:creationId xmlns:a16="http://schemas.microsoft.com/office/drawing/2014/main" id="{AC95C80A-D02C-DBEB-0EFD-B352B20130BE}"/>
              </a:ext>
            </a:extLst>
          </p:cNvPr>
          <p:cNvSpPr>
            <a:spLocks noGrp="1"/>
          </p:cNvSpPr>
          <p:nvPr>
            <p:ph type="body" idx="1"/>
          </p:nvPr>
        </p:nvSpPr>
        <p:spPr>
          <a:xfrm>
            <a:off x="311700" y="968025"/>
            <a:ext cx="5174700" cy="3600900"/>
          </a:xfrm>
        </p:spPr>
        <p:txBody>
          <a:bodyPr>
            <a:normAutofit/>
          </a:bodyPr>
          <a:lstStyle/>
          <a:p>
            <a:pPr marL="127000" indent="0">
              <a:buNone/>
            </a:pPr>
            <a:r>
              <a:rPr lang="en-US"/>
              <a:t>Since CXP’s launch, IRCC’s digital/development arm has placed all older accounts and secure spaces in maintenance mode.</a:t>
            </a:r>
          </a:p>
          <a:p>
            <a:pPr marL="127000" indent="0">
              <a:buNone/>
            </a:pPr>
            <a:endParaRPr lang="en-US"/>
          </a:p>
          <a:p>
            <a:pPr marL="127000" indent="0">
              <a:buNone/>
            </a:pPr>
            <a:r>
              <a:rPr lang="en-US"/>
              <a:t>The vast majority of applications are still submitted through these “legacy” accounts. </a:t>
            </a:r>
          </a:p>
          <a:p>
            <a:pPr marL="127000" indent="0">
              <a:buNone/>
            </a:pPr>
            <a:endParaRPr lang="en-US"/>
          </a:p>
          <a:p>
            <a:pPr marL="127000" indent="0">
              <a:buNone/>
            </a:pPr>
            <a:r>
              <a:rPr lang="en-US"/>
              <a:t>The Department won’t update them without urgent need.</a:t>
            </a:r>
          </a:p>
        </p:txBody>
      </p:sp>
    </p:spTree>
    <p:extLst>
      <p:ext uri="{BB962C8B-B14F-4D97-AF65-F5344CB8AC3E}">
        <p14:creationId xmlns:p14="http://schemas.microsoft.com/office/powerpoint/2010/main" val="955268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598A419F-628B-5D63-3FC1-3D952666A37B}"/>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91EE7F3A-C4B5-9E0D-F7F6-2EF0204856EA}"/>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Web introduces the account wizard</a:t>
            </a:r>
          </a:p>
        </p:txBody>
      </p:sp>
      <p:sp>
        <p:nvSpPr>
          <p:cNvPr id="4" name="Text Placeholder 1">
            <a:extLst>
              <a:ext uri="{FF2B5EF4-FFF2-40B4-BE49-F238E27FC236}">
                <a16:creationId xmlns:a16="http://schemas.microsoft.com/office/drawing/2014/main" id="{ACE1ECA5-BE0C-62F1-121E-48BAE6DD566D}"/>
              </a:ext>
            </a:extLst>
          </p:cNvPr>
          <p:cNvSpPr>
            <a:spLocks noGrp="1"/>
          </p:cNvSpPr>
          <p:nvPr>
            <p:ph type="body" idx="1"/>
          </p:nvPr>
        </p:nvSpPr>
        <p:spPr>
          <a:xfrm>
            <a:off x="311700" y="975224"/>
            <a:ext cx="4965900" cy="3913575"/>
          </a:xfrm>
        </p:spPr>
        <p:txBody>
          <a:bodyPr>
            <a:normAutofit/>
          </a:bodyPr>
          <a:lstStyle/>
          <a:p>
            <a:pPr marL="127000" indent="0">
              <a:buNone/>
            </a:pPr>
            <a:r>
              <a:rPr lang="en-US"/>
              <a:t>Users needed help finding their sign-in page:</a:t>
            </a:r>
          </a:p>
          <a:p>
            <a:r>
              <a:rPr lang="en-US"/>
              <a:t>too many accounts</a:t>
            </a:r>
          </a:p>
          <a:p>
            <a:r>
              <a:rPr lang="en-US"/>
              <a:t>name of accounts not always known</a:t>
            </a:r>
          </a:p>
          <a:p>
            <a:r>
              <a:rPr lang="en-US"/>
              <a:t>sign-in pages available only in program content</a:t>
            </a:r>
          </a:p>
          <a:p>
            <a:pPr marL="127000" indent="0">
              <a:buNone/>
            </a:pPr>
            <a:endParaRPr lang="en-US"/>
          </a:p>
          <a:p>
            <a:pPr marL="127000" indent="0">
              <a:buNone/>
            </a:pPr>
            <a:r>
              <a:rPr lang="en-US"/>
              <a:t>The account wizard directs them to the account(s) they used for each application.</a:t>
            </a:r>
          </a:p>
          <a:p>
            <a:pPr marL="127000" indent="0">
              <a:buNone/>
            </a:pPr>
            <a:endParaRPr lang="en-US"/>
          </a:p>
          <a:p>
            <a:pPr marL="127000" indent="0">
              <a:buNone/>
            </a:pPr>
            <a:endParaRPr lang="en-US"/>
          </a:p>
          <a:p>
            <a:pPr marL="127000" indent="0">
              <a:buNone/>
            </a:pPr>
            <a:r>
              <a:rPr lang="en-US"/>
              <a:t>Since full release in September 2024:</a:t>
            </a:r>
          </a:p>
          <a:p>
            <a:pPr marL="127000" indent="0">
              <a:buNone/>
            </a:pPr>
            <a:r>
              <a:rPr lang="en-US" sz="4300"/>
              <a:t>37.7 million visits</a:t>
            </a:r>
          </a:p>
        </p:txBody>
      </p:sp>
      <p:pic>
        <p:nvPicPr>
          <p:cNvPr id="17" name="Picture 16">
            <a:extLst>
              <a:ext uri="{FF2B5EF4-FFF2-40B4-BE49-F238E27FC236}">
                <a16:creationId xmlns:a16="http://schemas.microsoft.com/office/drawing/2014/main" id="{1229F240-2090-5927-D737-F0C937266B2C}"/>
              </a:ext>
            </a:extLst>
          </p:cNvPr>
          <p:cNvPicPr>
            <a:picLocks noChangeAspect="1"/>
          </p:cNvPicPr>
          <p:nvPr/>
        </p:nvPicPr>
        <p:blipFill>
          <a:blip r:embed="rId3"/>
          <a:stretch>
            <a:fillRect/>
          </a:stretch>
        </p:blipFill>
        <p:spPr>
          <a:xfrm>
            <a:off x="5396992" y="1169922"/>
            <a:ext cx="3435308" cy="2803655"/>
          </a:xfrm>
          <a:prstGeom prst="rect">
            <a:avLst/>
          </a:prstGeom>
        </p:spPr>
      </p:pic>
    </p:spTree>
    <p:extLst>
      <p:ext uri="{BB962C8B-B14F-4D97-AF65-F5344CB8AC3E}">
        <p14:creationId xmlns:p14="http://schemas.microsoft.com/office/powerpoint/2010/main" val="2908163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17F95272-79C8-FF42-4F71-FB46972A0C60}"/>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A929533C-8156-20FA-D3B5-F0296E82358A}"/>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Legacy (older) accounts put in maintenance mode</a:t>
            </a:r>
          </a:p>
        </p:txBody>
      </p:sp>
      <p:grpSp>
        <p:nvGrpSpPr>
          <p:cNvPr id="4" name="Group 3">
            <a:extLst>
              <a:ext uri="{FF2B5EF4-FFF2-40B4-BE49-F238E27FC236}">
                <a16:creationId xmlns:a16="http://schemas.microsoft.com/office/drawing/2014/main" id="{DDEF4A74-809C-48DB-2E98-231E2F506E01}"/>
              </a:ext>
            </a:extLst>
          </p:cNvPr>
          <p:cNvGrpSpPr/>
          <p:nvPr/>
        </p:nvGrpSpPr>
        <p:grpSpPr>
          <a:xfrm>
            <a:off x="5932800" y="1166400"/>
            <a:ext cx="2707200" cy="2952000"/>
            <a:chOff x="5932800" y="1166400"/>
            <a:chExt cx="2707200" cy="2952000"/>
          </a:xfrm>
        </p:grpSpPr>
        <p:sp>
          <p:nvSpPr>
            <p:cNvPr id="6" name="Frame 5">
              <a:extLst>
                <a:ext uri="{FF2B5EF4-FFF2-40B4-BE49-F238E27FC236}">
                  <a16:creationId xmlns:a16="http://schemas.microsoft.com/office/drawing/2014/main" id="{1D77C84A-9ADE-9332-1135-B155A4B357C6}"/>
                </a:ext>
              </a:extLst>
            </p:cNvPr>
            <p:cNvSpPr/>
            <p:nvPr/>
          </p:nvSpPr>
          <p:spPr>
            <a:xfrm>
              <a:off x="5932800" y="1166400"/>
              <a:ext cx="2707200" cy="2952000"/>
            </a:xfrm>
            <a:prstGeom prst="frame">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74B1D4EC-DBD1-49F3-680D-5A4A19F6532D}"/>
                </a:ext>
              </a:extLst>
            </p:cNvPr>
            <p:cNvSpPr txBox="1"/>
            <p:nvPr/>
          </p:nvSpPr>
          <p:spPr>
            <a:xfrm>
              <a:off x="6895908" y="2334623"/>
              <a:ext cx="780983" cy="307777"/>
            </a:xfrm>
            <a:prstGeom prst="rect">
              <a:avLst/>
            </a:prstGeom>
            <a:noFill/>
          </p:spPr>
          <p:txBody>
            <a:bodyPr wrap="none" rtlCol="0">
              <a:spAutoFit/>
            </a:bodyPr>
            <a:lstStyle/>
            <a:p>
              <a:r>
                <a:rPr lang="en-US"/>
                <a:t>Image?</a:t>
              </a:r>
            </a:p>
          </p:txBody>
        </p:sp>
      </p:grpSp>
      <p:sp>
        <p:nvSpPr>
          <p:cNvPr id="12" name="Text Placeholder 2">
            <a:extLst>
              <a:ext uri="{FF2B5EF4-FFF2-40B4-BE49-F238E27FC236}">
                <a16:creationId xmlns:a16="http://schemas.microsoft.com/office/drawing/2014/main" id="{DC71DF78-E3F1-3601-0FF1-7910C47763D5}"/>
              </a:ext>
            </a:extLst>
          </p:cNvPr>
          <p:cNvSpPr>
            <a:spLocks noGrp="1"/>
          </p:cNvSpPr>
          <p:nvPr>
            <p:ph type="body" idx="1"/>
          </p:nvPr>
        </p:nvSpPr>
        <p:spPr>
          <a:xfrm>
            <a:off x="311699" y="968025"/>
            <a:ext cx="5501271" cy="3799918"/>
          </a:xfrm>
        </p:spPr>
        <p:txBody>
          <a:bodyPr>
            <a:noAutofit/>
          </a:bodyPr>
          <a:lstStyle/>
          <a:p>
            <a:pPr marL="127000" indent="0">
              <a:buNone/>
            </a:pPr>
            <a:r>
              <a:rPr lang="en-US"/>
              <a:t>Since CXP’s launch, IRCC placed all older accounts and secure spaces in </a:t>
            </a:r>
            <a:r>
              <a:rPr lang="en-US" b="1"/>
              <a:t>maintenance mode</a:t>
            </a:r>
            <a:r>
              <a:rPr lang="en-US"/>
              <a:t>.</a:t>
            </a:r>
          </a:p>
          <a:p>
            <a:pPr marL="127000" indent="0">
              <a:buNone/>
            </a:pPr>
            <a:endParaRPr lang="en-US"/>
          </a:p>
          <a:p>
            <a:pPr marL="127000" indent="0">
              <a:buNone/>
            </a:pPr>
            <a:r>
              <a:rPr lang="en-US"/>
              <a:t>The vast majority of applications are still submitted through these “legacy” accounts, but IRCC won’t update them without urgent need.</a:t>
            </a:r>
          </a:p>
          <a:p>
            <a:pPr marL="127000" indent="0">
              <a:buNone/>
            </a:pPr>
            <a:endParaRPr lang="en-US"/>
          </a:p>
          <a:p>
            <a:pPr marL="127000" indent="0">
              <a:buNone/>
            </a:pPr>
            <a:r>
              <a:rPr lang="en-US"/>
              <a:t>This means:</a:t>
            </a:r>
          </a:p>
          <a:p>
            <a:r>
              <a:rPr lang="en-US"/>
              <a:t>new pilots/programs/special measures may not be properly integrated into secure spaces</a:t>
            </a:r>
          </a:p>
          <a:p>
            <a:r>
              <a:rPr lang="en-US"/>
              <a:t>non-urgent technical problems may not be resolved</a:t>
            </a:r>
          </a:p>
          <a:p>
            <a:r>
              <a:rPr lang="en-US"/>
              <a:t>client experience and usability updates are not considered</a:t>
            </a:r>
          </a:p>
        </p:txBody>
      </p:sp>
    </p:spTree>
    <p:extLst>
      <p:ext uri="{BB962C8B-B14F-4D97-AF65-F5344CB8AC3E}">
        <p14:creationId xmlns:p14="http://schemas.microsoft.com/office/powerpoint/2010/main" val="41075470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FA824B81-4CAF-4EC6-F098-2F8CD0ED3BA6}"/>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F13A5819-4D34-3F30-3564-A079444162FC}"/>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CXP contributes to sign-in complexity and frustration</a:t>
            </a:r>
          </a:p>
        </p:txBody>
      </p:sp>
      <p:sp>
        <p:nvSpPr>
          <p:cNvPr id="2" name="Text Placeholder 2">
            <a:extLst>
              <a:ext uri="{FF2B5EF4-FFF2-40B4-BE49-F238E27FC236}">
                <a16:creationId xmlns:a16="http://schemas.microsoft.com/office/drawing/2014/main" id="{898C9AE4-1FEA-484D-7CF7-8CA6341243D7}"/>
              </a:ext>
            </a:extLst>
          </p:cNvPr>
          <p:cNvSpPr>
            <a:spLocks noGrp="1"/>
          </p:cNvSpPr>
          <p:nvPr>
            <p:ph type="body" idx="1"/>
          </p:nvPr>
        </p:nvSpPr>
        <p:spPr>
          <a:xfrm>
            <a:off x="311700" y="968025"/>
            <a:ext cx="5016300" cy="3600900"/>
          </a:xfrm>
        </p:spPr>
        <p:txBody>
          <a:bodyPr>
            <a:normAutofit/>
          </a:bodyPr>
          <a:lstStyle/>
          <a:p>
            <a:pPr marL="127000" indent="0">
              <a:buNone/>
            </a:pPr>
            <a:r>
              <a:rPr lang="en-US"/>
              <a:t>Since CXP launched in 2024:</a:t>
            </a:r>
          </a:p>
          <a:p>
            <a:r>
              <a:rPr lang="en-US"/>
              <a:t>we now have 3 accounts for visitor visas</a:t>
            </a:r>
          </a:p>
          <a:p>
            <a:r>
              <a:rPr lang="en-US"/>
              <a:t>no line of business is completed in it</a:t>
            </a:r>
          </a:p>
          <a:p>
            <a:r>
              <a:rPr lang="en-US"/>
              <a:t>there’s an outage at least once every week</a:t>
            </a:r>
          </a:p>
          <a:p>
            <a:pPr marL="127000" indent="0">
              <a:buNone/>
            </a:pPr>
            <a:endParaRPr lang="en-US"/>
          </a:p>
          <a:p>
            <a:pPr marL="127000" indent="0">
              <a:buNone/>
            </a:pPr>
            <a:r>
              <a:rPr lang="en-US"/>
              <a:t>The result: more complexity and more frustration</a:t>
            </a:r>
          </a:p>
          <a:p>
            <a:pPr marL="127000" indent="0">
              <a:buNone/>
            </a:pPr>
            <a:endParaRPr lang="en-US"/>
          </a:p>
        </p:txBody>
      </p:sp>
      <p:grpSp>
        <p:nvGrpSpPr>
          <p:cNvPr id="4" name="Group 3">
            <a:extLst>
              <a:ext uri="{FF2B5EF4-FFF2-40B4-BE49-F238E27FC236}">
                <a16:creationId xmlns:a16="http://schemas.microsoft.com/office/drawing/2014/main" id="{2B3F54B0-B560-6571-0EAA-4A73BF778868}"/>
              </a:ext>
            </a:extLst>
          </p:cNvPr>
          <p:cNvGrpSpPr/>
          <p:nvPr/>
        </p:nvGrpSpPr>
        <p:grpSpPr>
          <a:xfrm>
            <a:off x="5932800" y="1166400"/>
            <a:ext cx="2707200" cy="2952000"/>
            <a:chOff x="5932800" y="1166400"/>
            <a:chExt cx="2707200" cy="2952000"/>
          </a:xfrm>
        </p:grpSpPr>
        <p:sp>
          <p:nvSpPr>
            <p:cNvPr id="6" name="Frame 5">
              <a:extLst>
                <a:ext uri="{FF2B5EF4-FFF2-40B4-BE49-F238E27FC236}">
                  <a16:creationId xmlns:a16="http://schemas.microsoft.com/office/drawing/2014/main" id="{AAB6039F-4AC7-8FAD-E4D1-D32634856522}"/>
                </a:ext>
              </a:extLst>
            </p:cNvPr>
            <p:cNvSpPr/>
            <p:nvPr/>
          </p:nvSpPr>
          <p:spPr>
            <a:xfrm>
              <a:off x="5932800" y="1166400"/>
              <a:ext cx="2707200" cy="2952000"/>
            </a:xfrm>
            <a:prstGeom prst="frame">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F7515446-8A54-1E56-DE24-2AADB25A2DCE}"/>
                </a:ext>
              </a:extLst>
            </p:cNvPr>
            <p:cNvSpPr txBox="1"/>
            <p:nvPr/>
          </p:nvSpPr>
          <p:spPr>
            <a:xfrm>
              <a:off x="6895908" y="2334623"/>
              <a:ext cx="780983" cy="307777"/>
            </a:xfrm>
            <a:prstGeom prst="rect">
              <a:avLst/>
            </a:prstGeom>
            <a:noFill/>
          </p:spPr>
          <p:txBody>
            <a:bodyPr wrap="none" rtlCol="0">
              <a:spAutoFit/>
            </a:bodyPr>
            <a:lstStyle/>
            <a:p>
              <a:r>
                <a:rPr lang="en-US"/>
                <a:t>Image?</a:t>
              </a:r>
            </a:p>
          </p:txBody>
        </p:sp>
      </p:grpSp>
    </p:spTree>
    <p:extLst>
      <p:ext uri="{BB962C8B-B14F-4D97-AF65-F5344CB8AC3E}">
        <p14:creationId xmlns:p14="http://schemas.microsoft.com/office/powerpoint/2010/main" val="16756353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Shape 131">
          <a:extLst>
            <a:ext uri="{FF2B5EF4-FFF2-40B4-BE49-F238E27FC236}">
              <a16:creationId xmlns:a16="http://schemas.microsoft.com/office/drawing/2014/main" id="{150DDC82-6BD7-B204-67D1-70262531DD4F}"/>
            </a:ext>
          </a:extLst>
        </p:cNvPr>
        <p:cNvGrpSpPr/>
        <p:nvPr/>
      </p:nvGrpSpPr>
      <p:grpSpPr>
        <a:xfrm>
          <a:off x="0" y="0"/>
          <a:ext cx="0" cy="0"/>
          <a:chOff x="0" y="0"/>
          <a:chExt cx="0" cy="0"/>
        </a:xfrm>
      </p:grpSpPr>
      <p:sp>
        <p:nvSpPr>
          <p:cNvPr id="132" name="Google Shape;132;p23">
            <a:extLst>
              <a:ext uri="{FF2B5EF4-FFF2-40B4-BE49-F238E27FC236}">
                <a16:creationId xmlns:a16="http://schemas.microsoft.com/office/drawing/2014/main" id="{5E6981F8-2820-153E-99F4-0334ACD2E553}"/>
              </a:ext>
            </a:extLst>
          </p:cNvPr>
          <p:cNvSpPr txBox="1">
            <a:spLocks noGrp="1"/>
          </p:cNvSpPr>
          <p:nvPr>
            <p:ph type="title"/>
          </p:nvPr>
        </p:nvSpPr>
        <p:spPr>
          <a:prstGeom prst="rect">
            <a:avLst/>
          </a:prstGeom>
        </p:spPr>
        <p:txBody>
          <a:bodyPr spcFirstLastPara="1" wrap="square" lIns="91425" tIns="91425" rIns="91425" bIns="91425" anchor="t" anchorCtr="0">
            <a:normAutofit/>
          </a:bodyPr>
          <a:lstStyle/>
          <a:p>
            <a:r>
              <a:rPr lang="en"/>
              <a:t>Workarounds needed for users</a:t>
            </a:r>
          </a:p>
        </p:txBody>
      </p:sp>
      <p:grpSp>
        <p:nvGrpSpPr>
          <p:cNvPr id="4" name="Group 3">
            <a:extLst>
              <a:ext uri="{FF2B5EF4-FFF2-40B4-BE49-F238E27FC236}">
                <a16:creationId xmlns:a16="http://schemas.microsoft.com/office/drawing/2014/main" id="{7BEB2EB9-9E55-B8C1-7BA3-2C1FD3C8157F}"/>
              </a:ext>
            </a:extLst>
          </p:cNvPr>
          <p:cNvGrpSpPr/>
          <p:nvPr/>
        </p:nvGrpSpPr>
        <p:grpSpPr>
          <a:xfrm>
            <a:off x="5932800" y="1166400"/>
            <a:ext cx="2707200" cy="2952000"/>
            <a:chOff x="5932800" y="1166400"/>
            <a:chExt cx="2707200" cy="2952000"/>
          </a:xfrm>
        </p:grpSpPr>
        <p:sp>
          <p:nvSpPr>
            <p:cNvPr id="6" name="Frame 5">
              <a:extLst>
                <a:ext uri="{FF2B5EF4-FFF2-40B4-BE49-F238E27FC236}">
                  <a16:creationId xmlns:a16="http://schemas.microsoft.com/office/drawing/2014/main" id="{802837FC-209A-BA98-5D06-BB2E3FA1771D}"/>
                </a:ext>
              </a:extLst>
            </p:cNvPr>
            <p:cNvSpPr/>
            <p:nvPr/>
          </p:nvSpPr>
          <p:spPr>
            <a:xfrm>
              <a:off x="5932800" y="1166400"/>
              <a:ext cx="2707200" cy="2952000"/>
            </a:xfrm>
            <a:prstGeom prst="frame">
              <a:avLst/>
            </a:prstGeom>
            <a:solidFill>
              <a:srgbClr val="E9E5F2"/>
            </a:solidFill>
            <a:ln>
              <a:solidFill>
                <a:srgbClr val="600DB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7" name="TextBox 6">
              <a:extLst>
                <a:ext uri="{FF2B5EF4-FFF2-40B4-BE49-F238E27FC236}">
                  <a16:creationId xmlns:a16="http://schemas.microsoft.com/office/drawing/2014/main" id="{67F5F99C-9325-ACA8-5405-6E8DC7B687F6}"/>
                </a:ext>
              </a:extLst>
            </p:cNvPr>
            <p:cNvSpPr txBox="1"/>
            <p:nvPr/>
          </p:nvSpPr>
          <p:spPr>
            <a:xfrm>
              <a:off x="6895908" y="2334623"/>
              <a:ext cx="780983" cy="307777"/>
            </a:xfrm>
            <a:prstGeom prst="rect">
              <a:avLst/>
            </a:prstGeom>
            <a:noFill/>
          </p:spPr>
          <p:txBody>
            <a:bodyPr wrap="none" rtlCol="0">
              <a:spAutoFit/>
            </a:bodyPr>
            <a:lstStyle/>
            <a:p>
              <a:r>
                <a:rPr lang="en-US"/>
                <a:t>Image?</a:t>
              </a:r>
            </a:p>
          </p:txBody>
        </p:sp>
      </p:grpSp>
      <p:sp>
        <p:nvSpPr>
          <p:cNvPr id="12" name="Text Placeholder 2">
            <a:extLst>
              <a:ext uri="{FF2B5EF4-FFF2-40B4-BE49-F238E27FC236}">
                <a16:creationId xmlns:a16="http://schemas.microsoft.com/office/drawing/2014/main" id="{B9D8F38F-DD9C-42DB-8A67-DA49FF828D80}"/>
              </a:ext>
            </a:extLst>
          </p:cNvPr>
          <p:cNvSpPr>
            <a:spLocks noGrp="1"/>
          </p:cNvSpPr>
          <p:nvPr>
            <p:ph type="body" idx="1"/>
          </p:nvPr>
        </p:nvSpPr>
        <p:spPr>
          <a:xfrm>
            <a:off x="311700" y="968024"/>
            <a:ext cx="5433900" cy="3812775"/>
          </a:xfrm>
        </p:spPr>
        <p:txBody>
          <a:bodyPr>
            <a:normAutofit/>
          </a:bodyPr>
          <a:lstStyle/>
          <a:p>
            <a:pPr marL="127000" indent="0">
              <a:buNone/>
            </a:pPr>
            <a:r>
              <a:rPr lang="en-US"/>
              <a:t>When an account or secure spaces isn’t updated: </a:t>
            </a:r>
          </a:p>
          <a:p>
            <a:r>
              <a:rPr lang="en-US"/>
              <a:t>program/policy develops workarounds</a:t>
            </a:r>
          </a:p>
          <a:p>
            <a:r>
              <a:rPr lang="en-US"/>
              <a:t>web communicates them to users </a:t>
            </a:r>
          </a:p>
          <a:p>
            <a:pPr marL="127000" indent="0">
              <a:buNone/>
            </a:pPr>
            <a:endParaRPr lang="en-US"/>
          </a:p>
          <a:p>
            <a:pPr marL="127000" indent="0">
              <a:buNone/>
            </a:pPr>
            <a:r>
              <a:rPr lang="en-US"/>
              <a:t>Workarounds can look like:</a:t>
            </a:r>
          </a:p>
          <a:p>
            <a:r>
              <a:rPr lang="en-US"/>
              <a:t>how to answer questions in Come to Canada to get the right application or document checklist</a:t>
            </a:r>
          </a:p>
          <a:p>
            <a:r>
              <a:rPr lang="en-US"/>
              <a:t>what to select in the web form if a program isn’t listed, so requests are triaged properly</a:t>
            </a:r>
          </a:p>
          <a:p>
            <a:r>
              <a:rPr lang="en-US"/>
              <a:t>special codes users need to include so their application or request is flagged as priority (like for special measures)</a:t>
            </a:r>
          </a:p>
        </p:txBody>
      </p:sp>
    </p:spTree>
    <p:extLst>
      <p:ext uri="{BB962C8B-B14F-4D97-AF65-F5344CB8AC3E}">
        <p14:creationId xmlns:p14="http://schemas.microsoft.com/office/powerpoint/2010/main" val="6835310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4"/>
          <p:cNvSpPr txBox="1">
            <a:spLocks noGrp="1"/>
          </p:cNvSpPr>
          <p:nvPr>
            <p:ph type="title"/>
          </p:nvPr>
        </p:nvSpPr>
        <p:spPr>
          <a:xfrm>
            <a:off x="311700" y="170700"/>
            <a:ext cx="8520600" cy="5727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
              <a:t>Slide title</a:t>
            </a:r>
            <a:endParaRPr/>
          </a:p>
        </p:txBody>
      </p:sp>
      <p:sp>
        <p:nvSpPr>
          <p:cNvPr id="139" name="Google Shape;139;p24"/>
          <p:cNvSpPr txBox="1">
            <a:spLocks noGrp="1"/>
          </p:cNvSpPr>
          <p:nvPr>
            <p:ph type="body" idx="1"/>
          </p:nvPr>
        </p:nvSpPr>
        <p:spPr>
          <a:xfrm>
            <a:off x="311700" y="968025"/>
            <a:ext cx="8520600" cy="36009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5"/>
          <p:cNvSpPr txBox="1">
            <a:spLocks noGrp="1"/>
          </p:cNvSpPr>
          <p:nvPr>
            <p:ph type="body" idx="1"/>
          </p:nvPr>
        </p:nvSpPr>
        <p:spPr>
          <a:xfrm>
            <a:off x="311700" y="530198"/>
            <a:ext cx="8520600" cy="4038677"/>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6"/>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Issues found with [title/theme here] pages</a:t>
            </a:r>
            <a:endParaRPr/>
          </a:p>
        </p:txBody>
      </p:sp>
      <p:sp>
        <p:nvSpPr>
          <p:cNvPr id="150" name="Google Shape;150;p26"/>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SzPts val="990"/>
              <a:buNone/>
            </a:pPr>
            <a:endParaRPr sz="182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27"/>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Web research</a:t>
            </a:r>
            <a:endParaRPr/>
          </a:p>
        </p:txBody>
      </p:sp>
      <p:sp>
        <p:nvSpPr>
          <p:cNvPr id="156" name="Google Shape;156;p27"/>
          <p:cNvSpPr txBox="1">
            <a:spLocks noGrp="1"/>
          </p:cNvSpPr>
          <p:nvPr>
            <p:ph type="title" idx="2"/>
          </p:nvPr>
        </p:nvSpPr>
        <p:spPr>
          <a:xfrm>
            <a:off x="311700" y="2873825"/>
            <a:ext cx="4108200" cy="3936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SzPts val="990"/>
              <a:buNone/>
            </a:pPr>
            <a:r>
              <a:rPr lang="en" sz="1820"/>
              <a:t>Evidence from several sources</a:t>
            </a:r>
            <a:endParaRPr sz="182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28"/>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endParaRPr/>
          </a:p>
        </p:txBody>
      </p:sp>
      <p:sp>
        <p:nvSpPr>
          <p:cNvPr id="162" name="Google Shape;162;p28"/>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29"/>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Proposed solutions</a:t>
            </a:r>
            <a:endParaRPr/>
          </a:p>
        </p:txBody>
      </p:sp>
      <p:sp>
        <p:nvSpPr>
          <p:cNvPr id="168" name="Google Shape;168;p29"/>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Quick wins</a:t>
            </a:r>
            <a:endParaRPr/>
          </a:p>
        </p:txBody>
      </p:sp>
      <p:sp>
        <p:nvSpPr>
          <p:cNvPr id="174" name="Google Shape;174;p30"/>
          <p:cNvSpPr txBox="1">
            <a:spLocks noGrp="1"/>
          </p:cNvSpPr>
          <p:nvPr>
            <p:ph type="title" idx="2"/>
          </p:nvPr>
        </p:nvSpPr>
        <p:spPr>
          <a:xfrm>
            <a:off x="311700" y="2873825"/>
            <a:ext cx="4108200" cy="738900"/>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Easily implementable with no additional testing or research</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Moderate wins</a:t>
            </a:r>
            <a:endParaRPr/>
          </a:p>
        </p:txBody>
      </p:sp>
      <p:sp>
        <p:nvSpPr>
          <p:cNvPr id="174" name="Google Shape;174;p30"/>
          <p:cNvSpPr txBox="1">
            <a:spLocks noGrp="1"/>
          </p:cNvSpPr>
          <p:nvPr>
            <p:ph type="title" idx="2"/>
          </p:nvPr>
        </p:nvSpPr>
        <p:spPr>
          <a:xfrm>
            <a:off x="311700" y="2873958"/>
            <a:ext cx="4108200" cy="738633"/>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Some additional work needed, e.g. content design or testing</a:t>
            </a:r>
            <a:endParaRPr/>
          </a:p>
        </p:txBody>
      </p:sp>
    </p:spTree>
    <p:extLst>
      <p:ext uri="{BB962C8B-B14F-4D97-AF65-F5344CB8AC3E}">
        <p14:creationId xmlns:p14="http://schemas.microsoft.com/office/powerpoint/2010/main" val="41939646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0"/>
          <p:cNvSpPr txBox="1">
            <a:spLocks noGrp="1"/>
          </p:cNvSpPr>
          <p:nvPr>
            <p:ph type="title"/>
          </p:nvPr>
        </p:nvSpPr>
        <p:spPr>
          <a:xfrm>
            <a:off x="311700" y="2106500"/>
            <a:ext cx="3639300" cy="5859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a:t>Big wins</a:t>
            </a:r>
            <a:endParaRPr/>
          </a:p>
        </p:txBody>
      </p:sp>
      <p:sp>
        <p:nvSpPr>
          <p:cNvPr id="174" name="Google Shape;174;p30"/>
          <p:cNvSpPr txBox="1">
            <a:spLocks noGrp="1"/>
          </p:cNvSpPr>
          <p:nvPr>
            <p:ph type="title" idx="2"/>
          </p:nvPr>
        </p:nvSpPr>
        <p:spPr>
          <a:xfrm>
            <a:off x="311700" y="2873958"/>
            <a:ext cx="4108200" cy="738633"/>
          </a:xfrm>
          <a:prstGeom prst="rect">
            <a:avLst/>
          </a:prstGeom>
        </p:spPr>
        <p:txBody>
          <a:bodyPr spcFirstLastPara="1" wrap="square" lIns="91425" tIns="91425" rIns="91425" bIns="91425" anchor="ctr" anchorCtr="0">
            <a:spAutoFit/>
          </a:bodyPr>
          <a:lstStyle/>
          <a:p>
            <a:pPr marL="0" lvl="0" indent="0" algn="l" rtl="0">
              <a:spcBef>
                <a:spcPts val="0"/>
              </a:spcBef>
              <a:spcAft>
                <a:spcPts val="0"/>
              </a:spcAft>
              <a:buNone/>
            </a:pPr>
            <a:r>
              <a:rPr lang="en"/>
              <a:t>Complex problems requiring a standalone project effort</a:t>
            </a:r>
            <a:endParaRPr/>
          </a:p>
        </p:txBody>
      </p:sp>
    </p:spTree>
    <p:extLst>
      <p:ext uri="{BB962C8B-B14F-4D97-AF65-F5344CB8AC3E}">
        <p14:creationId xmlns:p14="http://schemas.microsoft.com/office/powerpoint/2010/main" val="3251000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9E5F2"/>
        </a:solidFill>
        <a:effectLst/>
      </p:bgPr>
    </p:bg>
    <p:spTree>
      <p:nvGrpSpPr>
        <p:cNvPr id="1" name="Shape 178"/>
        <p:cNvGrpSpPr/>
        <p:nvPr/>
      </p:nvGrpSpPr>
      <p:grpSpPr>
        <a:xfrm>
          <a:off x="0" y="0"/>
          <a:ext cx="0" cy="0"/>
          <a:chOff x="0" y="0"/>
          <a:chExt cx="0" cy="0"/>
        </a:xfrm>
      </p:grpSpPr>
      <p:sp>
        <p:nvSpPr>
          <p:cNvPr id="179" name="Google Shape;179;p31"/>
          <p:cNvSpPr txBox="1">
            <a:spLocks noGrp="1"/>
          </p:cNvSpPr>
          <p:nvPr>
            <p:ph type="title"/>
          </p:nvPr>
        </p:nvSpPr>
        <p:spPr>
          <a:xfrm>
            <a:off x="311700" y="1984525"/>
            <a:ext cx="8520600" cy="841800"/>
          </a:xfrm>
          <a:prstGeom prst="rect">
            <a:avLst/>
          </a:prstGeom>
        </p:spPr>
        <p:txBody>
          <a:bodyPr spcFirstLastPara="1" wrap="square" lIns="91425" tIns="91425" rIns="91425" bIns="91425" anchor="ctr" anchorCtr="0">
            <a:normAutofit/>
          </a:bodyPr>
          <a:lstStyle/>
          <a:p>
            <a:pPr marL="0" lvl="0" indent="0" algn="ctr" rtl="0">
              <a:spcBef>
                <a:spcPts val="0"/>
              </a:spcBef>
              <a:spcAft>
                <a:spcPts val="0"/>
              </a:spcAft>
              <a:buNone/>
            </a:pPr>
            <a:r>
              <a:rPr lang="en"/>
              <a:t>Next steps</a:t>
            </a:r>
            <a:endParaRPr/>
          </a:p>
        </p:txBody>
      </p:sp>
      <p:sp>
        <p:nvSpPr>
          <p:cNvPr id="180" name="Google Shape;180;p31"/>
          <p:cNvSpPr txBox="1">
            <a:spLocks noGrp="1"/>
          </p:cNvSpPr>
          <p:nvPr>
            <p:ph type="title" idx="2"/>
          </p:nvPr>
        </p:nvSpPr>
        <p:spPr>
          <a:xfrm>
            <a:off x="311700" y="2737775"/>
            <a:ext cx="8520600" cy="393600"/>
          </a:xfrm>
          <a:prstGeom prst="rect">
            <a:avLst/>
          </a:prstGeom>
        </p:spPr>
        <p:txBody>
          <a:bodyPr spcFirstLastPara="1" wrap="square" lIns="91425" tIns="91425" rIns="91425" bIns="91425" anchor="ctr" anchorCtr="0">
            <a:normAutofit fontScale="90000"/>
          </a:bodyPr>
          <a:lstStyle/>
          <a:p>
            <a:pPr marL="0" lvl="0" indent="0" algn="ctr" rtl="0">
              <a:spcBef>
                <a:spcPts val="0"/>
              </a:spcBef>
              <a:spcAft>
                <a:spcPts val="0"/>
              </a:spcAft>
              <a:buNone/>
            </a:pPr>
            <a:r>
              <a:rPr lang="en"/>
              <a:t>Moving forward with agility</a:t>
            </a:r>
            <a:endParaRPr/>
          </a:p>
        </p:txBody>
      </p:sp>
    </p:spTree>
  </p:cSld>
  <p:clrMapOvr>
    <a:masterClrMapping/>
  </p:clrMapOvr>
</p:sld>
</file>

<file path=ppt/theme/theme1.xml><?xml version="1.0" encoding="utf-8"?>
<a:theme xmlns:a="http://schemas.openxmlformats.org/drawingml/2006/main" name="WURD theme">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3a515c89-0c3e-4060-8eba-4c2eeb3cc3ab">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D7A292C9EA99CC4DB040A14F7EB7CAAE" ma:contentTypeVersion="13" ma:contentTypeDescription="Create a new document." ma:contentTypeScope="" ma:versionID="afc2d48892ad9d85173ee4238de4740b">
  <xsd:schema xmlns:xsd="http://www.w3.org/2001/XMLSchema" xmlns:xs="http://www.w3.org/2001/XMLSchema" xmlns:p="http://schemas.microsoft.com/office/2006/metadata/properties" xmlns:ns2="3a515c89-0c3e-4060-8eba-4c2eeb3cc3ab" xmlns:ns3="d0f9f239-cc39-4af7-9648-3bbd68e9fcc0" targetNamespace="http://schemas.microsoft.com/office/2006/metadata/properties" ma:root="true" ma:fieldsID="4a17989cb746de587726ad5d22c784a7" ns2:_="" ns3:_="">
    <xsd:import namespace="3a515c89-0c3e-4060-8eba-4c2eeb3cc3ab"/>
    <xsd:import namespace="d0f9f239-cc39-4af7-9648-3bbd68e9fcc0"/>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lcf76f155ced4ddcb4097134ff3c332f"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a515c89-0c3e-4060-8eba-4c2eeb3cc3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f8fc7e3e-e2e3-4810-9525-338c41887b6c" ma:termSetId="09814cd3-568e-fe90-9814-8d621ff8fb84" ma:anchorId="fba54fb3-c3e1-fe81-a776-ca4b69148c4d" ma:open="true" ma:isKeyword="false">
      <xsd:complexType>
        <xsd:sequence>
          <xsd:element ref="pc:Terms" minOccurs="0" maxOccurs="1"/>
        </xsd:sequence>
      </xsd:complex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d0f9f239-cc39-4af7-9648-3bbd68e9fcc0"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90517D5A-3861-4943-93D5-5A0C1A5D5F64}">
  <ds:schemaRefs>
    <ds:schemaRef ds:uri="3a515c89-0c3e-4060-8eba-4c2eeb3cc3ab"/>
    <ds:schemaRef ds:uri="d0f9f239-cc39-4af7-9648-3bbd68e9fcc0"/>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7B6CB1D-89B2-4638-AED9-813384800AB3}">
  <ds:schemaRefs>
    <ds:schemaRef ds:uri="http://schemas.microsoft.com/sharepoint/v3/contenttype/forms"/>
  </ds:schemaRefs>
</ds:datastoreItem>
</file>

<file path=customXml/itemProps3.xml><?xml version="1.0" encoding="utf-8"?>
<ds:datastoreItem xmlns:ds="http://schemas.openxmlformats.org/officeDocument/2006/customXml" ds:itemID="{425AE4FA-B0C7-419E-90D8-CD8F99F9B45C}">
  <ds:schemaRefs>
    <ds:schemaRef ds:uri="3a515c89-0c3e-4060-8eba-4c2eeb3cc3ab"/>
    <ds:schemaRef ds:uri="d0f9f239-cc39-4af7-9648-3bbd68e9fcc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33</Slides>
  <Notes>33</Notes>
  <HiddenSlides>8</HiddenSlide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WURD theme</vt:lpstr>
      <vt:lpstr>IRCC’s account and secure space ecosystem</vt:lpstr>
      <vt:lpstr>The scale of the problem</vt:lpstr>
      <vt:lpstr>A user’s journey from visitor to citizen</vt:lpstr>
      <vt:lpstr>Since Digital Platform Modernization 3 started</vt:lpstr>
      <vt:lpstr>What users are still telling us</vt:lpstr>
      <vt:lpstr>Why Web introduced the account wizard in 2024</vt:lpstr>
      <vt:lpstr>The maintenance trap</vt:lpstr>
      <vt:lpstr>Web band aids: Convoluted instructions in the wrong place</vt:lpstr>
      <vt:lpstr>Web band aids: How to answer questions so users get the right application</vt:lpstr>
      <vt:lpstr>Web band aids: Trying to help users find their account</vt:lpstr>
      <vt:lpstr>Web band aids: Users try to find where to check their status</vt:lpstr>
      <vt:lpstr>Internal confusion = external challenges</vt:lpstr>
      <vt:lpstr>The strategic path forward</vt:lpstr>
      <vt:lpstr>Slide graveyard</vt:lpstr>
      <vt:lpstr>IRCC’s confusing web of accounts and secure spaces</vt:lpstr>
      <vt:lpstr>Web band-aids don't solve the issue</vt:lpstr>
      <vt:lpstr>PowerPoint Presentation</vt:lpstr>
      <vt:lpstr>Since Digital Platform Modernization 3 started</vt:lpstr>
      <vt:lpstr>Legacy (older) accounts put in maintenance mode</vt:lpstr>
      <vt:lpstr>Web introduces the account wizard</vt:lpstr>
      <vt:lpstr>Legacy (older) accounts put in maintenance mode</vt:lpstr>
      <vt:lpstr>CXP contributes to sign-in complexity and frustration</vt:lpstr>
      <vt:lpstr>Workarounds needed for users</vt:lpstr>
      <vt:lpstr>Slide title</vt:lpstr>
      <vt:lpstr>PowerPoint Presentation</vt:lpstr>
      <vt:lpstr>Issues found with [title/theme here] pages</vt:lpstr>
      <vt:lpstr>Web research</vt:lpstr>
      <vt:lpstr>PowerPoint Presentation</vt:lpstr>
      <vt:lpstr>Proposed solutions</vt:lpstr>
      <vt:lpstr>Quick wins</vt:lpstr>
      <vt:lpstr>Moderate wins</vt:lpstr>
      <vt:lpstr>Big wins</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WURD reporting template</dc:title>
  <cp:revision>4</cp:revision>
  <dcterms:modified xsi:type="dcterms:W3CDTF">2026-04-24T13:19:34Z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0x010100D7A292C9EA99CC4DB040A14F7EB7CAAE</vt:lpwstr>
  </property>
  <property fmtid="{D5CDD505-2E9C-101B-9397-08002B2CF9AE}" pid="3" name="MediaServiceImageTags">
    <vt:lpwstr/>
  </property>
</Properties>
</file>